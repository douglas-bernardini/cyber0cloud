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7315200" cy="10058400"/>
  <p:notesSz cx="73152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8640" y="3118104"/>
            <a:ext cx="621792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7280" y="5632704"/>
            <a:ext cx="512064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7315200" cy="4203700"/>
          </a:xfrm>
          <a:custGeom>
            <a:avLst/>
            <a:gdLst/>
            <a:ahLst/>
            <a:cxnLst/>
            <a:rect l="l" t="t" r="r" b="b"/>
            <a:pathLst>
              <a:path w="7315200" h="4203700">
                <a:moveTo>
                  <a:pt x="0" y="4203700"/>
                </a:moveTo>
                <a:lnTo>
                  <a:pt x="7315200" y="4203700"/>
                </a:lnTo>
                <a:lnTo>
                  <a:pt x="7315200" y="0"/>
                </a:lnTo>
                <a:lnTo>
                  <a:pt x="0" y="0"/>
                </a:lnTo>
                <a:lnTo>
                  <a:pt x="0" y="42037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F4F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F4F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65760" y="2313432"/>
            <a:ext cx="318211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767328" y="2313432"/>
            <a:ext cx="318211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5F4F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900" y="1338719"/>
            <a:ext cx="5867400" cy="60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5F4F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2167" y="4423981"/>
            <a:ext cx="5850864" cy="2475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487168" y="9354312"/>
            <a:ext cx="2340864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5760" y="9354312"/>
            <a:ext cx="1682496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927512" y="9469677"/>
            <a:ext cx="267017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D5E5E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muraliMdodda" TargetMode="External"/><Relationship Id="rId3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8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slide" Target="slide16.xml"/><Relationship Id="rId10" Type="http://schemas.openxmlformats.org/officeDocument/2006/relationships/slide" Target="slide20.xml"/><Relationship Id="rId11" Type="http://schemas.openxmlformats.org/officeDocument/2006/relationships/slide" Target="slide24.xml"/><Relationship Id="rId12" Type="http://schemas.openxmlformats.org/officeDocument/2006/relationships/slide" Target="slide29.xml"/><Relationship Id="rId13" Type="http://schemas.openxmlformats.org/officeDocument/2006/relationships/slide" Target="slide33.xml"/><Relationship Id="rId14" Type="http://schemas.openxmlformats.org/officeDocument/2006/relationships/slide" Target="slide36.xml"/><Relationship Id="rId15" Type="http://schemas.openxmlformats.org/officeDocument/2006/relationships/slide" Target="slide39.xml"/><Relationship Id="rId16" Type="http://schemas.openxmlformats.org/officeDocument/2006/relationships/slide" Target="slide42.xml"/><Relationship Id="rId17" Type="http://schemas.openxmlformats.org/officeDocument/2006/relationships/slide" Target="slide44.xml"/><Relationship Id="rId18" Type="http://schemas.openxmlformats.org/officeDocument/2006/relationships/slide" Target="slide4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loud.google.com/docs/google-cloud-platform-for-aws-professionals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hyperlink" Target="mailto:info@BitMin.net" TargetMode="External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315200" cy="10058400"/>
          </a:xfrm>
          <a:custGeom>
            <a:avLst/>
            <a:gdLst/>
            <a:ahLst/>
            <a:cxnLst/>
            <a:rect l="l" t="t" r="r" b="b"/>
            <a:pathLst>
              <a:path w="7315200" h="10058400">
                <a:moveTo>
                  <a:pt x="0" y="10058400"/>
                </a:moveTo>
                <a:lnTo>
                  <a:pt x="7315200" y="10058400"/>
                </a:lnTo>
                <a:lnTo>
                  <a:pt x="7315200" y="0"/>
                </a:lnTo>
                <a:lnTo>
                  <a:pt x="0" y="0"/>
                </a:lnTo>
                <a:lnTo>
                  <a:pt x="0" y="100584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7315200" cy="4082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4521834"/>
            <a:ext cx="4967605" cy="2111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ts val="5540"/>
              </a:lnSpc>
            </a:pPr>
            <a:r>
              <a:rPr dirty="0" sz="4700" spc="25" b="1">
                <a:solidFill>
                  <a:srgbClr val="F5F4F4"/>
                </a:solidFill>
                <a:latin typeface="Calibri"/>
                <a:cs typeface="Calibri"/>
              </a:rPr>
              <a:t>A COMPLETE</a:t>
            </a:r>
            <a:r>
              <a:rPr dirty="0" sz="4700" spc="-220" b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4700" spc="10" b="1">
                <a:solidFill>
                  <a:srgbClr val="F5F4F4"/>
                </a:solidFill>
                <a:latin typeface="Calibri"/>
                <a:cs typeface="Calibri"/>
              </a:rPr>
              <a:t>GUIDE  </a:t>
            </a:r>
            <a:r>
              <a:rPr dirty="0" sz="4700" spc="-35" b="1">
                <a:solidFill>
                  <a:srgbClr val="F5F4F4"/>
                </a:solidFill>
                <a:latin typeface="Calibri"/>
                <a:cs typeface="Calibri"/>
              </a:rPr>
              <a:t>TO </a:t>
            </a:r>
            <a:r>
              <a:rPr dirty="0" sz="4700" spc="75" b="1">
                <a:solidFill>
                  <a:srgbClr val="F5F4F4"/>
                </a:solidFill>
                <a:latin typeface="Calibri"/>
                <a:cs typeface="Calibri"/>
              </a:rPr>
              <a:t>GOOGLE</a:t>
            </a:r>
            <a:r>
              <a:rPr dirty="0" sz="4700" spc="-180" b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4700" spc="95" b="1">
                <a:solidFill>
                  <a:srgbClr val="F5F4F4"/>
                </a:solidFill>
                <a:latin typeface="Calibri"/>
                <a:cs typeface="Calibri"/>
              </a:rPr>
              <a:t>CLOUD  </a:t>
            </a:r>
            <a:r>
              <a:rPr dirty="0" sz="4700" spc="-45" b="1">
                <a:solidFill>
                  <a:srgbClr val="F5F4F4"/>
                </a:solidFill>
                <a:latin typeface="Calibri"/>
                <a:cs typeface="Calibri"/>
              </a:rPr>
              <a:t>PLATFORM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804532"/>
            <a:ext cx="4820285" cy="335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And </a:t>
            </a:r>
            <a:r>
              <a:rPr dirty="0" sz="2200" spc="10" i="1">
                <a:solidFill>
                  <a:srgbClr val="F5F4F4"/>
                </a:solidFill>
                <a:latin typeface="Calibri"/>
                <a:cs typeface="Calibri"/>
              </a:rPr>
              <a:t>why </a:t>
            </a:r>
            <a:r>
              <a:rPr dirty="0" sz="2200" spc="5" i="1">
                <a:solidFill>
                  <a:srgbClr val="F5F4F4"/>
                </a:solidFill>
                <a:latin typeface="Calibri"/>
                <a:cs typeface="Calibri"/>
              </a:rPr>
              <a:t>Google </a:t>
            </a:r>
            <a:r>
              <a:rPr dirty="0" sz="2200" spc="80" i="1">
                <a:solidFill>
                  <a:srgbClr val="F5F4F4"/>
                </a:solidFill>
                <a:latin typeface="Calibri"/>
                <a:cs typeface="Calibri"/>
              </a:rPr>
              <a:t>is </a:t>
            </a:r>
            <a:r>
              <a:rPr dirty="0" sz="2200" i="1">
                <a:solidFill>
                  <a:srgbClr val="F5F4F4"/>
                </a:solidFill>
                <a:latin typeface="Calibri"/>
                <a:cs typeface="Calibri"/>
              </a:rPr>
              <a:t>winning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the </a:t>
            </a:r>
            <a:r>
              <a:rPr dirty="0" sz="2200" spc="40" i="1">
                <a:solidFill>
                  <a:srgbClr val="F5F4F4"/>
                </a:solidFill>
                <a:latin typeface="Calibri"/>
                <a:cs typeface="Calibri"/>
              </a:rPr>
              <a:t>Cloud</a:t>
            </a:r>
            <a:r>
              <a:rPr dirty="0" sz="2200" spc="-7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65" i="1">
                <a:solidFill>
                  <a:srgbClr val="F5F4F4"/>
                </a:solidFill>
                <a:latin typeface="Calibri"/>
                <a:cs typeface="Calibri"/>
              </a:rPr>
              <a:t>War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7315200" cy="4083050"/>
          </a:xfrm>
          <a:custGeom>
            <a:avLst/>
            <a:gdLst/>
            <a:ahLst/>
            <a:cxnLst/>
            <a:rect l="l" t="t" r="r" b="b"/>
            <a:pathLst>
              <a:path w="7315200" h="4083050">
                <a:moveTo>
                  <a:pt x="5378752" y="3079635"/>
                </a:moveTo>
                <a:lnTo>
                  <a:pt x="4523898" y="3079635"/>
                </a:lnTo>
                <a:lnTo>
                  <a:pt x="4535999" y="3106645"/>
                </a:lnTo>
                <a:lnTo>
                  <a:pt x="4545388" y="3137238"/>
                </a:lnTo>
                <a:lnTo>
                  <a:pt x="4552156" y="3171143"/>
                </a:lnTo>
                <a:lnTo>
                  <a:pt x="4556391" y="3208089"/>
                </a:lnTo>
                <a:lnTo>
                  <a:pt x="4558184" y="3247802"/>
                </a:lnTo>
                <a:lnTo>
                  <a:pt x="4557623" y="3290011"/>
                </a:lnTo>
                <a:lnTo>
                  <a:pt x="4554798" y="3334445"/>
                </a:lnTo>
                <a:lnTo>
                  <a:pt x="4549798" y="3380830"/>
                </a:lnTo>
                <a:lnTo>
                  <a:pt x="4542713" y="3428896"/>
                </a:lnTo>
                <a:lnTo>
                  <a:pt x="4533632" y="3478370"/>
                </a:lnTo>
                <a:lnTo>
                  <a:pt x="4522644" y="3528980"/>
                </a:lnTo>
                <a:lnTo>
                  <a:pt x="4509839" y="3580455"/>
                </a:lnTo>
                <a:lnTo>
                  <a:pt x="4495306" y="3632522"/>
                </a:lnTo>
                <a:lnTo>
                  <a:pt x="4479134" y="3684909"/>
                </a:lnTo>
                <a:lnTo>
                  <a:pt x="4461413" y="3737345"/>
                </a:lnTo>
                <a:lnTo>
                  <a:pt x="4442232" y="3789558"/>
                </a:lnTo>
                <a:lnTo>
                  <a:pt x="4421681" y="3841275"/>
                </a:lnTo>
                <a:lnTo>
                  <a:pt x="4399849" y="3892224"/>
                </a:lnTo>
                <a:lnTo>
                  <a:pt x="4376825" y="3942134"/>
                </a:lnTo>
                <a:lnTo>
                  <a:pt x="4352698" y="3990733"/>
                </a:lnTo>
                <a:lnTo>
                  <a:pt x="4327559" y="4037749"/>
                </a:lnTo>
                <a:lnTo>
                  <a:pt x="4301496" y="4082910"/>
                </a:lnTo>
                <a:lnTo>
                  <a:pt x="4874690" y="3885908"/>
                </a:lnTo>
                <a:lnTo>
                  <a:pt x="5192588" y="3627989"/>
                </a:lnTo>
                <a:lnTo>
                  <a:pt x="5369340" y="3136127"/>
                </a:lnTo>
                <a:lnTo>
                  <a:pt x="5378752" y="3079635"/>
                </a:lnTo>
                <a:close/>
              </a:path>
              <a:path w="7315200" h="4083050">
                <a:moveTo>
                  <a:pt x="5437036" y="2729814"/>
                </a:moveTo>
                <a:lnTo>
                  <a:pt x="2689053" y="2729814"/>
                </a:lnTo>
                <a:lnTo>
                  <a:pt x="2725163" y="2763327"/>
                </a:lnTo>
                <a:lnTo>
                  <a:pt x="2762223" y="2795807"/>
                </a:lnTo>
                <a:lnTo>
                  <a:pt x="2800210" y="2827232"/>
                </a:lnTo>
                <a:lnTo>
                  <a:pt x="2839100" y="2857579"/>
                </a:lnTo>
                <a:lnTo>
                  <a:pt x="2878871" y="2886823"/>
                </a:lnTo>
                <a:lnTo>
                  <a:pt x="2919500" y="2914943"/>
                </a:lnTo>
                <a:lnTo>
                  <a:pt x="2961046" y="2941966"/>
                </a:lnTo>
                <a:lnTo>
                  <a:pt x="3003239" y="2967718"/>
                </a:lnTo>
                <a:lnTo>
                  <a:pt x="3046303" y="2992326"/>
                </a:lnTo>
                <a:lnTo>
                  <a:pt x="3090133" y="3015718"/>
                </a:lnTo>
                <a:lnTo>
                  <a:pt x="3134707" y="3037870"/>
                </a:lnTo>
                <a:lnTo>
                  <a:pt x="3180000" y="3058760"/>
                </a:lnTo>
                <a:lnTo>
                  <a:pt x="3225990" y="3078364"/>
                </a:lnTo>
                <a:lnTo>
                  <a:pt x="3272654" y="3096659"/>
                </a:lnTo>
                <a:lnTo>
                  <a:pt x="3319970" y="3113623"/>
                </a:lnTo>
                <a:lnTo>
                  <a:pt x="3367913" y="3129233"/>
                </a:lnTo>
                <a:lnTo>
                  <a:pt x="3416462" y="3143465"/>
                </a:lnTo>
                <a:lnTo>
                  <a:pt x="3465593" y="3156296"/>
                </a:lnTo>
                <a:lnTo>
                  <a:pt x="3515283" y="3167704"/>
                </a:lnTo>
                <a:lnTo>
                  <a:pt x="3565510" y="3177666"/>
                </a:lnTo>
                <a:lnTo>
                  <a:pt x="3616250" y="3186158"/>
                </a:lnTo>
                <a:lnTo>
                  <a:pt x="3667480" y="3193157"/>
                </a:lnTo>
                <a:lnTo>
                  <a:pt x="3719178" y="3198642"/>
                </a:lnTo>
                <a:lnTo>
                  <a:pt x="3771320" y="3202587"/>
                </a:lnTo>
                <a:lnTo>
                  <a:pt x="3823884" y="3204972"/>
                </a:lnTo>
                <a:lnTo>
                  <a:pt x="3876846" y="3205772"/>
                </a:lnTo>
                <a:lnTo>
                  <a:pt x="3929485" y="3204977"/>
                </a:lnTo>
                <a:lnTo>
                  <a:pt x="3981726" y="3202611"/>
                </a:lnTo>
                <a:lnTo>
                  <a:pt x="4033548" y="3198696"/>
                </a:lnTo>
                <a:lnTo>
                  <a:pt x="4084928" y="3193257"/>
                </a:lnTo>
                <a:lnTo>
                  <a:pt x="4135846" y="3186317"/>
                </a:lnTo>
                <a:lnTo>
                  <a:pt x="4186279" y="3177900"/>
                </a:lnTo>
                <a:lnTo>
                  <a:pt x="4236205" y="3168030"/>
                </a:lnTo>
                <a:lnTo>
                  <a:pt x="4285603" y="3156731"/>
                </a:lnTo>
                <a:lnTo>
                  <a:pt x="4334450" y="3144027"/>
                </a:lnTo>
                <a:lnTo>
                  <a:pt x="4382725" y="3129942"/>
                </a:lnTo>
                <a:lnTo>
                  <a:pt x="4430406" y="3114498"/>
                </a:lnTo>
                <a:lnTo>
                  <a:pt x="4477471" y="3097722"/>
                </a:lnTo>
                <a:lnTo>
                  <a:pt x="4523898" y="3079635"/>
                </a:lnTo>
                <a:lnTo>
                  <a:pt x="5378752" y="3079635"/>
                </a:lnTo>
                <a:lnTo>
                  <a:pt x="5437036" y="2729814"/>
                </a:lnTo>
                <a:close/>
              </a:path>
              <a:path w="7315200" h="4083050">
                <a:moveTo>
                  <a:pt x="7315200" y="0"/>
                </a:moveTo>
                <a:lnTo>
                  <a:pt x="0" y="0"/>
                </a:lnTo>
                <a:lnTo>
                  <a:pt x="0" y="1492122"/>
                </a:lnTo>
                <a:lnTo>
                  <a:pt x="23592" y="1529890"/>
                </a:lnTo>
                <a:lnTo>
                  <a:pt x="50411" y="1569620"/>
                </a:lnTo>
                <a:lnTo>
                  <a:pt x="78584" y="1608331"/>
                </a:lnTo>
                <a:lnTo>
                  <a:pt x="108075" y="1645988"/>
                </a:lnTo>
                <a:lnTo>
                  <a:pt x="138852" y="1682559"/>
                </a:lnTo>
                <a:lnTo>
                  <a:pt x="170881" y="1718009"/>
                </a:lnTo>
                <a:lnTo>
                  <a:pt x="204127" y="1752305"/>
                </a:lnTo>
                <a:lnTo>
                  <a:pt x="238557" y="1785412"/>
                </a:lnTo>
                <a:lnTo>
                  <a:pt x="274137" y="1817298"/>
                </a:lnTo>
                <a:lnTo>
                  <a:pt x="310833" y="1847928"/>
                </a:lnTo>
                <a:lnTo>
                  <a:pt x="348612" y="1877268"/>
                </a:lnTo>
                <a:lnTo>
                  <a:pt x="387440" y="1905285"/>
                </a:lnTo>
                <a:lnTo>
                  <a:pt x="427282" y="1931944"/>
                </a:lnTo>
                <a:lnTo>
                  <a:pt x="468106" y="1957212"/>
                </a:lnTo>
                <a:lnTo>
                  <a:pt x="509877" y="1981056"/>
                </a:lnTo>
                <a:lnTo>
                  <a:pt x="552561" y="2003441"/>
                </a:lnTo>
                <a:lnTo>
                  <a:pt x="596125" y="2024334"/>
                </a:lnTo>
                <a:lnTo>
                  <a:pt x="640535" y="2043700"/>
                </a:lnTo>
                <a:lnTo>
                  <a:pt x="685757" y="2061506"/>
                </a:lnTo>
                <a:lnTo>
                  <a:pt x="731757" y="2077719"/>
                </a:lnTo>
                <a:lnTo>
                  <a:pt x="778501" y="2092303"/>
                </a:lnTo>
                <a:lnTo>
                  <a:pt x="825957" y="2105227"/>
                </a:lnTo>
                <a:lnTo>
                  <a:pt x="874089" y="2116455"/>
                </a:lnTo>
                <a:lnTo>
                  <a:pt x="922864" y="2125954"/>
                </a:lnTo>
                <a:lnTo>
                  <a:pt x="936184" y="2172008"/>
                </a:lnTo>
                <a:lnTo>
                  <a:pt x="951392" y="2217228"/>
                </a:lnTo>
                <a:lnTo>
                  <a:pt x="968443" y="2261568"/>
                </a:lnTo>
                <a:lnTo>
                  <a:pt x="987290" y="2304982"/>
                </a:lnTo>
                <a:lnTo>
                  <a:pt x="1007889" y="2347424"/>
                </a:lnTo>
                <a:lnTo>
                  <a:pt x="1030193" y="2388848"/>
                </a:lnTo>
                <a:lnTo>
                  <a:pt x="1054157" y="2429209"/>
                </a:lnTo>
                <a:lnTo>
                  <a:pt x="1079734" y="2468461"/>
                </a:lnTo>
                <a:lnTo>
                  <a:pt x="1106881" y="2506557"/>
                </a:lnTo>
                <a:lnTo>
                  <a:pt x="1135549" y="2543453"/>
                </a:lnTo>
                <a:lnTo>
                  <a:pt x="1165695" y="2579102"/>
                </a:lnTo>
                <a:lnTo>
                  <a:pt x="1197271" y="2613459"/>
                </a:lnTo>
                <a:lnTo>
                  <a:pt x="1230233" y="2646478"/>
                </a:lnTo>
                <a:lnTo>
                  <a:pt x="1264535" y="2678112"/>
                </a:lnTo>
                <a:lnTo>
                  <a:pt x="1300130" y="2708317"/>
                </a:lnTo>
                <a:lnTo>
                  <a:pt x="1336974" y="2737045"/>
                </a:lnTo>
                <a:lnTo>
                  <a:pt x="1375021" y="2764253"/>
                </a:lnTo>
                <a:lnTo>
                  <a:pt x="1414224" y="2789893"/>
                </a:lnTo>
                <a:lnTo>
                  <a:pt x="1454538" y="2813920"/>
                </a:lnTo>
                <a:lnTo>
                  <a:pt x="1495918" y="2836288"/>
                </a:lnTo>
                <a:lnTo>
                  <a:pt x="1538317" y="2856951"/>
                </a:lnTo>
                <a:lnTo>
                  <a:pt x="1581690" y="2875864"/>
                </a:lnTo>
                <a:lnTo>
                  <a:pt x="1625992" y="2892981"/>
                </a:lnTo>
                <a:lnTo>
                  <a:pt x="1671176" y="2908255"/>
                </a:lnTo>
                <a:lnTo>
                  <a:pt x="1717197" y="2921641"/>
                </a:lnTo>
                <a:lnTo>
                  <a:pt x="1764008" y="2933094"/>
                </a:lnTo>
                <a:lnTo>
                  <a:pt x="1811565" y="2942567"/>
                </a:lnTo>
                <a:lnTo>
                  <a:pt x="1859822" y="2950015"/>
                </a:lnTo>
                <a:lnTo>
                  <a:pt x="1908733" y="2955391"/>
                </a:lnTo>
                <a:lnTo>
                  <a:pt x="1958252" y="2958651"/>
                </a:lnTo>
                <a:lnTo>
                  <a:pt x="2008333" y="2959747"/>
                </a:lnTo>
                <a:lnTo>
                  <a:pt x="2059253" y="2958611"/>
                </a:lnTo>
                <a:lnTo>
                  <a:pt x="2109588" y="2955237"/>
                </a:lnTo>
                <a:lnTo>
                  <a:pt x="2159290" y="2949672"/>
                </a:lnTo>
                <a:lnTo>
                  <a:pt x="2208313" y="2941966"/>
                </a:lnTo>
                <a:lnTo>
                  <a:pt x="2256608" y="2932167"/>
                </a:lnTo>
                <a:lnTo>
                  <a:pt x="2304127" y="2920324"/>
                </a:lnTo>
                <a:lnTo>
                  <a:pt x="2350824" y="2906487"/>
                </a:lnTo>
                <a:lnTo>
                  <a:pt x="2396650" y="2890703"/>
                </a:lnTo>
                <a:lnTo>
                  <a:pt x="2441557" y="2873021"/>
                </a:lnTo>
                <a:lnTo>
                  <a:pt x="2485499" y="2853491"/>
                </a:lnTo>
                <a:lnTo>
                  <a:pt x="2528428" y="2832160"/>
                </a:lnTo>
                <a:lnTo>
                  <a:pt x="2570295" y="2809078"/>
                </a:lnTo>
                <a:lnTo>
                  <a:pt x="2611053" y="2784294"/>
                </a:lnTo>
                <a:lnTo>
                  <a:pt x="2650655" y="2757856"/>
                </a:lnTo>
                <a:lnTo>
                  <a:pt x="2689053" y="2729814"/>
                </a:lnTo>
                <a:lnTo>
                  <a:pt x="5437036" y="2729814"/>
                </a:lnTo>
                <a:lnTo>
                  <a:pt x="5519096" y="2237295"/>
                </a:lnTo>
                <a:lnTo>
                  <a:pt x="6094084" y="2237295"/>
                </a:lnTo>
                <a:lnTo>
                  <a:pt x="6107274" y="2234549"/>
                </a:lnTo>
                <a:lnTo>
                  <a:pt x="6155367" y="2222667"/>
                </a:lnTo>
                <a:lnTo>
                  <a:pt x="6202765" y="2209085"/>
                </a:lnTo>
                <a:lnTo>
                  <a:pt x="6249436" y="2193839"/>
                </a:lnTo>
                <a:lnTo>
                  <a:pt x="6295343" y="2176962"/>
                </a:lnTo>
                <a:lnTo>
                  <a:pt x="6340454" y="2158488"/>
                </a:lnTo>
                <a:lnTo>
                  <a:pt x="6384733" y="2138453"/>
                </a:lnTo>
                <a:lnTo>
                  <a:pt x="6428147" y="2116891"/>
                </a:lnTo>
                <a:lnTo>
                  <a:pt x="6470662" y="2093835"/>
                </a:lnTo>
                <a:lnTo>
                  <a:pt x="6512242" y="2069322"/>
                </a:lnTo>
                <a:lnTo>
                  <a:pt x="6552855" y="2043383"/>
                </a:lnTo>
                <a:lnTo>
                  <a:pt x="6592465" y="2016056"/>
                </a:lnTo>
                <a:lnTo>
                  <a:pt x="6631039" y="1987372"/>
                </a:lnTo>
                <a:lnTo>
                  <a:pt x="6668543" y="1957368"/>
                </a:lnTo>
                <a:lnTo>
                  <a:pt x="6704941" y="1926077"/>
                </a:lnTo>
                <a:lnTo>
                  <a:pt x="6740200" y="1893534"/>
                </a:lnTo>
                <a:lnTo>
                  <a:pt x="6774286" y="1859773"/>
                </a:lnTo>
                <a:lnTo>
                  <a:pt x="6807164" y="1824828"/>
                </a:lnTo>
                <a:lnTo>
                  <a:pt x="6838801" y="1788735"/>
                </a:lnTo>
                <a:lnTo>
                  <a:pt x="6869161" y="1751527"/>
                </a:lnTo>
                <a:lnTo>
                  <a:pt x="6898212" y="1713238"/>
                </a:lnTo>
                <a:lnTo>
                  <a:pt x="6925918" y="1673904"/>
                </a:lnTo>
                <a:lnTo>
                  <a:pt x="6952245" y="1633558"/>
                </a:lnTo>
                <a:lnTo>
                  <a:pt x="6977159" y="1592235"/>
                </a:lnTo>
                <a:lnTo>
                  <a:pt x="7000627" y="1549969"/>
                </a:lnTo>
                <a:lnTo>
                  <a:pt x="7022613" y="1506795"/>
                </a:lnTo>
                <a:lnTo>
                  <a:pt x="7043083" y="1462747"/>
                </a:lnTo>
                <a:lnTo>
                  <a:pt x="7315200" y="1462747"/>
                </a:lnTo>
                <a:lnTo>
                  <a:pt x="7315200" y="0"/>
                </a:lnTo>
                <a:close/>
              </a:path>
              <a:path w="7315200" h="4083050">
                <a:moveTo>
                  <a:pt x="6094084" y="2237295"/>
                </a:moveTo>
                <a:lnTo>
                  <a:pt x="5519096" y="2237295"/>
                </a:lnTo>
                <a:lnTo>
                  <a:pt x="5565626" y="2246567"/>
                </a:lnTo>
                <a:lnTo>
                  <a:pt x="5612708" y="2254251"/>
                </a:lnTo>
                <a:lnTo>
                  <a:pt x="5660316" y="2260303"/>
                </a:lnTo>
                <a:lnTo>
                  <a:pt x="5708426" y="2264679"/>
                </a:lnTo>
                <a:lnTo>
                  <a:pt x="5757013" y="2267337"/>
                </a:lnTo>
                <a:lnTo>
                  <a:pt x="5806052" y="2268232"/>
                </a:lnTo>
                <a:lnTo>
                  <a:pt x="5857592" y="2267268"/>
                </a:lnTo>
                <a:lnTo>
                  <a:pt x="5908643" y="2264398"/>
                </a:lnTo>
                <a:lnTo>
                  <a:pt x="5959171" y="2259657"/>
                </a:lnTo>
                <a:lnTo>
                  <a:pt x="6009142" y="2253079"/>
                </a:lnTo>
                <a:lnTo>
                  <a:pt x="6058521" y="2244698"/>
                </a:lnTo>
                <a:lnTo>
                  <a:pt x="6094084" y="2237295"/>
                </a:lnTo>
                <a:close/>
              </a:path>
              <a:path w="7315200" h="4083050">
                <a:moveTo>
                  <a:pt x="7315200" y="1462747"/>
                </a:moveTo>
                <a:lnTo>
                  <a:pt x="7043083" y="1462747"/>
                </a:lnTo>
                <a:lnTo>
                  <a:pt x="7087334" y="1470899"/>
                </a:lnTo>
                <a:lnTo>
                  <a:pt x="7132172" y="1477302"/>
                </a:lnTo>
                <a:lnTo>
                  <a:pt x="7177561" y="1481921"/>
                </a:lnTo>
                <a:lnTo>
                  <a:pt x="7223463" y="1484718"/>
                </a:lnTo>
                <a:lnTo>
                  <a:pt x="7269841" y="1485658"/>
                </a:lnTo>
                <a:lnTo>
                  <a:pt x="7315200" y="1484572"/>
                </a:lnTo>
                <a:lnTo>
                  <a:pt x="7315200" y="1462747"/>
                </a:lnTo>
                <a:close/>
              </a:path>
            </a:pathLst>
          </a:custGeom>
          <a:solidFill>
            <a:srgbClr val="F5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71579" y="584200"/>
            <a:ext cx="1484807" cy="44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64352" y="9202580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289191" y="144602"/>
                </a:moveTo>
                <a:lnTo>
                  <a:pt x="281819" y="190299"/>
                </a:lnTo>
                <a:lnTo>
                  <a:pt x="261290" y="229990"/>
                </a:lnTo>
                <a:lnTo>
                  <a:pt x="229987" y="261291"/>
                </a:lnTo>
                <a:lnTo>
                  <a:pt x="190293" y="281819"/>
                </a:lnTo>
                <a:lnTo>
                  <a:pt x="144589" y="289191"/>
                </a:lnTo>
                <a:lnTo>
                  <a:pt x="98886" y="281819"/>
                </a:lnTo>
                <a:lnTo>
                  <a:pt x="59195" y="261291"/>
                </a:lnTo>
                <a:lnTo>
                  <a:pt x="27896" y="229990"/>
                </a:lnTo>
                <a:lnTo>
                  <a:pt x="7370" y="190299"/>
                </a:lnTo>
                <a:lnTo>
                  <a:pt x="0" y="144602"/>
                </a:lnTo>
                <a:lnTo>
                  <a:pt x="7370" y="98893"/>
                </a:lnTo>
                <a:lnTo>
                  <a:pt x="27896" y="59198"/>
                </a:lnTo>
                <a:lnTo>
                  <a:pt x="59195" y="27897"/>
                </a:lnTo>
                <a:lnTo>
                  <a:pt x="98886" y="7371"/>
                </a:lnTo>
                <a:lnTo>
                  <a:pt x="144589" y="0"/>
                </a:lnTo>
                <a:lnTo>
                  <a:pt x="190293" y="7371"/>
                </a:lnTo>
                <a:lnTo>
                  <a:pt x="229987" y="27897"/>
                </a:lnTo>
                <a:lnTo>
                  <a:pt x="261290" y="59198"/>
                </a:lnTo>
                <a:lnTo>
                  <a:pt x="281819" y="98893"/>
                </a:lnTo>
                <a:lnTo>
                  <a:pt x="289191" y="14460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09894" y="9270787"/>
            <a:ext cx="198120" cy="161290"/>
          </a:xfrm>
          <a:custGeom>
            <a:avLst/>
            <a:gdLst/>
            <a:ahLst/>
            <a:cxnLst/>
            <a:rect l="l" t="t" r="r" b="b"/>
            <a:pathLst>
              <a:path w="198120" h="161290">
                <a:moveTo>
                  <a:pt x="0" y="142760"/>
                </a:moveTo>
                <a:lnTo>
                  <a:pt x="14101" y="150468"/>
                </a:lnTo>
                <a:lnTo>
                  <a:pt x="29300" y="156206"/>
                </a:lnTo>
                <a:lnTo>
                  <a:pt x="45425" y="159787"/>
                </a:lnTo>
                <a:lnTo>
                  <a:pt x="62306" y="161023"/>
                </a:lnTo>
                <a:lnTo>
                  <a:pt x="111920" y="150506"/>
                </a:lnTo>
                <a:lnTo>
                  <a:pt x="121525" y="143306"/>
                </a:lnTo>
                <a:lnTo>
                  <a:pt x="6413" y="143306"/>
                </a:lnTo>
                <a:lnTo>
                  <a:pt x="3187" y="143129"/>
                </a:lnTo>
                <a:lnTo>
                  <a:pt x="0" y="142760"/>
                </a:lnTo>
                <a:close/>
              </a:path>
              <a:path w="198120" h="161290">
                <a:moveTo>
                  <a:pt x="22212" y="97701"/>
                </a:moveTo>
                <a:lnTo>
                  <a:pt x="27822" y="108863"/>
                </a:lnTo>
                <a:lnTo>
                  <a:pt x="36461" y="117730"/>
                </a:lnTo>
                <a:lnTo>
                  <a:pt x="47472" y="123638"/>
                </a:lnTo>
                <a:lnTo>
                  <a:pt x="60198" y="125920"/>
                </a:lnTo>
                <a:lnTo>
                  <a:pt x="49107" y="133234"/>
                </a:lnTo>
                <a:lnTo>
                  <a:pt x="36864" y="138699"/>
                </a:lnTo>
                <a:lnTo>
                  <a:pt x="23664" y="142122"/>
                </a:lnTo>
                <a:lnTo>
                  <a:pt x="9702" y="143306"/>
                </a:lnTo>
                <a:lnTo>
                  <a:pt x="121525" y="143306"/>
                </a:lnTo>
                <a:lnTo>
                  <a:pt x="148164" y="123339"/>
                </a:lnTo>
                <a:lnTo>
                  <a:pt x="163032" y="98425"/>
                </a:lnTo>
                <a:lnTo>
                  <a:pt x="27241" y="98425"/>
                </a:lnTo>
                <a:lnTo>
                  <a:pt x="24688" y="98158"/>
                </a:lnTo>
                <a:lnTo>
                  <a:pt x="22212" y="97701"/>
                </a:lnTo>
                <a:close/>
              </a:path>
              <a:path w="198120" h="161290">
                <a:moveTo>
                  <a:pt x="7962" y="56629"/>
                </a:moveTo>
                <a:lnTo>
                  <a:pt x="7962" y="57150"/>
                </a:lnTo>
                <a:lnTo>
                  <a:pt x="10442" y="71147"/>
                </a:lnTo>
                <a:lnTo>
                  <a:pt x="17291" y="83043"/>
                </a:lnTo>
                <a:lnTo>
                  <a:pt x="27626" y="91956"/>
                </a:lnTo>
                <a:lnTo>
                  <a:pt x="40563" y="97002"/>
                </a:lnTo>
                <a:lnTo>
                  <a:pt x="37160" y="97917"/>
                </a:lnTo>
                <a:lnTo>
                  <a:pt x="33566" y="98425"/>
                </a:lnTo>
                <a:lnTo>
                  <a:pt x="163032" y="98425"/>
                </a:lnTo>
                <a:lnTo>
                  <a:pt x="170387" y="86099"/>
                </a:lnTo>
                <a:lnTo>
                  <a:pt x="174909" y="61709"/>
                </a:lnTo>
                <a:lnTo>
                  <a:pt x="26377" y="61709"/>
                </a:lnTo>
                <a:lnTo>
                  <a:pt x="19723" y="61493"/>
                </a:lnTo>
                <a:lnTo>
                  <a:pt x="13449" y="59677"/>
                </a:lnTo>
                <a:lnTo>
                  <a:pt x="7962" y="56629"/>
                </a:lnTo>
                <a:close/>
              </a:path>
              <a:path w="198120" h="161290">
                <a:moveTo>
                  <a:pt x="13817" y="7454"/>
                </a:moveTo>
                <a:lnTo>
                  <a:pt x="10299" y="13449"/>
                </a:lnTo>
                <a:lnTo>
                  <a:pt x="8293" y="20434"/>
                </a:lnTo>
                <a:lnTo>
                  <a:pt x="8293" y="27876"/>
                </a:lnTo>
                <a:lnTo>
                  <a:pt x="9586" y="38090"/>
                </a:lnTo>
                <a:lnTo>
                  <a:pt x="13249" y="47350"/>
                </a:lnTo>
                <a:lnTo>
                  <a:pt x="18955" y="55331"/>
                </a:lnTo>
                <a:lnTo>
                  <a:pt x="26377" y="61709"/>
                </a:lnTo>
                <a:lnTo>
                  <a:pt x="174909" y="61709"/>
                </a:lnTo>
                <a:lnTo>
                  <a:pt x="177096" y="49911"/>
                </a:lnTo>
                <a:lnTo>
                  <a:pt x="97574" y="49911"/>
                </a:lnTo>
                <a:lnTo>
                  <a:pt x="73053" y="46022"/>
                </a:lnTo>
                <a:lnTo>
                  <a:pt x="50542" y="37269"/>
                </a:lnTo>
                <a:lnTo>
                  <a:pt x="30608" y="24223"/>
                </a:lnTo>
                <a:lnTo>
                  <a:pt x="13817" y="7454"/>
                </a:lnTo>
                <a:close/>
              </a:path>
              <a:path w="198120" h="161290">
                <a:moveTo>
                  <a:pt x="137160" y="0"/>
                </a:moveTo>
                <a:lnTo>
                  <a:pt x="99724" y="24833"/>
                </a:lnTo>
                <a:lnTo>
                  <a:pt x="96532" y="43840"/>
                </a:lnTo>
                <a:lnTo>
                  <a:pt x="96875" y="46939"/>
                </a:lnTo>
                <a:lnTo>
                  <a:pt x="97574" y="49911"/>
                </a:lnTo>
                <a:lnTo>
                  <a:pt x="177096" y="49911"/>
                </a:lnTo>
                <a:lnTo>
                  <a:pt x="177817" y="46022"/>
                </a:lnTo>
                <a:lnTo>
                  <a:pt x="177825" y="40119"/>
                </a:lnTo>
                <a:lnTo>
                  <a:pt x="183582" y="35552"/>
                </a:lnTo>
                <a:lnTo>
                  <a:pt x="188906" y="30491"/>
                </a:lnTo>
                <a:lnTo>
                  <a:pt x="193325" y="25476"/>
                </a:lnTo>
                <a:lnTo>
                  <a:pt x="174764" y="25476"/>
                </a:lnTo>
                <a:lnTo>
                  <a:pt x="180673" y="21174"/>
                </a:lnTo>
                <a:lnTo>
                  <a:pt x="185713" y="15901"/>
                </a:lnTo>
                <a:lnTo>
                  <a:pt x="187727" y="12852"/>
                </a:lnTo>
                <a:lnTo>
                  <a:pt x="166827" y="12852"/>
                </a:lnTo>
                <a:lnTo>
                  <a:pt x="160712" y="7506"/>
                </a:lnTo>
                <a:lnTo>
                  <a:pt x="153603" y="3459"/>
                </a:lnTo>
                <a:lnTo>
                  <a:pt x="145688" y="895"/>
                </a:lnTo>
                <a:lnTo>
                  <a:pt x="137160" y="0"/>
                </a:lnTo>
                <a:close/>
              </a:path>
              <a:path w="198120" h="161290">
                <a:moveTo>
                  <a:pt x="198120" y="19062"/>
                </a:moveTo>
                <a:lnTo>
                  <a:pt x="190842" y="22288"/>
                </a:lnTo>
                <a:lnTo>
                  <a:pt x="182994" y="24498"/>
                </a:lnTo>
                <a:lnTo>
                  <a:pt x="174764" y="25476"/>
                </a:lnTo>
                <a:lnTo>
                  <a:pt x="193325" y="25476"/>
                </a:lnTo>
                <a:lnTo>
                  <a:pt x="193870" y="24833"/>
                </a:lnTo>
                <a:lnTo>
                  <a:pt x="198120" y="19062"/>
                </a:lnTo>
                <a:close/>
              </a:path>
              <a:path w="198120" h="161290">
                <a:moveTo>
                  <a:pt x="192633" y="2984"/>
                </a:moveTo>
                <a:lnTo>
                  <a:pt x="186599" y="6231"/>
                </a:lnTo>
                <a:lnTo>
                  <a:pt x="180268" y="8980"/>
                </a:lnTo>
                <a:lnTo>
                  <a:pt x="173668" y="11198"/>
                </a:lnTo>
                <a:lnTo>
                  <a:pt x="166827" y="12852"/>
                </a:lnTo>
                <a:lnTo>
                  <a:pt x="187727" y="12852"/>
                </a:lnTo>
                <a:lnTo>
                  <a:pt x="189746" y="9793"/>
                </a:lnTo>
                <a:lnTo>
                  <a:pt x="192633" y="29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52286" y="9202578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289191" y="144589"/>
                </a:moveTo>
                <a:lnTo>
                  <a:pt x="281819" y="190298"/>
                </a:lnTo>
                <a:lnTo>
                  <a:pt x="261290" y="229993"/>
                </a:lnTo>
                <a:lnTo>
                  <a:pt x="229987" y="261294"/>
                </a:lnTo>
                <a:lnTo>
                  <a:pt x="190293" y="281820"/>
                </a:lnTo>
                <a:lnTo>
                  <a:pt x="144589" y="289191"/>
                </a:lnTo>
                <a:lnTo>
                  <a:pt x="98886" y="281820"/>
                </a:lnTo>
                <a:lnTo>
                  <a:pt x="59195" y="261294"/>
                </a:lnTo>
                <a:lnTo>
                  <a:pt x="27896" y="229993"/>
                </a:lnTo>
                <a:lnTo>
                  <a:pt x="7370" y="190298"/>
                </a:lnTo>
                <a:lnTo>
                  <a:pt x="0" y="144589"/>
                </a:lnTo>
                <a:lnTo>
                  <a:pt x="7370" y="98891"/>
                </a:lnTo>
                <a:lnTo>
                  <a:pt x="27896" y="59200"/>
                </a:lnTo>
                <a:lnTo>
                  <a:pt x="59195" y="27900"/>
                </a:lnTo>
                <a:lnTo>
                  <a:pt x="98886" y="7372"/>
                </a:lnTo>
                <a:lnTo>
                  <a:pt x="144589" y="0"/>
                </a:lnTo>
                <a:lnTo>
                  <a:pt x="190293" y="7372"/>
                </a:lnTo>
                <a:lnTo>
                  <a:pt x="229987" y="27900"/>
                </a:lnTo>
                <a:lnTo>
                  <a:pt x="261290" y="59200"/>
                </a:lnTo>
                <a:lnTo>
                  <a:pt x="281819" y="98891"/>
                </a:lnTo>
                <a:lnTo>
                  <a:pt x="289191" y="14458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54636" y="9259379"/>
            <a:ext cx="89535" cy="184150"/>
          </a:xfrm>
          <a:custGeom>
            <a:avLst/>
            <a:gdLst/>
            <a:ahLst/>
            <a:cxnLst/>
            <a:rect l="l" t="t" r="r" b="b"/>
            <a:pathLst>
              <a:path w="89535" h="184150">
                <a:moveTo>
                  <a:pt x="58877" y="95516"/>
                </a:moveTo>
                <a:lnTo>
                  <a:pt x="19278" y="95516"/>
                </a:lnTo>
                <a:lnTo>
                  <a:pt x="19278" y="183807"/>
                </a:lnTo>
                <a:lnTo>
                  <a:pt x="58877" y="183807"/>
                </a:lnTo>
                <a:lnTo>
                  <a:pt x="58877" y="95516"/>
                </a:lnTo>
                <a:close/>
              </a:path>
              <a:path w="89535" h="184150">
                <a:moveTo>
                  <a:pt x="89179" y="0"/>
                </a:moveTo>
                <a:lnTo>
                  <a:pt x="59855" y="0"/>
                </a:lnTo>
                <a:lnTo>
                  <a:pt x="35984" y="5107"/>
                </a:lnTo>
                <a:lnTo>
                  <a:pt x="23983" y="16705"/>
                </a:lnTo>
                <a:lnTo>
                  <a:pt x="19775" y="29205"/>
                </a:lnTo>
                <a:lnTo>
                  <a:pt x="19278" y="37020"/>
                </a:lnTo>
                <a:lnTo>
                  <a:pt x="19278" y="63347"/>
                </a:lnTo>
                <a:lnTo>
                  <a:pt x="0" y="63347"/>
                </a:lnTo>
                <a:lnTo>
                  <a:pt x="0" y="95516"/>
                </a:lnTo>
                <a:lnTo>
                  <a:pt x="85445" y="95516"/>
                </a:lnTo>
                <a:lnTo>
                  <a:pt x="86903" y="86325"/>
                </a:lnTo>
                <a:lnTo>
                  <a:pt x="87772" y="79897"/>
                </a:lnTo>
                <a:lnTo>
                  <a:pt x="88399" y="73204"/>
                </a:lnTo>
                <a:lnTo>
                  <a:pt x="89128" y="63220"/>
                </a:lnTo>
                <a:lnTo>
                  <a:pt x="59029" y="63220"/>
                </a:lnTo>
                <a:lnTo>
                  <a:pt x="59029" y="37922"/>
                </a:lnTo>
                <a:lnTo>
                  <a:pt x="63347" y="33489"/>
                </a:lnTo>
                <a:lnTo>
                  <a:pt x="89179" y="33489"/>
                </a:lnTo>
                <a:lnTo>
                  <a:pt x="891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340208" y="9202578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59" h="289559">
                <a:moveTo>
                  <a:pt x="289191" y="144589"/>
                </a:moveTo>
                <a:lnTo>
                  <a:pt x="281819" y="190298"/>
                </a:lnTo>
                <a:lnTo>
                  <a:pt x="261291" y="229993"/>
                </a:lnTo>
                <a:lnTo>
                  <a:pt x="229990" y="261294"/>
                </a:lnTo>
                <a:lnTo>
                  <a:pt x="190299" y="281820"/>
                </a:lnTo>
                <a:lnTo>
                  <a:pt x="144602" y="289191"/>
                </a:lnTo>
                <a:lnTo>
                  <a:pt x="98893" y="281820"/>
                </a:lnTo>
                <a:lnTo>
                  <a:pt x="59198" y="261294"/>
                </a:lnTo>
                <a:lnTo>
                  <a:pt x="27897" y="229993"/>
                </a:lnTo>
                <a:lnTo>
                  <a:pt x="7371" y="190298"/>
                </a:lnTo>
                <a:lnTo>
                  <a:pt x="0" y="144589"/>
                </a:lnTo>
                <a:lnTo>
                  <a:pt x="7371" y="98891"/>
                </a:lnTo>
                <a:lnTo>
                  <a:pt x="27897" y="59200"/>
                </a:lnTo>
                <a:lnTo>
                  <a:pt x="59198" y="27900"/>
                </a:lnTo>
                <a:lnTo>
                  <a:pt x="98893" y="7372"/>
                </a:lnTo>
                <a:lnTo>
                  <a:pt x="144602" y="0"/>
                </a:lnTo>
                <a:lnTo>
                  <a:pt x="190299" y="7372"/>
                </a:lnTo>
                <a:lnTo>
                  <a:pt x="229990" y="27900"/>
                </a:lnTo>
                <a:lnTo>
                  <a:pt x="261291" y="59200"/>
                </a:lnTo>
                <a:lnTo>
                  <a:pt x="281819" y="98891"/>
                </a:lnTo>
                <a:lnTo>
                  <a:pt x="289191" y="14458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12496" y="9264992"/>
            <a:ext cx="159385" cy="146685"/>
          </a:xfrm>
          <a:custGeom>
            <a:avLst/>
            <a:gdLst/>
            <a:ahLst/>
            <a:cxnLst/>
            <a:rect l="l" t="t" r="r" b="b"/>
            <a:pathLst>
              <a:path w="159384" h="146684">
                <a:moveTo>
                  <a:pt x="35051" y="46888"/>
                </a:moveTo>
                <a:lnTo>
                  <a:pt x="4000" y="46888"/>
                </a:lnTo>
                <a:lnTo>
                  <a:pt x="4000" y="146227"/>
                </a:lnTo>
                <a:lnTo>
                  <a:pt x="35051" y="146227"/>
                </a:lnTo>
                <a:lnTo>
                  <a:pt x="35051" y="46888"/>
                </a:lnTo>
                <a:close/>
              </a:path>
              <a:path w="159384" h="146684">
                <a:moveTo>
                  <a:pt x="18948" y="0"/>
                </a:moveTo>
                <a:lnTo>
                  <a:pt x="0" y="26873"/>
                </a:lnTo>
                <a:lnTo>
                  <a:pt x="7277" y="34467"/>
                </a:lnTo>
                <a:lnTo>
                  <a:pt x="18732" y="34467"/>
                </a:lnTo>
                <a:lnTo>
                  <a:pt x="26615" y="33126"/>
                </a:lnTo>
                <a:lnTo>
                  <a:pt x="32577" y="29452"/>
                </a:lnTo>
                <a:lnTo>
                  <a:pt x="36350" y="23971"/>
                </a:lnTo>
                <a:lnTo>
                  <a:pt x="37668" y="17208"/>
                </a:lnTo>
                <a:lnTo>
                  <a:pt x="36263" y="10394"/>
                </a:lnTo>
                <a:lnTo>
                  <a:pt x="32523" y="4937"/>
                </a:lnTo>
                <a:lnTo>
                  <a:pt x="26675" y="1313"/>
                </a:lnTo>
                <a:lnTo>
                  <a:pt x="18948" y="0"/>
                </a:lnTo>
                <a:close/>
              </a:path>
              <a:path w="159384" h="146684">
                <a:moveTo>
                  <a:pt x="88861" y="46888"/>
                </a:moveTo>
                <a:lnTo>
                  <a:pt x="54000" y="46888"/>
                </a:lnTo>
                <a:lnTo>
                  <a:pt x="54186" y="51652"/>
                </a:lnTo>
                <a:lnTo>
                  <a:pt x="54236" y="94843"/>
                </a:lnTo>
                <a:lnTo>
                  <a:pt x="54000" y="146227"/>
                </a:lnTo>
                <a:lnTo>
                  <a:pt x="88861" y="146227"/>
                </a:lnTo>
                <a:lnTo>
                  <a:pt x="88734" y="86512"/>
                </a:lnTo>
                <a:lnTo>
                  <a:pt x="92024" y="78384"/>
                </a:lnTo>
                <a:lnTo>
                  <a:pt x="97180" y="72186"/>
                </a:lnTo>
                <a:lnTo>
                  <a:pt x="156363" y="72186"/>
                </a:lnTo>
                <a:lnTo>
                  <a:pt x="156179" y="70980"/>
                </a:lnTo>
                <a:lnTo>
                  <a:pt x="151107" y="62471"/>
                </a:lnTo>
                <a:lnTo>
                  <a:pt x="88861" y="62471"/>
                </a:lnTo>
                <a:lnTo>
                  <a:pt x="88861" y="46888"/>
                </a:lnTo>
                <a:close/>
              </a:path>
              <a:path w="159384" h="146684">
                <a:moveTo>
                  <a:pt x="156363" y="72186"/>
                </a:moveTo>
                <a:lnTo>
                  <a:pt x="106426" y="72186"/>
                </a:lnTo>
                <a:lnTo>
                  <a:pt x="114286" y="73830"/>
                </a:lnTo>
                <a:lnTo>
                  <a:pt x="119778" y="78457"/>
                </a:lnTo>
                <a:lnTo>
                  <a:pt x="123001" y="85613"/>
                </a:lnTo>
                <a:lnTo>
                  <a:pt x="124053" y="94843"/>
                </a:lnTo>
                <a:lnTo>
                  <a:pt x="124053" y="146227"/>
                </a:lnTo>
                <a:lnTo>
                  <a:pt x="159232" y="146227"/>
                </a:lnTo>
                <a:lnTo>
                  <a:pt x="159232" y="90995"/>
                </a:lnTo>
                <a:lnTo>
                  <a:pt x="156363" y="72186"/>
                </a:lnTo>
                <a:close/>
              </a:path>
              <a:path w="159384" h="146684">
                <a:moveTo>
                  <a:pt x="119849" y="45948"/>
                </a:moveTo>
                <a:lnTo>
                  <a:pt x="107792" y="47571"/>
                </a:lnTo>
                <a:lnTo>
                  <a:pt x="98459" y="51652"/>
                </a:lnTo>
                <a:lnTo>
                  <a:pt x="92075" y="57012"/>
                </a:lnTo>
                <a:lnTo>
                  <a:pt x="88861" y="62471"/>
                </a:lnTo>
                <a:lnTo>
                  <a:pt x="151107" y="62471"/>
                </a:lnTo>
                <a:lnTo>
                  <a:pt x="147808" y="56937"/>
                </a:lnTo>
                <a:lnTo>
                  <a:pt x="135304" y="48661"/>
                </a:lnTo>
                <a:lnTo>
                  <a:pt x="119849" y="459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315200" cy="2187575"/>
          </a:xfrm>
          <a:custGeom>
            <a:avLst/>
            <a:gdLst/>
            <a:ahLst/>
            <a:cxnLst/>
            <a:rect l="l" t="t" r="r" b="b"/>
            <a:pathLst>
              <a:path w="7315200" h="2187575">
                <a:moveTo>
                  <a:pt x="0" y="2187460"/>
                </a:moveTo>
                <a:lnTo>
                  <a:pt x="7315200" y="2187460"/>
                </a:lnTo>
                <a:lnTo>
                  <a:pt x="7315200" y="0"/>
                </a:lnTo>
                <a:lnTo>
                  <a:pt x="0" y="0"/>
                </a:lnTo>
                <a:lnTo>
                  <a:pt x="0" y="218746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3906" y="1364119"/>
            <a:ext cx="2108200" cy="62674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95"/>
              <a:t>A</a:t>
            </a:r>
            <a:r>
              <a:rPr dirty="0" spc="15"/>
              <a:t>UTHORS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1935" y="5750740"/>
            <a:ext cx="4872355" cy="1546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914400">
              <a:lnSpc>
                <a:spcPct val="102600"/>
              </a:lnSpc>
            </a:pPr>
            <a:r>
              <a:rPr dirty="0" sz="1400" spc="-20">
                <a:solidFill>
                  <a:srgbClr val="231F20"/>
                </a:solidFill>
                <a:latin typeface="Arial"/>
                <a:cs typeface="Arial"/>
              </a:rPr>
              <a:t>Vara </a:t>
            </a:r>
            <a:r>
              <a:rPr dirty="0" sz="1400" spc="-5">
                <a:solidFill>
                  <a:srgbClr val="231F20"/>
                </a:solidFill>
                <a:latin typeface="Arial"/>
                <a:cs typeface="Arial"/>
              </a:rPr>
              <a:t>Prasad </a:t>
            </a: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Nulu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masters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degree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science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software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BitMin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Infosystems.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extensive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experience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web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development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involving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javascript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frameworks,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java and app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engine.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Prasad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published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several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research papers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mining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analysis.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Being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avid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technology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enthusiast,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analyses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trends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technology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currently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impressed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simplicity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breadth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products.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1940" y="2712778"/>
            <a:ext cx="5010150" cy="2473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914400">
              <a:lnSpc>
                <a:spcPct val="103800"/>
              </a:lnSpc>
            </a:pPr>
            <a:r>
              <a:rPr dirty="0" sz="1400" spc="30">
                <a:solidFill>
                  <a:srgbClr val="231F20"/>
                </a:solidFill>
                <a:latin typeface="Arial"/>
                <a:cs typeface="Arial"/>
              </a:rPr>
              <a:t>Murali </a:t>
            </a:r>
            <a:r>
              <a:rPr dirty="0" sz="1400" spc="-20">
                <a:solidFill>
                  <a:srgbClr val="231F20"/>
                </a:solidFill>
                <a:latin typeface="Arial"/>
                <a:cs typeface="Arial"/>
              </a:rPr>
              <a:t>Dodda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Cloud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Technology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Specialist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over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15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years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experience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technology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space.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prestigious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IIT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Madras.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Murali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'technology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leadership'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startups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overseen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successful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exits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several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them.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currently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leading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team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technologists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Bitmin,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hot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startup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Murali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his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weekends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catch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latest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technology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innovation,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development,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entrepreneurship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domains.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Being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enthusiastic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blogger,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shares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exciting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developments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&amp;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his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experiences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designing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&amp;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deploying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strategies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his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blogs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ebooks.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want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inside view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deployment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real-world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clients,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don’t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forget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follow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his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blog.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3127375">
              <a:lnSpc>
                <a:spcPct val="100000"/>
              </a:lnSpc>
              <a:spcBef>
                <a:spcPts val="5"/>
              </a:spcBef>
            </a:pPr>
            <a:r>
              <a:rPr dirty="0" sz="1200" spc="10">
                <a:solidFill>
                  <a:srgbClr val="231F20"/>
                </a:solidFill>
                <a:latin typeface="Arial"/>
                <a:cs typeface="Arial"/>
                <a:hlinkClick r:id="rId2"/>
              </a:rPr>
              <a:t>Follow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  <a:hlinkClick r:id="rId2"/>
              </a:rPr>
              <a:t>me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  <a:hlinkClick r:id="rId2"/>
              </a:rPr>
              <a:t>on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  <a:hlinkClick r:id="rId2"/>
              </a:rPr>
              <a:t>Twitter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3100" y="4918138"/>
            <a:ext cx="330200" cy="33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53100" y="4918151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89" h="326389">
                <a:moveTo>
                  <a:pt x="325970" y="162979"/>
                </a:moveTo>
                <a:lnTo>
                  <a:pt x="320148" y="206307"/>
                </a:lnTo>
                <a:lnTo>
                  <a:pt x="303718" y="245240"/>
                </a:lnTo>
                <a:lnTo>
                  <a:pt x="278233" y="278225"/>
                </a:lnTo>
                <a:lnTo>
                  <a:pt x="245247" y="303708"/>
                </a:lnTo>
                <a:lnTo>
                  <a:pt x="206316" y="320136"/>
                </a:lnTo>
                <a:lnTo>
                  <a:pt x="162991" y="325958"/>
                </a:lnTo>
                <a:lnTo>
                  <a:pt x="119662" y="320136"/>
                </a:lnTo>
                <a:lnTo>
                  <a:pt x="80726" y="303708"/>
                </a:lnTo>
                <a:lnTo>
                  <a:pt x="47739" y="278225"/>
                </a:lnTo>
                <a:lnTo>
                  <a:pt x="22253" y="245240"/>
                </a:lnTo>
                <a:lnTo>
                  <a:pt x="5822" y="206307"/>
                </a:lnTo>
                <a:lnTo>
                  <a:pt x="0" y="162979"/>
                </a:lnTo>
                <a:lnTo>
                  <a:pt x="5822" y="119650"/>
                </a:lnTo>
                <a:lnTo>
                  <a:pt x="22253" y="80717"/>
                </a:lnTo>
                <a:lnTo>
                  <a:pt x="47739" y="47732"/>
                </a:lnTo>
                <a:lnTo>
                  <a:pt x="80726" y="22249"/>
                </a:lnTo>
                <a:lnTo>
                  <a:pt x="119662" y="5821"/>
                </a:lnTo>
                <a:lnTo>
                  <a:pt x="162991" y="0"/>
                </a:lnTo>
                <a:lnTo>
                  <a:pt x="206316" y="5821"/>
                </a:lnTo>
                <a:lnTo>
                  <a:pt x="245247" y="22249"/>
                </a:lnTo>
                <a:lnTo>
                  <a:pt x="278233" y="47732"/>
                </a:lnTo>
                <a:lnTo>
                  <a:pt x="303718" y="80717"/>
                </a:lnTo>
                <a:lnTo>
                  <a:pt x="320148" y="119650"/>
                </a:lnTo>
                <a:lnTo>
                  <a:pt x="325970" y="162979"/>
                </a:lnTo>
                <a:close/>
              </a:path>
            </a:pathLst>
          </a:custGeom>
          <a:ln w="1270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27525" y="9469677"/>
            <a:ext cx="262572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5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D5E5E"/>
                </a:solidFill>
                <a:latin typeface="Arial"/>
                <a:cs typeface="Arial"/>
              </a:rPr>
              <a:t>49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174872"/>
            <a:ext cx="1753235" cy="56515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 spc="20">
                <a:solidFill>
                  <a:srgbClr val="2C99CF"/>
                </a:solidFill>
              </a:rPr>
              <a:t>Prologue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41709" y="4155909"/>
            <a:ext cx="2623185" cy="4768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2006....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66040">
              <a:lnSpc>
                <a:spcPct val="104200"/>
              </a:lnSpc>
              <a:spcBef>
                <a:spcPts val="5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remember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 launched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AWS,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(a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service).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bright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sunny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horizon.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95885">
              <a:lnSpc>
                <a:spcPct val="104200"/>
              </a:lnSpc>
              <a:spcBef>
                <a:spcPts val="5"/>
              </a:spcBef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Fast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forward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now... 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wars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5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raining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umpteen number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competing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rivals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bigger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pie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market.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51435">
              <a:lnSpc>
                <a:spcPct val="104200"/>
              </a:lnSpc>
              <a:spcBef>
                <a:spcPts val="5"/>
              </a:spcBef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Each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companies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weap-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arsenal,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hoping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win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war.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Google,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main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rivals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battles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price,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perfor-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mance,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reliability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innovation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fought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day.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battle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seems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already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won.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independent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expert recently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benchmarked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6923" y="4148228"/>
            <a:ext cx="2632075" cy="439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best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cloud.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achieved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feat through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unbeatable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pricing.</a:t>
            </a:r>
            <a:endParaRPr sz="1200">
              <a:latin typeface="Arial"/>
              <a:cs typeface="Arial"/>
            </a:endParaRPr>
          </a:p>
          <a:p>
            <a:pPr marL="12700" marR="160655">
              <a:lnSpc>
                <a:spcPct val="1042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Does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mean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war?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No!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Because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variables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while picking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best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host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 marR="1143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we’ll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introduce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here.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current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state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world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shaped by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history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among other things.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had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early-mover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advantage and used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capture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share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market.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catching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fast.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6985">
              <a:lnSpc>
                <a:spcPct val="104200"/>
              </a:lnSpc>
              <a:spcBef>
                <a:spcPts val="5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While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can’t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predict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emerge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top,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evolution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understand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current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dynamics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well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future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prospects.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maybe,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maybe,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you'll guess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winning 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war,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turn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last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page.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8735" y="9537275"/>
            <a:ext cx="44450" cy="63500"/>
          </a:xfrm>
          <a:custGeom>
            <a:avLst/>
            <a:gdLst/>
            <a:ahLst/>
            <a:cxnLst/>
            <a:rect l="l" t="t" r="r" b="b"/>
            <a:pathLst>
              <a:path w="44450" h="63500">
                <a:moveTo>
                  <a:pt x="0" y="63500"/>
                </a:moveTo>
                <a:lnTo>
                  <a:pt x="44208" y="63500"/>
                </a:lnTo>
                <a:lnTo>
                  <a:pt x="44208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8735" y="9448375"/>
            <a:ext cx="152400" cy="45720"/>
          </a:xfrm>
          <a:custGeom>
            <a:avLst/>
            <a:gdLst/>
            <a:ahLst/>
            <a:cxnLst/>
            <a:rect l="l" t="t" r="r" b="b"/>
            <a:pathLst>
              <a:path w="152400" h="45720">
                <a:moveTo>
                  <a:pt x="0" y="45720"/>
                </a:moveTo>
                <a:lnTo>
                  <a:pt x="152209" y="45720"/>
                </a:lnTo>
                <a:lnTo>
                  <a:pt x="152209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98735" y="9537275"/>
            <a:ext cx="44450" cy="63500"/>
          </a:xfrm>
          <a:custGeom>
            <a:avLst/>
            <a:gdLst/>
            <a:ahLst/>
            <a:cxnLst/>
            <a:rect l="l" t="t" r="r" b="b"/>
            <a:pathLst>
              <a:path w="44450" h="63500">
                <a:moveTo>
                  <a:pt x="0" y="63500"/>
                </a:moveTo>
                <a:lnTo>
                  <a:pt x="44208" y="63500"/>
                </a:lnTo>
                <a:lnTo>
                  <a:pt x="44208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448375"/>
            <a:ext cx="152400" cy="45720"/>
          </a:xfrm>
          <a:custGeom>
            <a:avLst/>
            <a:gdLst/>
            <a:ahLst/>
            <a:cxnLst/>
            <a:rect l="l" t="t" r="r" b="b"/>
            <a:pathLst>
              <a:path w="152400" h="45720">
                <a:moveTo>
                  <a:pt x="0" y="45720"/>
                </a:moveTo>
                <a:lnTo>
                  <a:pt x="152209" y="45720"/>
                </a:lnTo>
                <a:lnTo>
                  <a:pt x="152209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924592" y="9469677"/>
            <a:ext cx="262826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0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10">
                <a:solidFill>
                  <a:srgbClr val="5D5E5E"/>
                </a:solidFill>
                <a:latin typeface="Arial"/>
                <a:cs typeface="Arial"/>
              </a:rPr>
              <a:t>03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315199" cy="10058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3143" y="1345310"/>
            <a:ext cx="2235835" cy="7239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750" spc="-245">
                <a:solidFill>
                  <a:srgbClr val="F4F4F8"/>
                </a:solidFill>
                <a:latin typeface="Cambria"/>
                <a:cs typeface="Cambria"/>
              </a:rPr>
              <a:t>Contents</a:t>
            </a:r>
            <a:endParaRPr sz="4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381" y="2246692"/>
            <a:ext cx="4940300" cy="6486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1605" marR="3778885">
              <a:lnSpc>
                <a:spcPct val="111500"/>
              </a:lnSpc>
            </a:pPr>
            <a:r>
              <a:rPr dirty="0" sz="2250" spc="-60" b="1">
                <a:solidFill>
                  <a:srgbClr val="FBFBFB"/>
                </a:solidFill>
                <a:latin typeface="Calibri"/>
                <a:cs typeface="Calibri"/>
                <a:hlinkClick r:id="rId3" action="ppaction://hlinksldjump"/>
              </a:rPr>
              <a:t>Authors </a:t>
            </a:r>
            <a:r>
              <a:rPr dirty="0" sz="2250" spc="-60" b="1">
                <a:solidFill>
                  <a:srgbClr val="FBFBFB"/>
                </a:solidFill>
                <a:latin typeface="Calibri"/>
                <a:cs typeface="Calibri"/>
              </a:rPr>
              <a:t> </a:t>
            </a:r>
            <a:r>
              <a:rPr dirty="0" sz="2250" spc="-70" b="1">
                <a:solidFill>
                  <a:srgbClr val="FBFBFB"/>
                </a:solidFill>
                <a:latin typeface="Calibri"/>
                <a:cs typeface="Calibri"/>
                <a:hlinkClick r:id="rId4" action="ppaction://hlinksldjump"/>
              </a:rPr>
              <a:t>Prol</a:t>
            </a:r>
            <a:r>
              <a:rPr dirty="0" sz="2250" spc="-45" b="1">
                <a:solidFill>
                  <a:srgbClr val="FBFBFB"/>
                </a:solidFill>
                <a:latin typeface="Calibri"/>
                <a:cs typeface="Calibri"/>
                <a:hlinkClick r:id="rId4" action="ppaction://hlinksldjump"/>
              </a:rPr>
              <a:t>ogue</a:t>
            </a:r>
            <a:endParaRPr sz="2250">
              <a:latin typeface="Calibri"/>
              <a:cs typeface="Calibri"/>
            </a:endParaRPr>
          </a:p>
          <a:p>
            <a:pPr marL="458470" indent="-335915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58470" algn="l"/>
                <a:tab pos="459105" algn="l"/>
              </a:tabLst>
            </a:pPr>
            <a:r>
              <a:rPr dirty="0" sz="1900" spc="-4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A</a:t>
            </a:r>
            <a:r>
              <a:rPr dirty="0" sz="1900" spc="-6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Brief</a:t>
            </a:r>
            <a:r>
              <a:rPr dirty="0" sz="1900" spc="-6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3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history</a:t>
            </a:r>
            <a:r>
              <a:rPr dirty="0" sz="1900" spc="-4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5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of</a:t>
            </a:r>
            <a:r>
              <a:rPr dirty="0" sz="1900" spc="-5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2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our</a:t>
            </a:r>
            <a:r>
              <a:rPr dirty="0" sz="1900" spc="-5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4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time</a:t>
            </a:r>
            <a:r>
              <a:rPr dirty="0" sz="1900" spc="-6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on</a:t>
            </a:r>
            <a:r>
              <a:rPr dirty="0" sz="1900" spc="-6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the</a:t>
            </a:r>
            <a:r>
              <a:rPr dirty="0" sz="1900" spc="-4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 </a:t>
            </a: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5" action="ppaction://hlinksldjump"/>
              </a:rPr>
              <a:t>Cloud</a:t>
            </a:r>
            <a:endParaRPr sz="1900">
              <a:latin typeface="Arial Narrow"/>
              <a:cs typeface="Arial Narrow"/>
            </a:endParaRPr>
          </a:p>
          <a:p>
            <a:pPr marL="464820" indent="-34099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4820" algn="l"/>
                <a:tab pos="465455" algn="l"/>
              </a:tabLst>
            </a:pP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Shifts </a:t>
            </a:r>
            <a:r>
              <a:rPr dirty="0" sz="1900" spc="20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in </a:t>
            </a:r>
            <a:r>
              <a:rPr dirty="0" sz="1900" spc="-20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Cloud </a:t>
            </a:r>
            <a:r>
              <a:rPr dirty="0" sz="1900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strategies:</a:t>
            </a:r>
            <a:r>
              <a:rPr dirty="0" sz="1900" spc="120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 </a:t>
            </a:r>
            <a:r>
              <a:rPr dirty="0" sz="1900" spc="-5">
                <a:solidFill>
                  <a:srgbClr val="A0DCEF"/>
                </a:solidFill>
                <a:latin typeface="Arial Narrow"/>
                <a:cs typeface="Arial Narrow"/>
                <a:hlinkClick r:id="rId6" action="ppaction://hlinksldjump"/>
              </a:rPr>
              <a:t>Rivalry/Evolution?</a:t>
            </a:r>
            <a:endParaRPr sz="1900">
              <a:latin typeface="Arial Narrow"/>
              <a:cs typeface="Arial Narrow"/>
            </a:endParaRPr>
          </a:p>
          <a:p>
            <a:pPr marL="459105" indent="-325120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59105" algn="l"/>
                <a:tab pos="459740" algn="l"/>
              </a:tabLst>
            </a:pP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Starting</a:t>
            </a:r>
            <a:r>
              <a:rPr dirty="0" sz="1900" spc="-4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your</a:t>
            </a:r>
            <a:r>
              <a:rPr dirty="0" sz="1900" spc="-5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cloud</a:t>
            </a:r>
            <a:r>
              <a:rPr dirty="0" sz="1900" spc="-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Journey</a:t>
            </a:r>
            <a:r>
              <a:rPr dirty="0" sz="1900" spc="-4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5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with</a:t>
            </a:r>
            <a:r>
              <a:rPr dirty="0" sz="1900" spc="-4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the</a:t>
            </a:r>
            <a:r>
              <a:rPr dirty="0" sz="1900" spc="-45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30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right</a:t>
            </a:r>
            <a:r>
              <a:rPr dirty="0" sz="1900" spc="-20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 </a:t>
            </a:r>
            <a:r>
              <a:rPr dirty="0" sz="1900" spc="10">
                <a:solidFill>
                  <a:srgbClr val="A0DCEF"/>
                </a:solidFill>
                <a:latin typeface="Arial Narrow"/>
                <a:cs typeface="Arial Narrow"/>
                <a:hlinkClick r:id="rId7" action="ppaction://hlinksldjump"/>
              </a:rPr>
              <a:t>partner</a:t>
            </a:r>
            <a:endParaRPr sz="1900">
              <a:latin typeface="Arial Narrow"/>
              <a:cs typeface="Arial Narrow"/>
            </a:endParaRPr>
          </a:p>
          <a:p>
            <a:pPr marL="461645" indent="-328930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461645" algn="l"/>
                <a:tab pos="462280" algn="l"/>
              </a:tabLst>
            </a:pP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8" action="ppaction://hlinksldjump"/>
              </a:rPr>
              <a:t>Architecture </a:t>
            </a:r>
            <a:r>
              <a:rPr dirty="0" sz="1900" spc="50">
                <a:solidFill>
                  <a:srgbClr val="A0DCEF"/>
                </a:solidFill>
                <a:latin typeface="Arial Narrow"/>
                <a:cs typeface="Arial Narrow"/>
                <a:hlinkClick r:id="rId8" action="ppaction://hlinksldjump"/>
              </a:rPr>
              <a:t>of </a:t>
            </a: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8" action="ppaction://hlinksldjump"/>
              </a:rPr>
              <a:t>a Cloud</a:t>
            </a:r>
            <a:r>
              <a:rPr dirty="0" sz="1900" spc="-114">
                <a:solidFill>
                  <a:srgbClr val="A0DCEF"/>
                </a:solidFill>
                <a:latin typeface="Arial Narrow"/>
                <a:cs typeface="Arial Narrow"/>
                <a:hlinkClick r:id="rId8" action="ppaction://hlinksldjump"/>
              </a:rPr>
              <a:t> </a:t>
            </a:r>
            <a:r>
              <a:rPr dirty="0" sz="1900" spc="20">
                <a:solidFill>
                  <a:srgbClr val="A0DCEF"/>
                </a:solidFill>
                <a:latin typeface="Arial Narrow"/>
                <a:cs typeface="Arial Narrow"/>
                <a:hlinkClick r:id="rId8" action="ppaction://hlinksldjump"/>
              </a:rPr>
              <a:t>Platform</a:t>
            </a:r>
            <a:endParaRPr sz="1900">
              <a:latin typeface="Arial Narrow"/>
              <a:cs typeface="Arial Narrow"/>
            </a:endParaRPr>
          </a:p>
          <a:p>
            <a:pPr marL="463550" indent="-32004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2915" algn="l"/>
                <a:tab pos="463550" algn="l"/>
              </a:tabLst>
            </a:pPr>
            <a:r>
              <a:rPr dirty="0" sz="1900" spc="-15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The </a:t>
            </a:r>
            <a:r>
              <a:rPr dirty="0" sz="1900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'Compute' </a:t>
            </a: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in </a:t>
            </a: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Cloud</a:t>
            </a:r>
            <a:r>
              <a:rPr dirty="0" sz="1900" spc="-90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 </a:t>
            </a:r>
            <a:r>
              <a:rPr dirty="0" sz="1900" spc="15">
                <a:solidFill>
                  <a:srgbClr val="A0DCEF"/>
                </a:solidFill>
                <a:latin typeface="Arial Narrow"/>
                <a:cs typeface="Arial Narrow"/>
                <a:hlinkClick r:id="rId9" action="ppaction://hlinksldjump"/>
              </a:rPr>
              <a:t>Computing</a:t>
            </a:r>
            <a:endParaRPr sz="1900">
              <a:latin typeface="Arial Narrow"/>
              <a:cs typeface="Arial Narrow"/>
            </a:endParaRPr>
          </a:p>
          <a:p>
            <a:pPr marL="480059" indent="-33972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80059" algn="l"/>
                <a:tab pos="480695" algn="l"/>
              </a:tabLst>
            </a:pPr>
            <a:r>
              <a:rPr dirty="0" sz="1900" spc="-25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Don't </a:t>
            </a:r>
            <a:r>
              <a:rPr dirty="0" sz="1900" spc="-65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Grab </a:t>
            </a: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a </a:t>
            </a:r>
            <a:r>
              <a:rPr dirty="0" sz="1900" spc="-25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Passing </a:t>
            </a: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Cloud </a:t>
            </a:r>
            <a:r>
              <a:rPr dirty="0" sz="190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(to </a:t>
            </a:r>
            <a:r>
              <a:rPr dirty="0" sz="1900" spc="1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Stash your</a:t>
            </a:r>
            <a:r>
              <a:rPr dirty="0" sz="1900" spc="38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 </a:t>
            </a:r>
            <a:r>
              <a:rPr dirty="0" sz="1900" spc="-50">
                <a:solidFill>
                  <a:srgbClr val="A0DCEF"/>
                </a:solidFill>
                <a:latin typeface="Arial Narrow"/>
                <a:cs typeface="Arial Narrow"/>
                <a:hlinkClick r:id="rId10" action="ppaction://hlinksldjump"/>
              </a:rPr>
              <a:t>Data)</a:t>
            </a:r>
            <a:endParaRPr sz="1900">
              <a:latin typeface="Arial Narrow"/>
              <a:cs typeface="Arial Narrow"/>
            </a:endParaRPr>
          </a:p>
          <a:p>
            <a:pPr marL="466725" indent="-33083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6090" algn="l"/>
                <a:tab pos="466725" algn="l"/>
              </a:tabLst>
            </a:pPr>
            <a:r>
              <a:rPr dirty="0" sz="1900" spc="-20">
                <a:solidFill>
                  <a:srgbClr val="A0DCEF"/>
                </a:solidFill>
                <a:latin typeface="Arial Narrow"/>
                <a:cs typeface="Arial Narrow"/>
                <a:hlinkClick r:id="rId11" action="ppaction://hlinksldjump"/>
              </a:rPr>
              <a:t>Why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11" action="ppaction://hlinksldjump"/>
              </a:rPr>
              <a:t>networking</a:t>
            </a:r>
            <a:r>
              <a:rPr dirty="0" sz="1900" spc="-75">
                <a:solidFill>
                  <a:srgbClr val="A0DCEF"/>
                </a:solidFill>
                <a:latin typeface="Arial Narrow"/>
                <a:cs typeface="Arial Narrow"/>
                <a:hlinkClick r:id="rId11" action="ppaction://hlinksldjump"/>
              </a:rPr>
              <a:t> </a:t>
            </a:r>
            <a:r>
              <a:rPr dirty="0" sz="1900" spc="40">
                <a:solidFill>
                  <a:srgbClr val="A0DCEF"/>
                </a:solidFill>
                <a:latin typeface="Arial Narrow"/>
                <a:cs typeface="Arial Narrow"/>
                <a:hlinkClick r:id="rId11" action="ppaction://hlinksldjump"/>
              </a:rPr>
              <a:t>matters</a:t>
            </a:r>
            <a:endParaRPr sz="1900">
              <a:latin typeface="Arial Narrow"/>
              <a:cs typeface="Arial Narrow"/>
            </a:endParaRPr>
          </a:p>
          <a:p>
            <a:pPr marL="466090" indent="-32893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6090" algn="l"/>
                <a:tab pos="466725" algn="l"/>
              </a:tabLst>
            </a:pPr>
            <a:r>
              <a:rPr dirty="0" sz="1900" spc="-15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Why </a:t>
            </a:r>
            <a:r>
              <a:rPr dirty="0" sz="1900" spc="-70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DBaaS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is </a:t>
            </a:r>
            <a:r>
              <a:rPr dirty="0" sz="1900" spc="20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in</a:t>
            </a:r>
            <a:r>
              <a:rPr dirty="0" sz="1900" spc="50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 </a:t>
            </a:r>
            <a:r>
              <a:rPr dirty="0" sz="1900" spc="-15">
                <a:solidFill>
                  <a:srgbClr val="A0DCEF"/>
                </a:solidFill>
                <a:latin typeface="Arial Narrow"/>
                <a:cs typeface="Arial Narrow"/>
                <a:hlinkClick r:id="rId12" action="ppaction://hlinksldjump"/>
              </a:rPr>
              <a:t>Demand</a:t>
            </a:r>
            <a:endParaRPr sz="1900">
              <a:latin typeface="Arial Narrow"/>
              <a:cs typeface="Arial Narrow"/>
            </a:endParaRPr>
          </a:p>
          <a:p>
            <a:pPr marL="465455" indent="-32829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5455" algn="l"/>
                <a:tab pos="466090" algn="l"/>
              </a:tabLst>
            </a:pP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Big </a:t>
            </a:r>
            <a:r>
              <a:rPr dirty="0" sz="1900" spc="-35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Data </a:t>
            </a:r>
            <a:r>
              <a:rPr dirty="0" sz="1900" spc="20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Analytics </a:t>
            </a:r>
            <a:r>
              <a:rPr dirty="0" sz="1900" spc="-114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-  </a:t>
            </a:r>
            <a:r>
              <a:rPr dirty="0" sz="1900" spc="-35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Data Driven </a:t>
            </a:r>
            <a:r>
              <a:rPr dirty="0" sz="1900" spc="5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Business</a:t>
            </a:r>
            <a:r>
              <a:rPr dirty="0" sz="1900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13" action="ppaction://hlinksldjump"/>
              </a:rPr>
              <a:t>success</a:t>
            </a:r>
            <a:endParaRPr sz="1900">
              <a:latin typeface="Arial Narrow"/>
              <a:cs typeface="Arial Narrow"/>
            </a:endParaRPr>
          </a:p>
          <a:p>
            <a:pPr marL="466725" indent="-33845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6725" algn="l"/>
              </a:tabLst>
            </a:pP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14" action="ppaction://hlinksldjump"/>
              </a:rPr>
              <a:t>The (Machine) </a:t>
            </a:r>
            <a:r>
              <a:rPr dirty="0" sz="1900" spc="-15">
                <a:solidFill>
                  <a:srgbClr val="A0DCEF"/>
                </a:solidFill>
                <a:latin typeface="Arial Narrow"/>
                <a:cs typeface="Arial Narrow"/>
                <a:hlinkClick r:id="rId14" action="ppaction://hlinksldjump"/>
              </a:rPr>
              <a:t>Learning</a:t>
            </a:r>
            <a:r>
              <a:rPr dirty="0" sz="1900" spc="225">
                <a:solidFill>
                  <a:srgbClr val="A0DCEF"/>
                </a:solidFill>
                <a:latin typeface="Arial Narrow"/>
                <a:cs typeface="Arial Narrow"/>
                <a:hlinkClick r:id="rId14" action="ppaction://hlinksldjump"/>
              </a:rPr>
              <a:t> </a:t>
            </a:r>
            <a:r>
              <a:rPr dirty="0" sz="1900" spc="-5">
                <a:solidFill>
                  <a:srgbClr val="A0DCEF"/>
                </a:solidFill>
                <a:latin typeface="Arial Narrow"/>
                <a:cs typeface="Arial Narrow"/>
                <a:hlinkClick r:id="rId14" action="ppaction://hlinksldjump"/>
              </a:rPr>
              <a:t>Enterprise</a:t>
            </a:r>
            <a:endParaRPr sz="1900">
              <a:latin typeface="Arial Narrow"/>
              <a:cs typeface="Arial Narrow"/>
            </a:endParaRPr>
          </a:p>
          <a:p>
            <a:pPr marL="469265" indent="-339090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469900" algn="l"/>
              </a:tabLst>
            </a:pPr>
            <a:r>
              <a:rPr dirty="0" sz="1900" spc="-20">
                <a:solidFill>
                  <a:srgbClr val="A0DCEF"/>
                </a:solidFill>
                <a:latin typeface="Arial Narrow"/>
                <a:cs typeface="Arial Narrow"/>
                <a:hlinkClick r:id="rId15" action="ppaction://hlinksldjump"/>
              </a:rPr>
              <a:t>Why </a:t>
            </a:r>
            <a:r>
              <a:rPr dirty="0" sz="1900" spc="-35">
                <a:solidFill>
                  <a:srgbClr val="A0DCEF"/>
                </a:solidFill>
                <a:latin typeface="Arial Narrow"/>
                <a:cs typeface="Arial Narrow"/>
                <a:hlinkClick r:id="rId15" action="ppaction://hlinksldjump"/>
              </a:rPr>
              <a:t>Google</a:t>
            </a:r>
            <a:r>
              <a:rPr dirty="0" sz="1900" spc="-5">
                <a:solidFill>
                  <a:srgbClr val="A0DCEF"/>
                </a:solidFill>
                <a:latin typeface="Arial Narrow"/>
                <a:cs typeface="Arial Narrow"/>
                <a:hlinkClick r:id="rId15" action="ppaction://hlinksldjump"/>
              </a:rPr>
              <a:t> </a:t>
            </a:r>
            <a:r>
              <a:rPr dirty="0" sz="1900" spc="-40">
                <a:solidFill>
                  <a:srgbClr val="A0DCEF"/>
                </a:solidFill>
                <a:latin typeface="Arial Narrow"/>
                <a:cs typeface="Arial Narrow"/>
                <a:hlinkClick r:id="rId15" action="ppaction://hlinksldjump"/>
              </a:rPr>
              <a:t>Cloud?</a:t>
            </a:r>
            <a:endParaRPr sz="1900">
              <a:latin typeface="Arial Narrow"/>
              <a:cs typeface="Arial Narrow"/>
            </a:endParaRPr>
          </a:p>
          <a:p>
            <a:pPr marL="483234" indent="-35306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83870" algn="l"/>
              </a:tabLst>
            </a:pPr>
            <a:r>
              <a:rPr dirty="0" sz="1900" spc="-10">
                <a:solidFill>
                  <a:srgbClr val="A0DCEF"/>
                </a:solidFill>
                <a:latin typeface="Arial Narrow"/>
                <a:cs typeface="Arial Narrow"/>
                <a:hlinkClick r:id="rId16" action="ppaction://hlinksldjump"/>
              </a:rPr>
              <a:t>Planning </a:t>
            </a:r>
            <a:r>
              <a:rPr dirty="0" sz="1900" spc="10">
                <a:solidFill>
                  <a:srgbClr val="A0DCEF"/>
                </a:solidFill>
                <a:latin typeface="Arial Narrow"/>
                <a:cs typeface="Arial Narrow"/>
                <a:hlinkClick r:id="rId16" action="ppaction://hlinksldjump"/>
              </a:rPr>
              <a:t>your enterprise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16" action="ppaction://hlinksldjump"/>
              </a:rPr>
              <a:t>cloud</a:t>
            </a:r>
            <a:r>
              <a:rPr dirty="0" sz="1900" spc="-210">
                <a:solidFill>
                  <a:srgbClr val="A0DCEF"/>
                </a:solidFill>
                <a:latin typeface="Arial Narrow"/>
                <a:cs typeface="Arial Narrow"/>
                <a:hlinkClick r:id="rId16" action="ppaction://hlinksldjump"/>
              </a:rPr>
              <a:t> </a:t>
            </a:r>
            <a:r>
              <a:rPr dirty="0" sz="1900" spc="25">
                <a:solidFill>
                  <a:srgbClr val="A0DCEF"/>
                </a:solidFill>
                <a:latin typeface="Arial Narrow"/>
                <a:cs typeface="Arial Narrow"/>
                <a:hlinkClick r:id="rId16" action="ppaction://hlinksldjump"/>
              </a:rPr>
              <a:t>strategy</a:t>
            </a:r>
            <a:endParaRPr sz="1900">
              <a:latin typeface="Arial Narrow"/>
              <a:cs typeface="Arial Narrow"/>
            </a:endParaRPr>
          </a:p>
          <a:p>
            <a:pPr algn="ctr" marL="12700" marR="3641725" indent="8890">
              <a:lnSpc>
                <a:spcPct val="111800"/>
              </a:lnSpc>
              <a:spcBef>
                <a:spcPts val="55"/>
              </a:spcBef>
            </a:pPr>
            <a:r>
              <a:rPr dirty="0" sz="2250" spc="-20" b="1">
                <a:solidFill>
                  <a:srgbClr val="FBFBFB"/>
                </a:solidFill>
                <a:latin typeface="Calibri"/>
                <a:cs typeface="Calibri"/>
                <a:hlinkClick r:id="rId17" action="ppaction://hlinksldjump"/>
              </a:rPr>
              <a:t>Conclusion </a:t>
            </a:r>
            <a:r>
              <a:rPr dirty="0" sz="2250" spc="-10" b="1">
                <a:solidFill>
                  <a:srgbClr val="FBFBFB"/>
                </a:solidFill>
                <a:latin typeface="Calibri"/>
                <a:cs typeface="Calibri"/>
              </a:rPr>
              <a:t> </a:t>
            </a:r>
            <a:r>
              <a:rPr dirty="0" sz="2250" spc="-55" b="1">
                <a:solidFill>
                  <a:srgbClr val="FBFBFB"/>
                </a:solidFill>
                <a:latin typeface="Calibri"/>
                <a:cs typeface="Calibri"/>
                <a:hlinkClick r:id="rId18" action="ppaction://hlinksldjump"/>
              </a:rPr>
              <a:t>Annexures</a:t>
            </a:r>
            <a:endParaRPr sz="2250">
              <a:latin typeface="Calibri"/>
              <a:cs typeface="Calibri"/>
            </a:endParaRPr>
          </a:p>
          <a:p>
            <a:pPr marL="163195">
              <a:lnSpc>
                <a:spcPct val="100000"/>
              </a:lnSpc>
              <a:spcBef>
                <a:spcPts val="675"/>
              </a:spcBef>
            </a:pPr>
            <a:r>
              <a:rPr dirty="0" sz="1850" spc="-30" b="1">
                <a:solidFill>
                  <a:srgbClr val="A0DCEF"/>
                </a:solidFill>
                <a:latin typeface="Arial Narrow"/>
                <a:cs typeface="Arial Narrow"/>
              </a:rPr>
              <a:t>Annexure </a:t>
            </a:r>
            <a:r>
              <a:rPr dirty="0" sz="1850" spc="-130" b="1">
                <a:solidFill>
                  <a:srgbClr val="A0DCEF"/>
                </a:solidFill>
                <a:latin typeface="Arial Narrow"/>
                <a:cs typeface="Arial Narrow"/>
              </a:rPr>
              <a:t>A:  </a:t>
            </a:r>
            <a:r>
              <a:rPr dirty="0" sz="1850" spc="-55" b="1">
                <a:solidFill>
                  <a:srgbClr val="A0DCEF"/>
                </a:solidFill>
                <a:latin typeface="Arial Narrow"/>
                <a:cs typeface="Arial Narrow"/>
              </a:rPr>
              <a:t>Building  </a:t>
            </a:r>
            <a:r>
              <a:rPr dirty="0" sz="1850" spc="-40" b="1">
                <a:solidFill>
                  <a:srgbClr val="A0DCEF"/>
                </a:solidFill>
                <a:latin typeface="Arial Narrow"/>
                <a:cs typeface="Arial Narrow"/>
              </a:rPr>
              <a:t>blocks </a:t>
            </a:r>
            <a:r>
              <a:rPr dirty="0" sz="1850" spc="20" b="1">
                <a:solidFill>
                  <a:srgbClr val="A0DCEF"/>
                </a:solidFill>
                <a:latin typeface="Arial Narrow"/>
                <a:cs typeface="Arial Narrow"/>
              </a:rPr>
              <a:t>of </a:t>
            </a:r>
            <a:r>
              <a:rPr dirty="0" sz="1850" spc="-55" b="1">
                <a:solidFill>
                  <a:srgbClr val="A0DCEF"/>
                </a:solidFill>
                <a:latin typeface="Arial Narrow"/>
                <a:cs typeface="Arial Narrow"/>
              </a:rPr>
              <a:t>AWS </a:t>
            </a:r>
            <a:r>
              <a:rPr dirty="0" sz="1850" spc="-25" b="1">
                <a:solidFill>
                  <a:srgbClr val="A0DCEF"/>
                </a:solidFill>
                <a:latin typeface="Arial Narrow"/>
                <a:cs typeface="Arial Narrow"/>
              </a:rPr>
              <a:t>and</a:t>
            </a:r>
            <a:r>
              <a:rPr dirty="0" sz="1850" spc="105" b="1">
                <a:solidFill>
                  <a:srgbClr val="A0DCEF"/>
                </a:solidFill>
                <a:latin typeface="Arial Narrow"/>
                <a:cs typeface="Arial Narrow"/>
              </a:rPr>
              <a:t> </a:t>
            </a:r>
            <a:r>
              <a:rPr dirty="0" sz="1850" spc="-100" b="1">
                <a:solidFill>
                  <a:srgbClr val="A0DCEF"/>
                </a:solidFill>
                <a:latin typeface="Arial Narrow"/>
                <a:cs typeface="Arial Narrow"/>
              </a:rPr>
              <a:t>GCP</a:t>
            </a:r>
            <a:endParaRPr sz="1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4806683"/>
            <a:ext cx="2772448" cy="343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7315200" cy="4203700"/>
          </a:xfrm>
          <a:custGeom>
            <a:avLst/>
            <a:gdLst/>
            <a:ahLst/>
            <a:cxnLst/>
            <a:rect l="l" t="t" r="r" b="b"/>
            <a:pathLst>
              <a:path w="7315200" h="4203700">
                <a:moveTo>
                  <a:pt x="0" y="4203700"/>
                </a:moveTo>
                <a:lnTo>
                  <a:pt x="7315200" y="4203700"/>
                </a:lnTo>
                <a:lnTo>
                  <a:pt x="7315200" y="0"/>
                </a:lnTo>
                <a:lnTo>
                  <a:pt x="0" y="0"/>
                </a:lnTo>
                <a:lnTo>
                  <a:pt x="0" y="42037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9300" y="3426002"/>
            <a:ext cx="4150360" cy="349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55" i="1">
                <a:solidFill>
                  <a:srgbClr val="F5F4F4"/>
                </a:solidFill>
                <a:latin typeface="Calibri"/>
                <a:cs typeface="Calibri"/>
              </a:rPr>
              <a:t>The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story </a:t>
            </a: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of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cloud </a:t>
            </a:r>
            <a:r>
              <a:rPr dirty="0" sz="2200" spc="25" i="1">
                <a:solidFill>
                  <a:srgbClr val="F5F4F4"/>
                </a:solidFill>
                <a:latin typeface="Calibri"/>
                <a:cs typeface="Calibri"/>
              </a:rPr>
              <a:t>computing </a:t>
            </a:r>
            <a:r>
              <a:rPr dirty="0" sz="2200" spc="105" i="1">
                <a:solidFill>
                  <a:srgbClr val="F5F4F4"/>
                </a:solidFill>
                <a:latin typeface="Calibri"/>
                <a:cs typeface="Calibri"/>
              </a:rPr>
              <a:t>so</a:t>
            </a:r>
            <a:r>
              <a:rPr dirty="0" sz="2200" spc="-13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far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97157" y="0"/>
            <a:ext cx="2721610" cy="1042669"/>
          </a:xfrm>
          <a:custGeom>
            <a:avLst/>
            <a:gdLst/>
            <a:ahLst/>
            <a:cxnLst/>
            <a:rect l="l" t="t" r="r" b="b"/>
            <a:pathLst>
              <a:path w="2721610" h="1042669">
                <a:moveTo>
                  <a:pt x="1945046" y="812927"/>
                </a:moveTo>
                <a:lnTo>
                  <a:pt x="1056478" y="812927"/>
                </a:lnTo>
                <a:lnTo>
                  <a:pt x="1066331" y="830628"/>
                </a:lnTo>
                <a:lnTo>
                  <a:pt x="1100020" y="877444"/>
                </a:lnTo>
                <a:lnTo>
                  <a:pt x="1155644" y="931528"/>
                </a:lnTo>
                <a:lnTo>
                  <a:pt x="1192916" y="958312"/>
                </a:lnTo>
                <a:lnTo>
                  <a:pt x="1237151" y="983333"/>
                </a:lnTo>
                <a:lnTo>
                  <a:pt x="1288843" y="1005399"/>
                </a:lnTo>
                <a:lnTo>
                  <a:pt x="1348486" y="1023316"/>
                </a:lnTo>
                <a:lnTo>
                  <a:pt x="1416574" y="1035892"/>
                </a:lnTo>
                <a:lnTo>
                  <a:pt x="1493599" y="1041933"/>
                </a:lnTo>
                <a:lnTo>
                  <a:pt x="1519622" y="1042314"/>
                </a:lnTo>
                <a:lnTo>
                  <a:pt x="1593130" y="1038359"/>
                </a:lnTo>
                <a:lnTo>
                  <a:pt x="1658729" y="1027274"/>
                </a:lnTo>
                <a:lnTo>
                  <a:pt x="1716860" y="1010053"/>
                </a:lnTo>
                <a:lnTo>
                  <a:pt x="1767964" y="987688"/>
                </a:lnTo>
                <a:lnTo>
                  <a:pt x="1812481" y="961174"/>
                </a:lnTo>
                <a:lnTo>
                  <a:pt x="1850852" y="931502"/>
                </a:lnTo>
                <a:lnTo>
                  <a:pt x="1883518" y="899666"/>
                </a:lnTo>
                <a:lnTo>
                  <a:pt x="1910919" y="866659"/>
                </a:lnTo>
                <a:lnTo>
                  <a:pt x="1933497" y="833474"/>
                </a:lnTo>
                <a:lnTo>
                  <a:pt x="1945046" y="812927"/>
                </a:lnTo>
                <a:close/>
              </a:path>
              <a:path w="2721610" h="1042669">
                <a:moveTo>
                  <a:pt x="2613198" y="432473"/>
                </a:moveTo>
                <a:lnTo>
                  <a:pt x="456619" y="432473"/>
                </a:lnTo>
                <a:lnTo>
                  <a:pt x="453693" y="456284"/>
                </a:lnTo>
                <a:lnTo>
                  <a:pt x="453172" y="486295"/>
                </a:lnTo>
                <a:lnTo>
                  <a:pt x="456739" y="521676"/>
                </a:lnTo>
                <a:lnTo>
                  <a:pt x="466077" y="561600"/>
                </a:lnTo>
                <a:lnTo>
                  <a:pt x="482870" y="605239"/>
                </a:lnTo>
                <a:lnTo>
                  <a:pt x="508801" y="651765"/>
                </a:lnTo>
                <a:lnTo>
                  <a:pt x="545552" y="700349"/>
                </a:lnTo>
                <a:lnTo>
                  <a:pt x="594808" y="750163"/>
                </a:lnTo>
                <a:lnTo>
                  <a:pt x="629983" y="777948"/>
                </a:lnTo>
                <a:lnTo>
                  <a:pt x="668055" y="801000"/>
                </a:lnTo>
                <a:lnTo>
                  <a:pt x="708963" y="819294"/>
                </a:lnTo>
                <a:lnTo>
                  <a:pt x="752645" y="832808"/>
                </a:lnTo>
                <a:lnTo>
                  <a:pt x="799039" y="841518"/>
                </a:lnTo>
                <a:lnTo>
                  <a:pt x="848084" y="845401"/>
                </a:lnTo>
                <a:lnTo>
                  <a:pt x="914882" y="843175"/>
                </a:lnTo>
                <a:lnTo>
                  <a:pt x="973893" y="834722"/>
                </a:lnTo>
                <a:lnTo>
                  <a:pt x="1022098" y="823489"/>
                </a:lnTo>
                <a:lnTo>
                  <a:pt x="1056478" y="812927"/>
                </a:lnTo>
                <a:lnTo>
                  <a:pt x="1945046" y="812927"/>
                </a:lnTo>
                <a:lnTo>
                  <a:pt x="1965945" y="770541"/>
                </a:lnTo>
                <a:lnTo>
                  <a:pt x="1984387" y="718811"/>
                </a:lnTo>
                <a:lnTo>
                  <a:pt x="1989458" y="699630"/>
                </a:lnTo>
                <a:lnTo>
                  <a:pt x="2159433" y="699630"/>
                </a:lnTo>
                <a:lnTo>
                  <a:pt x="2232754" y="670160"/>
                </a:lnTo>
                <a:lnTo>
                  <a:pt x="2268133" y="643361"/>
                </a:lnTo>
                <a:lnTo>
                  <a:pt x="2295702" y="614056"/>
                </a:lnTo>
                <a:lnTo>
                  <a:pt x="2330727" y="558162"/>
                </a:lnTo>
                <a:lnTo>
                  <a:pt x="2339839" y="536689"/>
                </a:lnTo>
                <a:lnTo>
                  <a:pt x="2418610" y="536689"/>
                </a:lnTo>
                <a:lnTo>
                  <a:pt x="2462270" y="527180"/>
                </a:lnTo>
                <a:lnTo>
                  <a:pt x="2506152" y="510433"/>
                </a:lnTo>
                <a:lnTo>
                  <a:pt x="2548087" y="487168"/>
                </a:lnTo>
                <a:lnTo>
                  <a:pt x="2587334" y="457796"/>
                </a:lnTo>
                <a:lnTo>
                  <a:pt x="2613198" y="432473"/>
                </a:lnTo>
                <a:close/>
              </a:path>
              <a:path w="2721610" h="1042669">
                <a:moveTo>
                  <a:pt x="2159433" y="699630"/>
                </a:moveTo>
                <a:lnTo>
                  <a:pt x="1989458" y="699630"/>
                </a:lnTo>
                <a:lnTo>
                  <a:pt x="2010710" y="703706"/>
                </a:lnTo>
                <a:lnTo>
                  <a:pt x="2031497" y="706786"/>
                </a:lnTo>
                <a:lnTo>
                  <a:pt x="2051771" y="708867"/>
                </a:lnTo>
                <a:lnTo>
                  <a:pt x="2071488" y="709942"/>
                </a:lnTo>
                <a:lnTo>
                  <a:pt x="2135260" y="706009"/>
                </a:lnTo>
                <a:lnTo>
                  <a:pt x="2159433" y="699630"/>
                </a:lnTo>
                <a:close/>
              </a:path>
              <a:path w="2721610" h="1042669">
                <a:moveTo>
                  <a:pt x="2418610" y="536689"/>
                </a:moveTo>
                <a:lnTo>
                  <a:pt x="2339839" y="536689"/>
                </a:lnTo>
                <a:lnTo>
                  <a:pt x="2347759" y="537735"/>
                </a:lnTo>
                <a:lnTo>
                  <a:pt x="2355704" y="538548"/>
                </a:lnTo>
                <a:lnTo>
                  <a:pt x="2363663" y="539130"/>
                </a:lnTo>
                <a:lnTo>
                  <a:pt x="2371627" y="539483"/>
                </a:lnTo>
                <a:lnTo>
                  <a:pt x="2417181" y="537000"/>
                </a:lnTo>
                <a:lnTo>
                  <a:pt x="2418610" y="536689"/>
                </a:lnTo>
                <a:close/>
              </a:path>
              <a:path w="2721610" h="1042669">
                <a:moveTo>
                  <a:pt x="2676869" y="0"/>
                </a:moveTo>
                <a:lnTo>
                  <a:pt x="21209" y="0"/>
                </a:lnTo>
                <a:lnTo>
                  <a:pt x="7947" y="41481"/>
                </a:lnTo>
                <a:lnTo>
                  <a:pt x="0" y="92529"/>
                </a:lnTo>
                <a:lnTo>
                  <a:pt x="469" y="142531"/>
                </a:lnTo>
                <a:lnTo>
                  <a:pt x="9346" y="190606"/>
                </a:lnTo>
                <a:lnTo>
                  <a:pt x="26622" y="235871"/>
                </a:lnTo>
                <a:lnTo>
                  <a:pt x="52289" y="277444"/>
                </a:lnTo>
                <a:lnTo>
                  <a:pt x="91884" y="321137"/>
                </a:lnTo>
                <a:lnTo>
                  <a:pt x="136100" y="355922"/>
                </a:lnTo>
                <a:lnTo>
                  <a:pt x="183265" y="382789"/>
                </a:lnTo>
                <a:lnTo>
                  <a:pt x="231712" y="402728"/>
                </a:lnTo>
                <a:lnTo>
                  <a:pt x="279768" y="416730"/>
                </a:lnTo>
                <a:lnTo>
                  <a:pt x="325766" y="425786"/>
                </a:lnTo>
                <a:lnTo>
                  <a:pt x="368035" y="430885"/>
                </a:lnTo>
                <a:lnTo>
                  <a:pt x="419800" y="433285"/>
                </a:lnTo>
                <a:lnTo>
                  <a:pt x="433457" y="433236"/>
                </a:lnTo>
                <a:lnTo>
                  <a:pt x="445767" y="432942"/>
                </a:lnTo>
                <a:lnTo>
                  <a:pt x="456619" y="432473"/>
                </a:lnTo>
                <a:lnTo>
                  <a:pt x="2613198" y="432473"/>
                </a:lnTo>
                <a:lnTo>
                  <a:pt x="2654799" y="382371"/>
                </a:lnTo>
                <a:lnTo>
                  <a:pt x="2681702" y="337034"/>
                </a:lnTo>
                <a:lnTo>
                  <a:pt x="2701802" y="289955"/>
                </a:lnTo>
                <a:lnTo>
                  <a:pt x="2715067" y="241679"/>
                </a:lnTo>
                <a:lnTo>
                  <a:pt x="2721466" y="192749"/>
                </a:lnTo>
                <a:lnTo>
                  <a:pt x="2720965" y="143708"/>
                </a:lnTo>
                <a:lnTo>
                  <a:pt x="2713533" y="95098"/>
                </a:lnTo>
                <a:lnTo>
                  <a:pt x="2699138" y="47463"/>
                </a:lnTo>
                <a:lnTo>
                  <a:pt x="2677747" y="1346"/>
                </a:lnTo>
                <a:lnTo>
                  <a:pt x="2676869" y="0"/>
                </a:lnTo>
                <a:close/>
              </a:path>
            </a:pathLst>
          </a:custGeom>
          <a:solidFill>
            <a:srgbClr val="027C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92744" y="0"/>
            <a:ext cx="2922905" cy="1132205"/>
          </a:xfrm>
          <a:custGeom>
            <a:avLst/>
            <a:gdLst/>
            <a:ahLst/>
            <a:cxnLst/>
            <a:rect l="l" t="t" r="r" b="b"/>
            <a:pathLst>
              <a:path w="2922904" h="1132205">
                <a:moveTo>
                  <a:pt x="2243278" y="876680"/>
                </a:moveTo>
                <a:lnTo>
                  <a:pt x="1230561" y="876680"/>
                </a:lnTo>
                <a:lnTo>
                  <a:pt x="1240142" y="893399"/>
                </a:lnTo>
                <a:lnTo>
                  <a:pt x="1270755" y="936659"/>
                </a:lnTo>
                <a:lnTo>
                  <a:pt x="1318822" y="987439"/>
                </a:lnTo>
                <a:lnTo>
                  <a:pt x="1350221" y="1013557"/>
                </a:lnTo>
                <a:lnTo>
                  <a:pt x="1386967" y="1039045"/>
                </a:lnTo>
                <a:lnTo>
                  <a:pt x="1429389" y="1063066"/>
                </a:lnTo>
                <a:lnTo>
                  <a:pt x="1477815" y="1084782"/>
                </a:lnTo>
                <a:lnTo>
                  <a:pt x="1532573" y="1103358"/>
                </a:lnTo>
                <a:lnTo>
                  <a:pt x="1593990" y="1117957"/>
                </a:lnTo>
                <a:lnTo>
                  <a:pt x="1662395" y="1127741"/>
                </a:lnTo>
                <a:lnTo>
                  <a:pt x="1738116" y="1131874"/>
                </a:lnTo>
                <a:lnTo>
                  <a:pt x="1752959" y="1131969"/>
                </a:lnTo>
                <a:lnTo>
                  <a:pt x="1768050" y="1131798"/>
                </a:lnTo>
                <a:lnTo>
                  <a:pt x="1842444" y="1127094"/>
                </a:lnTo>
                <a:lnTo>
                  <a:pt x="1909707" y="1116117"/>
                </a:lnTo>
                <a:lnTo>
                  <a:pt x="1970195" y="1099627"/>
                </a:lnTo>
                <a:lnTo>
                  <a:pt x="2024260" y="1078384"/>
                </a:lnTo>
                <a:lnTo>
                  <a:pt x="2072256" y="1053146"/>
                </a:lnTo>
                <a:lnTo>
                  <a:pt x="2114538" y="1024673"/>
                </a:lnTo>
                <a:lnTo>
                  <a:pt x="2151459" y="993725"/>
                </a:lnTo>
                <a:lnTo>
                  <a:pt x="2183372" y="961061"/>
                </a:lnTo>
                <a:lnTo>
                  <a:pt x="2210632" y="927440"/>
                </a:lnTo>
                <a:lnTo>
                  <a:pt x="2233591" y="893622"/>
                </a:lnTo>
                <a:lnTo>
                  <a:pt x="2243278" y="876680"/>
                </a:lnTo>
                <a:close/>
              </a:path>
              <a:path w="2922904" h="1132205">
                <a:moveTo>
                  <a:pt x="2922455" y="450354"/>
                </a:moveTo>
                <a:lnTo>
                  <a:pt x="532658" y="450354"/>
                </a:lnTo>
                <a:lnTo>
                  <a:pt x="530011" y="474368"/>
                </a:lnTo>
                <a:lnTo>
                  <a:pt x="529488" y="504065"/>
                </a:lnTo>
                <a:lnTo>
                  <a:pt x="532435" y="538755"/>
                </a:lnTo>
                <a:lnTo>
                  <a:pt x="540198" y="577747"/>
                </a:lnTo>
                <a:lnTo>
                  <a:pt x="554125" y="620351"/>
                </a:lnTo>
                <a:lnTo>
                  <a:pt x="575561" y="665877"/>
                </a:lnTo>
                <a:lnTo>
                  <a:pt x="605853" y="713633"/>
                </a:lnTo>
                <a:lnTo>
                  <a:pt x="646348" y="762931"/>
                </a:lnTo>
                <a:lnTo>
                  <a:pt x="698393" y="813079"/>
                </a:lnTo>
                <a:lnTo>
                  <a:pt x="739439" y="844363"/>
                </a:lnTo>
                <a:lnTo>
                  <a:pt x="783713" y="870153"/>
                </a:lnTo>
                <a:lnTo>
                  <a:pt x="831144" y="890425"/>
                </a:lnTo>
                <a:lnTo>
                  <a:pt x="881660" y="905153"/>
                </a:lnTo>
                <a:lnTo>
                  <a:pt x="935190" y="914312"/>
                </a:lnTo>
                <a:lnTo>
                  <a:pt x="991661" y="917879"/>
                </a:lnTo>
                <a:lnTo>
                  <a:pt x="1053685" y="915518"/>
                </a:lnTo>
                <a:lnTo>
                  <a:pt x="1110324" y="908161"/>
                </a:lnTo>
                <a:lnTo>
                  <a:pt x="1159840" y="897865"/>
                </a:lnTo>
                <a:lnTo>
                  <a:pt x="1200498" y="886685"/>
                </a:lnTo>
                <a:lnTo>
                  <a:pt x="1230561" y="876680"/>
                </a:lnTo>
                <a:lnTo>
                  <a:pt x="2243278" y="876680"/>
                </a:lnTo>
                <a:lnTo>
                  <a:pt x="2268027" y="828433"/>
                </a:lnTo>
                <a:lnTo>
                  <a:pt x="2289508" y="771569"/>
                </a:lnTo>
                <a:lnTo>
                  <a:pt x="2300866" y="729106"/>
                </a:lnTo>
                <a:lnTo>
                  <a:pt x="2485014" y="729106"/>
                </a:lnTo>
                <a:lnTo>
                  <a:pt x="2564421" y="700084"/>
                </a:lnTo>
                <a:lnTo>
                  <a:pt x="2603418" y="673737"/>
                </a:lnTo>
                <a:lnTo>
                  <a:pt x="2634927" y="644199"/>
                </a:lnTo>
                <a:lnTo>
                  <a:pt x="2659654" y="613526"/>
                </a:lnTo>
                <a:lnTo>
                  <a:pt x="2691591" y="556997"/>
                </a:lnTo>
                <a:lnTo>
                  <a:pt x="2700217" y="535253"/>
                </a:lnTo>
                <a:lnTo>
                  <a:pt x="2780195" y="535253"/>
                </a:lnTo>
                <a:lnTo>
                  <a:pt x="2827987" y="525843"/>
                </a:lnTo>
                <a:lnTo>
                  <a:pt x="2872325" y="510404"/>
                </a:lnTo>
                <a:lnTo>
                  <a:pt x="2915084" y="489116"/>
                </a:lnTo>
                <a:lnTo>
                  <a:pt x="2922455" y="484250"/>
                </a:lnTo>
                <a:lnTo>
                  <a:pt x="2922455" y="450354"/>
                </a:lnTo>
                <a:close/>
              </a:path>
              <a:path w="2922904" h="1132205">
                <a:moveTo>
                  <a:pt x="2485014" y="729106"/>
                </a:moveTo>
                <a:lnTo>
                  <a:pt x="2300866" y="729106"/>
                </a:lnTo>
                <a:lnTo>
                  <a:pt x="2325387" y="733395"/>
                </a:lnTo>
                <a:lnTo>
                  <a:pt x="2349351" y="736544"/>
                </a:lnTo>
                <a:lnTo>
                  <a:pt x="2372711" y="738552"/>
                </a:lnTo>
                <a:lnTo>
                  <a:pt x="2395417" y="739419"/>
                </a:lnTo>
                <a:lnTo>
                  <a:pt x="2461128" y="734981"/>
                </a:lnTo>
                <a:lnTo>
                  <a:pt x="2485014" y="729106"/>
                </a:lnTo>
                <a:close/>
              </a:path>
              <a:path w="2922904" h="1132205">
                <a:moveTo>
                  <a:pt x="2780195" y="535253"/>
                </a:moveTo>
                <a:lnTo>
                  <a:pt x="2700217" y="535253"/>
                </a:lnTo>
                <a:lnTo>
                  <a:pt x="2709348" y="536303"/>
                </a:lnTo>
                <a:lnTo>
                  <a:pt x="2718501" y="537090"/>
                </a:lnTo>
                <a:lnTo>
                  <a:pt x="2727665" y="537613"/>
                </a:lnTo>
                <a:lnTo>
                  <a:pt x="2736832" y="537870"/>
                </a:lnTo>
                <a:lnTo>
                  <a:pt x="2780195" y="535253"/>
                </a:lnTo>
                <a:close/>
              </a:path>
              <a:path w="2922904" h="1132205">
                <a:moveTo>
                  <a:pt x="2922455" y="0"/>
                </a:moveTo>
                <a:lnTo>
                  <a:pt x="11106" y="0"/>
                </a:lnTo>
                <a:lnTo>
                  <a:pt x="4578" y="28809"/>
                </a:lnTo>
                <a:lnTo>
                  <a:pt x="0" y="74422"/>
                </a:lnTo>
                <a:lnTo>
                  <a:pt x="1259" y="119145"/>
                </a:lnTo>
                <a:lnTo>
                  <a:pt x="8344" y="162502"/>
                </a:lnTo>
                <a:lnTo>
                  <a:pt x="21239" y="204015"/>
                </a:lnTo>
                <a:lnTo>
                  <a:pt x="39932" y="243208"/>
                </a:lnTo>
                <a:lnTo>
                  <a:pt x="64409" y="279602"/>
                </a:lnTo>
                <a:lnTo>
                  <a:pt x="105427" y="324135"/>
                </a:lnTo>
                <a:lnTo>
                  <a:pt x="150658" y="360405"/>
                </a:lnTo>
                <a:lnTo>
                  <a:pt x="198768" y="389233"/>
                </a:lnTo>
                <a:lnTo>
                  <a:pt x="248423" y="411442"/>
                </a:lnTo>
                <a:lnTo>
                  <a:pt x="298289" y="427851"/>
                </a:lnTo>
                <a:lnTo>
                  <a:pt x="347033" y="439284"/>
                </a:lnTo>
                <a:lnTo>
                  <a:pt x="393321" y="446560"/>
                </a:lnTo>
                <a:lnTo>
                  <a:pt x="435820" y="450501"/>
                </a:lnTo>
                <a:lnTo>
                  <a:pt x="490326" y="451963"/>
                </a:lnTo>
                <a:lnTo>
                  <a:pt x="506027" y="451651"/>
                </a:lnTo>
                <a:lnTo>
                  <a:pt x="520179" y="451084"/>
                </a:lnTo>
                <a:lnTo>
                  <a:pt x="532658" y="450354"/>
                </a:lnTo>
                <a:lnTo>
                  <a:pt x="2922455" y="450354"/>
                </a:lnTo>
                <a:lnTo>
                  <a:pt x="2922455" y="0"/>
                </a:lnTo>
                <a:close/>
              </a:path>
            </a:pathLst>
          </a:custGeom>
          <a:solidFill>
            <a:srgbClr val="F5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3900" y="2067699"/>
            <a:ext cx="5783580" cy="975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200" spc="-140">
                <a:solidFill>
                  <a:srgbClr val="F5F4F4"/>
                </a:solidFill>
                <a:latin typeface="Arial"/>
                <a:cs typeface="Arial"/>
              </a:rPr>
              <a:t>A </a:t>
            </a:r>
            <a:r>
              <a:rPr dirty="0" sz="3200" spc="-160">
                <a:solidFill>
                  <a:srgbClr val="F5F4F4"/>
                </a:solidFill>
                <a:latin typeface="Arial"/>
                <a:cs typeface="Arial"/>
              </a:rPr>
              <a:t>BRIEF </a:t>
            </a:r>
            <a:r>
              <a:rPr dirty="0" sz="3200" spc="-175">
                <a:solidFill>
                  <a:srgbClr val="F5F4F4"/>
                </a:solidFill>
                <a:latin typeface="Arial"/>
                <a:cs typeface="Arial"/>
              </a:rPr>
              <a:t>HISTORY </a:t>
            </a:r>
            <a:r>
              <a:rPr dirty="0" sz="3200" spc="-225">
                <a:solidFill>
                  <a:srgbClr val="F5F4F4"/>
                </a:solidFill>
                <a:latin typeface="Arial"/>
                <a:cs typeface="Arial"/>
              </a:rPr>
              <a:t>OF </a:t>
            </a:r>
            <a:r>
              <a:rPr dirty="0" sz="3200" spc="-235">
                <a:solidFill>
                  <a:srgbClr val="F5F4F4"/>
                </a:solidFill>
                <a:latin typeface="Arial"/>
                <a:cs typeface="Arial"/>
              </a:rPr>
              <a:t>OUR </a:t>
            </a:r>
            <a:r>
              <a:rPr dirty="0" sz="3200" spc="-75">
                <a:solidFill>
                  <a:srgbClr val="F5F4F4"/>
                </a:solidFill>
                <a:latin typeface="Arial"/>
                <a:cs typeface="Arial"/>
              </a:rPr>
              <a:t>TIME  </a:t>
            </a:r>
            <a:r>
              <a:rPr dirty="0" sz="3200" spc="-190">
                <a:solidFill>
                  <a:srgbClr val="F5F4F4"/>
                </a:solidFill>
                <a:latin typeface="Arial"/>
                <a:cs typeface="Arial"/>
              </a:rPr>
              <a:t>ON </a:t>
            </a:r>
            <a:r>
              <a:rPr dirty="0" sz="3200" spc="-140">
                <a:solidFill>
                  <a:srgbClr val="F5F4F4"/>
                </a:solidFill>
                <a:latin typeface="Arial"/>
                <a:cs typeface="Arial"/>
              </a:rPr>
              <a:t>THE</a:t>
            </a:r>
            <a:r>
              <a:rPr dirty="0" sz="3200" spc="-114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200" spc="-235">
                <a:solidFill>
                  <a:srgbClr val="F5F4F4"/>
                </a:solidFill>
                <a:latin typeface="Arial"/>
                <a:cs typeface="Arial"/>
              </a:rPr>
              <a:t>CLOUD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5762" y="292096"/>
            <a:ext cx="729015" cy="218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75194" y="4742690"/>
            <a:ext cx="5241290" cy="4166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6365" marR="56515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John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McCarthy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ﬁrst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spoke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computation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delivered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public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utility,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distant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possibili-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ty.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 today 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reality;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spent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part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lives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in our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avatars.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reach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via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consumption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continue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rise.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666365" marR="5080">
              <a:lnSpc>
                <a:spcPct val="104200"/>
              </a:lnSpc>
              <a:spcBef>
                <a:spcPts val="5"/>
              </a:spcBef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host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developments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paved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way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emergence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computing.</a:t>
            </a:r>
            <a:endParaRPr sz="1200">
              <a:latin typeface="Arial"/>
              <a:cs typeface="Arial"/>
            </a:endParaRPr>
          </a:p>
          <a:p>
            <a:pPr marL="2666365" marR="67945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advent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enabling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technologies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internet,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virtualization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tech, 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SOA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architectures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widespread  broadband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crucial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realization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paradigm.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</a:pPr>
            <a:r>
              <a:rPr dirty="0" sz="1850" spc="45">
                <a:solidFill>
                  <a:srgbClr val="5D5E5E"/>
                </a:solidFill>
                <a:latin typeface="Arial"/>
                <a:cs typeface="Arial"/>
              </a:rPr>
              <a:t>John</a:t>
            </a:r>
            <a:r>
              <a:rPr dirty="0" sz="1850" spc="-125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5D5E5E"/>
                </a:solidFill>
                <a:latin typeface="Arial"/>
                <a:cs typeface="Arial"/>
              </a:rPr>
              <a:t>McCarthy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200" spc="2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1200" spc="10" i="1">
                <a:solidFill>
                  <a:srgbClr val="2C99CF"/>
                </a:solidFill>
                <a:latin typeface="Calibri"/>
                <a:cs typeface="Calibri"/>
              </a:rPr>
              <a:t>computing</a:t>
            </a:r>
            <a:r>
              <a:rPr dirty="0" sz="1200" spc="-8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200" spc="25" i="1">
                <a:solidFill>
                  <a:srgbClr val="2C99CF"/>
                </a:solidFill>
                <a:latin typeface="Calibri"/>
                <a:cs typeface="Calibri"/>
              </a:rPr>
              <a:t>Scientist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06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43976"/>
            <a:ext cx="2451735" cy="142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How </a:t>
            </a:r>
            <a:r>
              <a:rPr dirty="0" sz="1850" spc="90">
                <a:solidFill>
                  <a:srgbClr val="2C99CF"/>
                </a:solidFill>
                <a:latin typeface="Arial"/>
                <a:cs typeface="Arial"/>
              </a:rPr>
              <a:t>it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all</a:t>
            </a:r>
            <a:r>
              <a:rPr dirty="0" sz="1850" spc="-3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began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1999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After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Salesforce launched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service,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SaaS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wave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caught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launched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via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3042846"/>
            <a:ext cx="2591435" cy="1918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2006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next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arrival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Web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(AWS)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2006.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ﬁrst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launch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suite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cloud-based services.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allowed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rent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stor-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EC2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celebrating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10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years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2016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market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leader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among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Public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5138346"/>
            <a:ext cx="257937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2008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entered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fray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competing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Azure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provision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6281346"/>
            <a:ext cx="2479040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2009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browser-based  enterprise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Microsoft,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Apps 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ofﬁce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web apps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proof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concept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enabled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delivery by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demonstrating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online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easy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consume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reliable.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8186346"/>
            <a:ext cx="260223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2011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Although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primarily public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providers,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concerns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control,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pushed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9278" y="1454838"/>
            <a:ext cx="262572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experiment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deployment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newer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hybrid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clouds,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combine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best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public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private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278" y="2597838"/>
            <a:ext cx="2623185" cy="1918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late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entrant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adding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families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portfolio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faster than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others. 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Even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front,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massive  price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cuts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major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driving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down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quickly.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constantly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lowering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as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part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avowed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mission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democ-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ratize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technology, especially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IT.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9303" y="4709977"/>
            <a:ext cx="2618740" cy="2026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51130">
              <a:lnSpc>
                <a:spcPct val="104800"/>
              </a:lnSpc>
            </a:pP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Evolution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 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Computing:</a:t>
            </a:r>
            <a:r>
              <a:rPr dirty="0" sz="1850" spc="-10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Competing 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850" spc="-1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Contribute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massive demand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spurring innovation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 competition.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dropping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launching new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products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win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clients.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9303" y="6943762"/>
            <a:ext cx="2636520" cy="1993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20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silver</a:t>
            </a:r>
            <a:r>
              <a:rPr dirty="0" sz="1850" spc="-14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lining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ﬁerce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rivalry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between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space,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resulted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cutting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edge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 getting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mainstreamed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masses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quickly.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Let's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timeline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 launched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Amazon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see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contributing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evolution.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935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0"/>
              <a:t> </a:t>
            </a:r>
            <a:fld id="{81D60167-4931-47E6-BA6A-407CBD079E47}" type="slidenum">
              <a:rPr dirty="0" spc="10"/>
              <a:t>06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46419"/>
            <a:ext cx="7315200" cy="4012565"/>
          </a:xfrm>
          <a:custGeom>
            <a:avLst/>
            <a:gdLst/>
            <a:ahLst/>
            <a:cxnLst/>
            <a:rect l="l" t="t" r="r" b="b"/>
            <a:pathLst>
              <a:path w="7315200" h="4012565">
                <a:moveTo>
                  <a:pt x="0" y="4011980"/>
                </a:moveTo>
                <a:lnTo>
                  <a:pt x="7315200" y="4011980"/>
                </a:lnTo>
                <a:lnTo>
                  <a:pt x="7315200" y="0"/>
                </a:lnTo>
                <a:lnTo>
                  <a:pt x="0" y="0"/>
                </a:lnTo>
                <a:lnTo>
                  <a:pt x="0" y="401198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7315200" cy="1022350"/>
          </a:xfrm>
          <a:custGeom>
            <a:avLst/>
            <a:gdLst/>
            <a:ahLst/>
            <a:cxnLst/>
            <a:rect l="l" t="t" r="r" b="b"/>
            <a:pathLst>
              <a:path w="7315200" h="1022350">
                <a:moveTo>
                  <a:pt x="0" y="1022159"/>
                </a:moveTo>
                <a:lnTo>
                  <a:pt x="7315200" y="1022159"/>
                </a:lnTo>
                <a:lnTo>
                  <a:pt x="7315200" y="0"/>
                </a:lnTo>
                <a:lnTo>
                  <a:pt x="0" y="0"/>
                </a:lnTo>
                <a:lnTo>
                  <a:pt x="0" y="1022159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314" y="6715264"/>
            <a:ext cx="5793105" cy="1355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</a:pPr>
            <a:r>
              <a:rPr dirty="0" sz="2200" spc="5" i="1">
                <a:solidFill>
                  <a:srgbClr val="FFFFFF"/>
                </a:solidFill>
                <a:latin typeface="Calibri"/>
                <a:cs typeface="Calibri"/>
              </a:rPr>
              <a:t>Google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entered the </a:t>
            </a:r>
            <a:r>
              <a:rPr dirty="0" sz="2200" spc="30" i="1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dirty="0" sz="2200" spc="20" i="1">
                <a:solidFill>
                  <a:srgbClr val="FFFFFF"/>
                </a:solidFill>
                <a:latin typeface="Calibri"/>
                <a:cs typeface="Calibri"/>
              </a:rPr>
              <a:t>game </a:t>
            </a:r>
            <a:r>
              <a:rPr dirty="0" sz="2200" spc="-50" i="1">
                <a:solidFill>
                  <a:srgbClr val="FFFFFF"/>
                </a:solidFill>
                <a:latin typeface="Calibri"/>
                <a:cs typeface="Calibri"/>
              </a:rPr>
              <a:t>late,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but the 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Alphabet </a:t>
            </a:r>
            <a:r>
              <a:rPr dirty="0" sz="2200" spc="55" i="1">
                <a:solidFill>
                  <a:srgbClr val="FFFFFF"/>
                </a:solidFill>
                <a:latin typeface="Calibri"/>
                <a:cs typeface="Calibri"/>
              </a:rPr>
              <a:t>Inc </a:t>
            </a:r>
            <a:r>
              <a:rPr dirty="0" sz="2200" spc="80" i="1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not </a:t>
            </a:r>
            <a:r>
              <a:rPr dirty="0" sz="2200" spc="15" i="1">
                <a:solidFill>
                  <a:srgbClr val="FFFFFF"/>
                </a:solidFill>
                <a:latin typeface="Calibri"/>
                <a:cs typeface="Calibri"/>
              </a:rPr>
              <a:t>one </a:t>
            </a:r>
            <a:r>
              <a:rPr dirty="0" sz="2200" spc="-10" i="1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200" spc="15" i="1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200" spc="-15" i="1">
                <a:solidFill>
                  <a:srgbClr val="FFFFFF"/>
                </a:solidFill>
                <a:latin typeface="Calibri"/>
                <a:cs typeface="Calibri"/>
              </a:rPr>
              <a:t>left </a:t>
            </a:r>
            <a:r>
              <a:rPr dirty="0" sz="2200" spc="-30" i="1">
                <a:solidFill>
                  <a:srgbClr val="FFFFFF"/>
                </a:solidFill>
                <a:latin typeface="Calibri"/>
                <a:cs typeface="Calibri"/>
              </a:rPr>
              <a:t>behind! </a:t>
            </a:r>
            <a:r>
              <a:rPr dirty="0" sz="2200" spc="5" i="1">
                <a:solidFill>
                  <a:srgbClr val="FFFFFF"/>
                </a:solidFill>
                <a:latin typeface="Calibri"/>
                <a:cs typeface="Calibri"/>
              </a:rPr>
              <a:t>Google </a:t>
            </a:r>
            <a:r>
              <a:rPr dirty="0" sz="2200" spc="80" i="1">
                <a:solidFill>
                  <a:srgbClr val="FFFFFF"/>
                </a:solidFill>
                <a:latin typeface="Calibri"/>
                <a:cs typeface="Calibri"/>
              </a:rPr>
              <a:t>is  </a:t>
            </a:r>
            <a:r>
              <a:rPr dirty="0" sz="2200" spc="15" i="1">
                <a:solidFill>
                  <a:srgbClr val="FFFFFF"/>
                </a:solidFill>
                <a:latin typeface="Calibri"/>
                <a:cs typeface="Calibri"/>
              </a:rPr>
              <a:t>launching </a:t>
            </a:r>
            <a:r>
              <a:rPr dirty="0" sz="2200" i="1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dirty="0" sz="2200" spc="35" i="1">
                <a:solidFill>
                  <a:srgbClr val="FFFFFF"/>
                </a:solidFill>
                <a:latin typeface="Calibri"/>
                <a:cs typeface="Calibri"/>
              </a:rPr>
              <a:t>products </a:t>
            </a:r>
            <a:r>
              <a:rPr dirty="0" sz="2200" spc="-35" i="1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dirty="0" sz="2200" spc="-20" i="1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200" spc="-15" i="1">
                <a:solidFill>
                  <a:srgbClr val="FFFFFF"/>
                </a:solidFill>
                <a:latin typeface="Calibri"/>
                <a:cs typeface="Calibri"/>
              </a:rPr>
              <a:t>rapid </a:t>
            </a:r>
            <a:r>
              <a:rPr dirty="0" sz="2200" spc="35" i="1">
                <a:solidFill>
                  <a:srgbClr val="FFFFFF"/>
                </a:solidFill>
                <a:latin typeface="Calibri"/>
                <a:cs typeface="Calibri"/>
              </a:rPr>
              <a:t>pace </a:t>
            </a:r>
            <a:r>
              <a:rPr dirty="0" sz="2200" spc="-15" i="1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power  the </a:t>
            </a:r>
            <a:r>
              <a:rPr dirty="0" sz="2200" spc="5" i="1">
                <a:solidFill>
                  <a:srgbClr val="FFFFFF"/>
                </a:solidFill>
                <a:latin typeface="Calibri"/>
                <a:cs typeface="Calibri"/>
              </a:rPr>
              <a:t>next </a:t>
            </a:r>
            <a:r>
              <a:rPr dirty="0" sz="2200" i="1">
                <a:solidFill>
                  <a:srgbClr val="FFFFFF"/>
                </a:solidFill>
                <a:latin typeface="Calibri"/>
                <a:cs typeface="Calibri"/>
              </a:rPr>
              <a:t>wave </a:t>
            </a:r>
            <a:r>
              <a:rPr dirty="0" sz="2200" spc="15" i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200" spc="30" i="1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2200" spc="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5" i="1">
                <a:solidFill>
                  <a:srgbClr val="FFFFFF"/>
                </a:solidFill>
                <a:latin typeface="Calibri"/>
                <a:cs typeface="Calibri"/>
              </a:rPr>
              <a:t>evolution.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1956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80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4168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5735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80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D22F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22239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81505" y="3740784"/>
            <a:ext cx="563880" cy="144145"/>
          </a:xfrm>
          <a:prstGeom prst="rect">
            <a:avLst/>
          </a:prstGeom>
          <a:solidFill>
            <a:srgbClr val="F6A81E"/>
          </a:solidFill>
        </p:spPr>
        <p:txBody>
          <a:bodyPr wrap="square" lIns="0" tIns="0" rIns="0" bIns="0" rtlCol="0" vert="horz">
            <a:spAutoFit/>
          </a:bodyPr>
          <a:lstStyle/>
          <a:p>
            <a:pPr marL="174625">
              <a:lnSpc>
                <a:spcPts val="1135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2006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5839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2008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1615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2009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6186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C3C2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327425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9964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F6A8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62019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93742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5D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439411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57521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4168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06111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21299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D22F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51411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85078" y="3740784"/>
            <a:ext cx="563880" cy="144145"/>
          </a:xfrm>
          <a:custGeom>
            <a:avLst/>
            <a:gdLst/>
            <a:ahLst/>
            <a:cxnLst/>
            <a:rect l="l" t="t" r="r" b="b"/>
            <a:pathLst>
              <a:path w="563879" h="144145">
                <a:moveTo>
                  <a:pt x="563778" y="143865"/>
                </a:moveTo>
                <a:lnTo>
                  <a:pt x="0" y="143865"/>
                </a:lnTo>
                <a:lnTo>
                  <a:pt x="0" y="0"/>
                </a:lnTo>
                <a:lnTo>
                  <a:pt x="563778" y="0"/>
                </a:lnTo>
                <a:lnTo>
                  <a:pt x="563778" y="143865"/>
                </a:lnTo>
                <a:close/>
              </a:path>
            </a:pathLst>
          </a:custGeom>
          <a:solidFill>
            <a:srgbClr val="F1A6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086017" y="3734968"/>
            <a:ext cx="292735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15">
                <a:solidFill>
                  <a:srgbClr val="FFFFFF"/>
                </a:solidFill>
                <a:latin typeface="Calibri"/>
                <a:cs typeface="Calibri"/>
              </a:rPr>
              <a:t>2016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525485" y="2597226"/>
          <a:ext cx="495300" cy="116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552"/>
                <a:gridCol w="234791"/>
              </a:tblGrid>
              <a:tr h="44921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5730" marR="33020" indent="-88900">
                        <a:lnSpc>
                          <a:spcPct val="100000"/>
                        </a:lnSpc>
                      </a:pPr>
                      <a:r>
                        <a:rPr dirty="0" sz="850" spc="-5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ma</a:t>
                      </a:r>
                      <a:r>
                        <a:rPr dirty="0" sz="850" spc="-1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dirty="0" sz="85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on  </a:t>
                      </a:r>
                      <a:r>
                        <a:rPr dirty="0" sz="850" spc="1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EC2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F6A81E"/>
                      </a:solidFill>
                      <a:prstDash val="solid"/>
                    </a:lnL>
                    <a:lnR w="19050">
                      <a:solidFill>
                        <a:srgbClr val="F6A81E"/>
                      </a:solidFill>
                      <a:prstDash val="solid"/>
                    </a:lnR>
                    <a:lnT w="19050">
                      <a:solidFill>
                        <a:srgbClr val="F6A81E"/>
                      </a:solidFill>
                      <a:prstDash val="solid"/>
                    </a:lnT>
                    <a:lnB w="19050">
                      <a:solidFill>
                        <a:srgbClr val="F6A81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9211">
                <a:tc gridSpan="2">
                  <a:txBody>
                    <a:bodyPr/>
                    <a:lstStyle/>
                    <a:p>
                      <a:pPr marL="167640" marR="33020" indent="-13081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850" spc="-5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ma</a:t>
                      </a:r>
                      <a:r>
                        <a:rPr dirty="0" sz="850" spc="-1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dirty="0" sz="85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on  </a:t>
                      </a:r>
                      <a:r>
                        <a:rPr dirty="0" sz="850" spc="10">
                          <a:solidFill>
                            <a:srgbClr val="F6A81E"/>
                          </a:solidFill>
                          <a:latin typeface="Calibri"/>
                          <a:cs typeface="Calibri"/>
                        </a:rPr>
                        <a:t>S3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F6A81E"/>
                      </a:solidFill>
                      <a:prstDash val="solid"/>
                    </a:lnL>
                    <a:lnR w="19050">
                      <a:solidFill>
                        <a:srgbClr val="F6A81E"/>
                      </a:solidFill>
                      <a:prstDash val="solid"/>
                    </a:lnR>
                    <a:lnT w="19050">
                      <a:solidFill>
                        <a:srgbClr val="F6A81E"/>
                      </a:solidFill>
                      <a:prstDash val="solid"/>
                    </a:lnT>
                    <a:lnB w="19050">
                      <a:solidFill>
                        <a:srgbClr val="F6A81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522">
                <a:tc>
                  <a:txBody>
                    <a:bodyPr/>
                    <a:lstStyle/>
                    <a:p>
                      <a:pPr/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40805">
                      <a:solidFill>
                        <a:srgbClr val="F6A81E"/>
                      </a:solidFill>
                      <a:prstDash val="solid"/>
                    </a:lnR>
                    <a:lnT w="19050">
                      <a:solidFill>
                        <a:srgbClr val="F6A81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/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40805">
                      <a:solidFill>
                        <a:srgbClr val="F6A81E"/>
                      </a:solidFill>
                      <a:prstDash val="solid"/>
                    </a:lnL>
                    <a:lnT w="19050">
                      <a:solidFill>
                        <a:srgbClr val="F6A81E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2167026" y="4188307"/>
            <a:ext cx="3517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ts val="840"/>
              </a:lnSpc>
            </a:pPr>
            <a:r>
              <a:rPr dirty="0" sz="850" spc="5">
                <a:solidFill>
                  <a:srgbClr val="4168B2"/>
                </a:solidFill>
                <a:latin typeface="Calibri"/>
                <a:cs typeface="Calibri"/>
              </a:rPr>
              <a:t>G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oogle  </a:t>
            </a:r>
            <a:r>
              <a:rPr dirty="0" sz="850" spc="25">
                <a:solidFill>
                  <a:srgbClr val="4168B2"/>
                </a:solidFill>
                <a:latin typeface="Calibri"/>
                <a:cs typeface="Calibri"/>
              </a:rPr>
              <a:t>App  </a:t>
            </a:r>
            <a:r>
              <a:rPr dirty="0" sz="850" spc="30">
                <a:solidFill>
                  <a:srgbClr val="4168B2"/>
                </a:solidFill>
                <a:latin typeface="Calibri"/>
                <a:cs typeface="Calibri"/>
              </a:rPr>
              <a:t>En</a:t>
            </a:r>
            <a:r>
              <a:rPr dirty="0" sz="850" spc="20">
                <a:solidFill>
                  <a:srgbClr val="4168B2"/>
                </a:solidFill>
                <a:latin typeface="Calibri"/>
                <a:cs typeface="Calibri"/>
              </a:rPr>
              <a:t>g</a:t>
            </a:r>
            <a:r>
              <a:rPr dirty="0" sz="850" spc="5">
                <a:solidFill>
                  <a:srgbClr val="4168B2"/>
                </a:solidFill>
                <a:latin typeface="Calibri"/>
                <a:cs typeface="Calibri"/>
              </a:rPr>
              <a:t>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90673" y="4120260"/>
            <a:ext cx="466725" cy="466725"/>
          </a:xfrm>
          <a:custGeom>
            <a:avLst/>
            <a:gdLst/>
            <a:ahLst/>
            <a:cxnLst/>
            <a:rect l="l" t="t" r="r" b="b"/>
            <a:pathLst>
              <a:path w="466725" h="466725">
                <a:moveTo>
                  <a:pt x="466344" y="466344"/>
                </a:moveTo>
                <a:lnTo>
                  <a:pt x="0" y="466344"/>
                </a:lnTo>
                <a:lnTo>
                  <a:pt x="0" y="0"/>
                </a:lnTo>
                <a:lnTo>
                  <a:pt x="466344" y="0"/>
                </a:lnTo>
                <a:lnTo>
                  <a:pt x="466344" y="466344"/>
                </a:lnTo>
                <a:close/>
              </a:path>
            </a:pathLst>
          </a:custGeom>
          <a:ln w="19049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46468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85337" y="4188307"/>
            <a:ext cx="3517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42545" marR="5080" indent="-30480">
              <a:lnSpc>
                <a:spcPts val="840"/>
              </a:lnSpc>
            </a:pPr>
            <a:r>
              <a:rPr dirty="0" sz="850" spc="5">
                <a:solidFill>
                  <a:srgbClr val="C3C2BE"/>
                </a:solidFill>
                <a:latin typeface="Calibri"/>
                <a:cs typeface="Calibri"/>
              </a:rPr>
              <a:t>G</a:t>
            </a:r>
            <a:r>
              <a:rPr dirty="0" sz="850" spc="15">
                <a:solidFill>
                  <a:srgbClr val="C3C2BE"/>
                </a:solidFill>
                <a:latin typeface="Calibri"/>
                <a:cs typeface="Calibri"/>
              </a:rPr>
              <a:t>oogle  </a:t>
            </a:r>
            <a:r>
              <a:rPr dirty="0" sz="850" spc="20">
                <a:solidFill>
                  <a:srgbClr val="C3C2BE"/>
                </a:solidFill>
                <a:latin typeface="Calibri"/>
                <a:cs typeface="Calibri"/>
              </a:rPr>
              <a:t>Cloud  SQL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14903" y="4120260"/>
            <a:ext cx="466725" cy="466725"/>
          </a:xfrm>
          <a:custGeom>
            <a:avLst/>
            <a:gdLst/>
            <a:ahLst/>
            <a:cxnLst/>
            <a:rect l="l" t="t" r="r" b="b"/>
            <a:pathLst>
              <a:path w="466725" h="466725">
                <a:moveTo>
                  <a:pt x="466344" y="466344"/>
                </a:moveTo>
                <a:lnTo>
                  <a:pt x="0" y="466344"/>
                </a:lnTo>
                <a:lnTo>
                  <a:pt x="0" y="0"/>
                </a:lnTo>
                <a:lnTo>
                  <a:pt x="466344" y="0"/>
                </a:lnTo>
                <a:lnTo>
                  <a:pt x="466344" y="466344"/>
                </a:lnTo>
                <a:close/>
              </a:path>
            </a:pathLst>
          </a:custGeom>
          <a:ln w="19049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05688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790175" y="4188307"/>
            <a:ext cx="442595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ts val="84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Google  </a:t>
            </a:r>
            <a:r>
              <a:rPr dirty="0" sz="850" spc="25">
                <a:solidFill>
                  <a:srgbClr val="F6A81E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ompu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t</a:t>
            </a: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e  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Engine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33825" y="4556252"/>
            <a:ext cx="35179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G</a:t>
            </a:r>
            <a:r>
              <a:rPr dirty="0" sz="850" spc="20">
                <a:solidFill>
                  <a:srgbClr val="F6A81E"/>
                </a:solidFill>
                <a:latin typeface="Calibri"/>
                <a:cs typeface="Calibri"/>
              </a:rPr>
              <a:t>oogle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82898" y="4685855"/>
            <a:ext cx="43053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22225">
              <a:lnSpc>
                <a:spcPts val="840"/>
              </a:lnSpc>
            </a:pPr>
            <a:r>
              <a:rPr dirty="0" sz="850" spc="20">
                <a:solidFill>
                  <a:srgbClr val="F6A81E"/>
                </a:solidFill>
                <a:latin typeface="Calibri"/>
                <a:cs typeface="Calibri"/>
              </a:rPr>
              <a:t>Cloud  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Storage  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S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tanda</a:t>
            </a:r>
            <a:r>
              <a:rPr dirty="0" sz="850" spc="-10">
                <a:solidFill>
                  <a:srgbClr val="F6A81E"/>
                </a:solidFill>
                <a:latin typeface="Calibri"/>
                <a:cs typeface="Calibri"/>
              </a:rPr>
              <a:t>r</a:t>
            </a:r>
            <a:r>
              <a:rPr dirty="0" sz="850" spc="25">
                <a:solidFill>
                  <a:srgbClr val="F6A81E"/>
                </a:solidFill>
                <a:latin typeface="Calibri"/>
                <a:cs typeface="Calibri"/>
              </a:rPr>
              <a:t>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7381" y="5071059"/>
            <a:ext cx="44323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57150">
              <a:lnSpc>
                <a:spcPts val="84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Google  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BigQ</a:t>
            </a: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ue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r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74122" y="4120260"/>
            <a:ext cx="466725" cy="1213485"/>
          </a:xfrm>
          <a:custGeom>
            <a:avLst/>
            <a:gdLst/>
            <a:ahLst/>
            <a:cxnLst/>
            <a:rect l="l" t="t" r="r" b="b"/>
            <a:pathLst>
              <a:path w="466725" h="1213485">
                <a:moveTo>
                  <a:pt x="466344" y="1213205"/>
                </a:moveTo>
                <a:lnTo>
                  <a:pt x="0" y="1213205"/>
                </a:lnTo>
                <a:lnTo>
                  <a:pt x="0" y="0"/>
                </a:lnTo>
                <a:lnTo>
                  <a:pt x="466344" y="0"/>
                </a:lnTo>
                <a:lnTo>
                  <a:pt x="466344" y="1213205"/>
                </a:lnTo>
                <a:close/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78156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652801" y="2602242"/>
            <a:ext cx="469265" cy="528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Amazon  </a:t>
            </a:r>
            <a:r>
              <a:rPr dirty="0" sz="850" spc="-10">
                <a:solidFill>
                  <a:srgbClr val="D22F2A"/>
                </a:solidFill>
                <a:latin typeface="Calibri"/>
                <a:cs typeface="Calibri"/>
              </a:rPr>
              <a:t>R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el</a:t>
            </a:r>
            <a:r>
              <a:rPr dirty="0" sz="850" spc="-5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tional  </a:t>
            </a: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D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tabase  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Service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69489" y="3190747"/>
            <a:ext cx="39497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9060" marR="5080" indent="-86995">
              <a:lnSpc>
                <a:spcPct val="10000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on  </a:t>
            </a:r>
            <a:r>
              <a:rPr dirty="0" sz="850" spc="-20">
                <a:solidFill>
                  <a:srgbClr val="D22F2A"/>
                </a:solidFill>
                <a:latin typeface="Calibri"/>
                <a:cs typeface="Calibri"/>
              </a:rPr>
              <a:t>EMR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36621" y="2606751"/>
            <a:ext cx="488315" cy="898525"/>
          </a:xfrm>
          <a:custGeom>
            <a:avLst/>
            <a:gdLst/>
            <a:ahLst/>
            <a:cxnLst/>
            <a:rect l="l" t="t" r="r" b="b"/>
            <a:pathLst>
              <a:path w="488314" h="898525">
                <a:moveTo>
                  <a:pt x="488226" y="898423"/>
                </a:moveTo>
                <a:lnTo>
                  <a:pt x="0" y="898423"/>
                </a:lnTo>
                <a:lnTo>
                  <a:pt x="0" y="0"/>
                </a:lnTo>
                <a:lnTo>
                  <a:pt x="488226" y="0"/>
                </a:lnTo>
                <a:lnTo>
                  <a:pt x="488226" y="898423"/>
                </a:lnTo>
                <a:close/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34678" y="3148876"/>
            <a:ext cx="490220" cy="0"/>
          </a:xfrm>
          <a:custGeom>
            <a:avLst/>
            <a:gdLst/>
            <a:ahLst/>
            <a:cxnLst/>
            <a:rect l="l" t="t" r="r" b="b"/>
            <a:pathLst>
              <a:path w="490219" h="0">
                <a:moveTo>
                  <a:pt x="0" y="0"/>
                </a:moveTo>
                <a:lnTo>
                  <a:pt x="49016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40550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286798" y="2391803"/>
            <a:ext cx="306070" cy="250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930"/>
              </a:lnSpc>
            </a:pPr>
            <a:r>
              <a:rPr dirty="0" sz="850" spc="-15">
                <a:solidFill>
                  <a:srgbClr val="C3C2BE"/>
                </a:solidFill>
                <a:latin typeface="Calibri"/>
                <a:cs typeface="Calibri"/>
              </a:rPr>
              <a:t>AWS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30"/>
              </a:lnSpc>
            </a:pPr>
            <a:r>
              <a:rPr dirty="0" sz="850">
                <a:solidFill>
                  <a:srgbClr val="C3C2BE"/>
                </a:solidFill>
                <a:latin typeface="Calibri"/>
                <a:cs typeface="Calibri"/>
              </a:rPr>
              <a:t>Elastic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12960" y="2605811"/>
            <a:ext cx="45339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10">
                <a:solidFill>
                  <a:srgbClr val="C3C2BE"/>
                </a:solidFill>
                <a:latin typeface="Calibri"/>
                <a:cs typeface="Calibri"/>
              </a:rPr>
              <a:t>B</a:t>
            </a:r>
            <a:r>
              <a:rPr dirty="0" sz="850">
                <a:solidFill>
                  <a:srgbClr val="C3C2BE"/>
                </a:solidFill>
                <a:latin typeface="Calibri"/>
                <a:cs typeface="Calibri"/>
              </a:rPr>
              <a:t>eanstalk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39503" y="2787701"/>
            <a:ext cx="402590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9060">
              <a:lnSpc>
                <a:spcPts val="890"/>
              </a:lnSpc>
            </a:pPr>
            <a:r>
              <a:rPr dirty="0" sz="850" spc="-15">
                <a:solidFill>
                  <a:srgbClr val="C3C2BE"/>
                </a:solidFill>
                <a:latin typeface="Calibri"/>
                <a:cs typeface="Calibri"/>
              </a:rPr>
              <a:t>AWS</a:t>
            </a:r>
            <a:endParaRPr sz="850">
              <a:latin typeface="Calibri"/>
              <a:cs typeface="Calibri"/>
            </a:endParaRPr>
          </a:p>
          <a:p>
            <a:pPr marL="12700" marR="5080" indent="53975">
              <a:lnSpc>
                <a:spcPct val="74300"/>
              </a:lnSpc>
              <a:spcBef>
                <a:spcPts val="130"/>
              </a:spcBef>
            </a:pPr>
            <a:r>
              <a:rPr dirty="0" sz="850" spc="5">
                <a:solidFill>
                  <a:srgbClr val="C3C2BE"/>
                </a:solidFill>
                <a:latin typeface="Calibri"/>
                <a:cs typeface="Calibri"/>
              </a:rPr>
              <a:t>Direct  </a:t>
            </a:r>
            <a:r>
              <a:rPr dirty="0" sz="850" spc="25">
                <a:solidFill>
                  <a:srgbClr val="C3C2BE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C3C2BE"/>
                </a:solidFill>
                <a:latin typeface="Calibri"/>
                <a:cs typeface="Calibri"/>
              </a:rPr>
              <a:t>onne</a:t>
            </a:r>
            <a:r>
              <a:rPr dirty="0" sz="850" spc="20">
                <a:solidFill>
                  <a:srgbClr val="C3C2BE"/>
                </a:solidFill>
                <a:latin typeface="Calibri"/>
                <a:cs typeface="Calibri"/>
              </a:rPr>
              <a:t>c</a:t>
            </a:r>
            <a:r>
              <a:rPr dirty="0" sz="850" spc="-10">
                <a:solidFill>
                  <a:srgbClr val="C3C2BE"/>
                </a:solidFill>
                <a:latin typeface="Calibri"/>
                <a:cs typeface="Calibri"/>
              </a:rPr>
              <a:t>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25317" y="3155035"/>
            <a:ext cx="22860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55">
                <a:solidFill>
                  <a:srgbClr val="C3C2BE"/>
                </a:solidFill>
                <a:latin typeface="Calibri"/>
                <a:cs typeface="Calibri"/>
              </a:rPr>
              <a:t>A</a:t>
            </a:r>
            <a:r>
              <a:rPr dirty="0" sz="850" spc="-15">
                <a:solidFill>
                  <a:srgbClr val="C3C2BE"/>
                </a:solidFill>
                <a:latin typeface="Calibri"/>
                <a:cs typeface="Calibri"/>
              </a:rPr>
              <a:t>W</a:t>
            </a:r>
            <a:r>
              <a:rPr dirty="0" sz="850" spc="20">
                <a:solidFill>
                  <a:srgbClr val="C3C2BE"/>
                </a:solidFill>
                <a:latin typeface="Calibri"/>
                <a:cs typeface="Calibri"/>
              </a:rPr>
              <a:t>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95954" y="3284639"/>
            <a:ext cx="48768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97790">
              <a:lnSpc>
                <a:spcPts val="840"/>
              </a:lnSpc>
            </a:pPr>
            <a:r>
              <a:rPr dirty="0" sz="850" spc="20">
                <a:solidFill>
                  <a:srgbClr val="C3C2BE"/>
                </a:solidFill>
                <a:latin typeface="Calibri"/>
                <a:cs typeface="Calibri"/>
              </a:rPr>
              <a:t>Cloud  </a:t>
            </a:r>
            <a:r>
              <a:rPr dirty="0" sz="850" spc="-15">
                <a:solidFill>
                  <a:srgbClr val="C3C2BE"/>
                </a:solidFill>
                <a:latin typeface="Calibri"/>
                <a:cs typeface="Calibri"/>
              </a:rPr>
              <a:t>F</a:t>
            </a:r>
            <a:r>
              <a:rPr dirty="0" sz="850" spc="-5">
                <a:solidFill>
                  <a:srgbClr val="C3C2BE"/>
                </a:solidFill>
                <a:latin typeface="Calibri"/>
                <a:cs typeface="Calibri"/>
              </a:rPr>
              <a:t>or</a:t>
            </a:r>
            <a:r>
              <a:rPr dirty="0" sz="850" spc="10">
                <a:solidFill>
                  <a:srgbClr val="C3C2BE"/>
                </a:solidFill>
                <a:latin typeface="Calibri"/>
                <a:cs typeface="Calibri"/>
              </a:rPr>
              <a:t>m</a:t>
            </a:r>
            <a:r>
              <a:rPr dirty="0" sz="850">
                <a:solidFill>
                  <a:srgbClr val="C3C2BE"/>
                </a:solidFill>
                <a:latin typeface="Calibri"/>
                <a:cs typeface="Calibri"/>
              </a:rPr>
              <a:t>a</a:t>
            </a:r>
            <a:r>
              <a:rPr dirty="0" sz="850" spc="5">
                <a:solidFill>
                  <a:srgbClr val="C3C2BE"/>
                </a:solidFill>
                <a:latin typeface="Calibri"/>
                <a:cs typeface="Calibri"/>
              </a:rPr>
              <a:t>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194316" y="2353513"/>
            <a:ext cx="497840" cy="1151890"/>
          </a:xfrm>
          <a:custGeom>
            <a:avLst/>
            <a:gdLst/>
            <a:ahLst/>
            <a:cxnLst/>
            <a:rect l="l" t="t" r="r" b="b"/>
            <a:pathLst>
              <a:path w="497839" h="1151889">
                <a:moveTo>
                  <a:pt x="497636" y="1151661"/>
                </a:moveTo>
                <a:lnTo>
                  <a:pt x="0" y="1151661"/>
                </a:lnTo>
                <a:lnTo>
                  <a:pt x="0" y="0"/>
                </a:lnTo>
                <a:lnTo>
                  <a:pt x="497636" y="0"/>
                </a:lnTo>
                <a:lnTo>
                  <a:pt x="497636" y="1151661"/>
                </a:lnTo>
                <a:close/>
              </a:path>
            </a:pathLst>
          </a:custGeom>
          <a:ln w="19050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192373" y="2776169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192373" y="3148876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C3C2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74025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5D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379328" y="2844012"/>
            <a:ext cx="39497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 marR="5080" indent="-17145">
              <a:lnSpc>
                <a:spcPts val="840"/>
              </a:lnSpc>
            </a:pP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5D5E5E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5D5E5E"/>
                </a:solidFill>
                <a:latin typeface="Calibri"/>
                <a:cs typeface="Calibri"/>
              </a:rPr>
              <a:t>on  </a:t>
            </a:r>
            <a:r>
              <a:rPr dirty="0" sz="850" spc="5">
                <a:solidFill>
                  <a:srgbClr val="5D5E5E"/>
                </a:solidFill>
                <a:latin typeface="Calibri"/>
                <a:cs typeface="Calibri"/>
              </a:rPr>
              <a:t>Kineses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75797" y="3155035"/>
            <a:ext cx="39497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5D5E5E"/>
                </a:solidFill>
                <a:latin typeface="Calibri"/>
                <a:cs typeface="Calibri"/>
              </a:rPr>
              <a:t>z</a:t>
            </a: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420209" y="3284631"/>
            <a:ext cx="306070" cy="206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6985">
              <a:lnSpc>
                <a:spcPct val="74300"/>
              </a:lnSpc>
            </a:pP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Cloud  </a:t>
            </a:r>
            <a:r>
              <a:rPr dirty="0" sz="850" spc="-60">
                <a:solidFill>
                  <a:srgbClr val="5D5E5E"/>
                </a:solidFill>
                <a:latin typeface="Calibri"/>
                <a:cs typeface="Calibri"/>
              </a:rPr>
              <a:t>W</a:t>
            </a:r>
            <a:r>
              <a:rPr dirty="0" sz="850" spc="-25">
                <a:solidFill>
                  <a:srgbClr val="5D5E5E"/>
                </a:solidFill>
                <a:latin typeface="Calibri"/>
                <a:cs typeface="Calibri"/>
              </a:rPr>
              <a:t>a</a:t>
            </a:r>
            <a:r>
              <a:rPr dirty="0" sz="850" spc="-15">
                <a:solidFill>
                  <a:srgbClr val="5D5E5E"/>
                </a:solidFill>
                <a:latin typeface="Calibri"/>
                <a:cs typeface="Calibri"/>
              </a:rPr>
              <a:t>t</a:t>
            </a: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c</a:t>
            </a:r>
            <a:r>
              <a:rPr dirty="0" sz="850" spc="20">
                <a:solidFill>
                  <a:srgbClr val="5D5E5E"/>
                </a:solidFill>
                <a:latin typeface="Calibri"/>
                <a:cs typeface="Calibri"/>
              </a:rPr>
              <a:t>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327791" y="2776156"/>
            <a:ext cx="497840" cy="729615"/>
          </a:xfrm>
          <a:custGeom>
            <a:avLst/>
            <a:gdLst/>
            <a:ahLst/>
            <a:cxnLst/>
            <a:rect l="l" t="t" r="r" b="b"/>
            <a:pathLst>
              <a:path w="497839" h="729614">
                <a:moveTo>
                  <a:pt x="497636" y="729018"/>
                </a:moveTo>
                <a:lnTo>
                  <a:pt x="0" y="729018"/>
                </a:lnTo>
                <a:lnTo>
                  <a:pt x="0" y="0"/>
                </a:lnTo>
                <a:lnTo>
                  <a:pt x="497636" y="0"/>
                </a:lnTo>
                <a:lnTo>
                  <a:pt x="497636" y="729018"/>
                </a:lnTo>
                <a:close/>
              </a:path>
            </a:pathLst>
          </a:custGeom>
          <a:ln w="19050">
            <a:solidFill>
              <a:srgbClr val="5D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325848" y="3148876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5D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455513" y="3204159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455513" y="2776169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136521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939233" y="2995282"/>
            <a:ext cx="39497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4168B2"/>
                </a:solidFill>
                <a:latin typeface="Calibri"/>
                <a:cs typeface="Calibri"/>
              </a:rPr>
              <a:t>z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04562" y="3102279"/>
            <a:ext cx="464184" cy="250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4604">
              <a:lnSpc>
                <a:spcPts val="930"/>
              </a:lnSpc>
            </a:pP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EC2</a:t>
            </a:r>
            <a:endParaRPr sz="850">
              <a:latin typeface="Calibri"/>
              <a:cs typeface="Calibri"/>
            </a:endParaRPr>
          </a:p>
          <a:p>
            <a:pPr algn="ctr">
              <a:lnSpc>
                <a:spcPts val="930"/>
              </a:lnSpc>
            </a:pPr>
            <a:r>
              <a:rPr dirty="0" sz="850" spc="25">
                <a:solidFill>
                  <a:srgbClr val="4168B2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o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n</a:t>
            </a:r>
            <a:r>
              <a:rPr dirty="0" sz="850" spc="-5">
                <a:solidFill>
                  <a:srgbClr val="4168B2"/>
                </a:solidFill>
                <a:latin typeface="Calibri"/>
                <a:cs typeface="Calibri"/>
              </a:rPr>
              <a:t>tainer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62880" y="3316275"/>
            <a:ext cx="34798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25">
                <a:solidFill>
                  <a:srgbClr val="4168B2"/>
                </a:solidFill>
                <a:latin typeface="Calibri"/>
                <a:cs typeface="Calibri"/>
              </a:rPr>
              <a:t>S</a:t>
            </a:r>
            <a:r>
              <a:rPr dirty="0" sz="850" spc="-15">
                <a:solidFill>
                  <a:srgbClr val="4168B2"/>
                </a:solidFill>
                <a:latin typeface="Calibri"/>
                <a:cs typeface="Calibri"/>
              </a:rPr>
              <a:t>e</a:t>
            </a:r>
            <a:r>
              <a:rPr dirty="0" sz="850" spc="5">
                <a:solidFill>
                  <a:srgbClr val="4168B2"/>
                </a:solidFill>
                <a:latin typeface="Calibri"/>
                <a:cs typeface="Calibri"/>
              </a:rPr>
              <a:t>r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vi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c</a:t>
            </a:r>
            <a:r>
              <a:rPr dirty="0" sz="850" spc="-5">
                <a:solidFill>
                  <a:srgbClr val="4168B2"/>
                </a:solidFill>
                <a:latin typeface="Calibri"/>
                <a:cs typeface="Calibri"/>
              </a:rPr>
              <a:t>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90274" y="2974111"/>
            <a:ext cx="497840" cy="531495"/>
          </a:xfrm>
          <a:custGeom>
            <a:avLst/>
            <a:gdLst/>
            <a:ahLst/>
            <a:cxnLst/>
            <a:rect l="l" t="t" r="r" b="b"/>
            <a:pathLst>
              <a:path w="497839" h="531495">
                <a:moveTo>
                  <a:pt x="497636" y="531063"/>
                </a:moveTo>
                <a:lnTo>
                  <a:pt x="0" y="531063"/>
                </a:lnTo>
                <a:lnTo>
                  <a:pt x="0" y="0"/>
                </a:lnTo>
                <a:lnTo>
                  <a:pt x="497636" y="0"/>
                </a:lnTo>
                <a:lnTo>
                  <a:pt x="497636" y="531063"/>
                </a:lnTo>
                <a:close/>
              </a:path>
            </a:pathLst>
          </a:custGeom>
          <a:ln w="19050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008304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810050" y="2023859"/>
            <a:ext cx="39497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180" marR="5080" indent="-31115">
              <a:lnSpc>
                <a:spcPts val="84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on  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Glacier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08120" y="2430442"/>
            <a:ext cx="407670" cy="302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ct val="7430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on  </a:t>
            </a:r>
            <a:r>
              <a:rPr dirty="0" sz="850" spc="45">
                <a:solidFill>
                  <a:srgbClr val="F6A81E"/>
                </a:solidFill>
                <a:latin typeface="Calibri"/>
                <a:cs typeface="Calibri"/>
              </a:rPr>
              <a:t>D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ynamo  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DB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09936" y="2801422"/>
            <a:ext cx="394970" cy="206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970" marR="5080" indent="-1905">
              <a:lnSpc>
                <a:spcPct val="7430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on  </a:t>
            </a:r>
            <a:r>
              <a:rPr dirty="0" sz="850" spc="-10">
                <a:solidFill>
                  <a:srgbClr val="F6A81E"/>
                </a:solidFill>
                <a:latin typeface="Calibri"/>
                <a:cs typeface="Calibri"/>
              </a:rPr>
              <a:t>R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edshi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f</a:t>
            </a:r>
            <a:r>
              <a:rPr dirty="0" sz="850" spc="-10">
                <a:solidFill>
                  <a:srgbClr val="F6A81E"/>
                </a:solidFill>
                <a:latin typeface="Calibri"/>
                <a:cs typeface="Calibri"/>
              </a:rPr>
              <a:t>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780193" y="3074268"/>
            <a:ext cx="463550" cy="398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ct val="74300"/>
              </a:lnSpc>
            </a:pP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Amazon  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Elastic  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Load  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Balancing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762070" y="1962962"/>
            <a:ext cx="497840" cy="1542415"/>
          </a:xfrm>
          <a:custGeom>
            <a:avLst/>
            <a:gdLst/>
            <a:ahLst/>
            <a:cxnLst/>
            <a:rect l="l" t="t" r="r" b="b"/>
            <a:pathLst>
              <a:path w="497839" h="1542414">
                <a:moveTo>
                  <a:pt x="497636" y="1542211"/>
                </a:moveTo>
                <a:lnTo>
                  <a:pt x="0" y="1542211"/>
                </a:lnTo>
                <a:lnTo>
                  <a:pt x="0" y="0"/>
                </a:lnTo>
                <a:lnTo>
                  <a:pt x="497636" y="0"/>
                </a:lnTo>
                <a:lnTo>
                  <a:pt x="497636" y="1542211"/>
                </a:lnTo>
                <a:close/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760127" y="2385618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60127" y="2758325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760127" y="3027616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5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781526" y="4547018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781526" y="5044566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133638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901628" y="4166908"/>
            <a:ext cx="464184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ts val="840"/>
              </a:lnSpc>
            </a:pP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Google  </a:t>
            </a:r>
            <a:r>
              <a:rPr dirty="0" sz="850" spc="25">
                <a:solidFill>
                  <a:srgbClr val="4168B2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o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n</a:t>
            </a:r>
            <a:r>
              <a:rPr dirty="0" sz="850" spc="-5">
                <a:solidFill>
                  <a:srgbClr val="4168B2"/>
                </a:solidFill>
                <a:latin typeface="Calibri"/>
                <a:cs typeface="Calibri"/>
              </a:rPr>
              <a:t>tainer  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Engine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61877" y="4556252"/>
            <a:ext cx="35179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5">
                <a:solidFill>
                  <a:srgbClr val="4168B2"/>
                </a:solidFill>
                <a:latin typeface="Calibri"/>
                <a:cs typeface="Calibri"/>
              </a:rPr>
              <a:t>G</a:t>
            </a:r>
            <a:r>
              <a:rPr dirty="0" sz="850" spc="20">
                <a:solidFill>
                  <a:srgbClr val="4168B2"/>
                </a:solidFill>
                <a:latin typeface="Calibri"/>
                <a:cs typeface="Calibri"/>
              </a:rPr>
              <a:t>oogle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923675" y="4685855"/>
            <a:ext cx="42799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67945">
              <a:lnSpc>
                <a:spcPts val="840"/>
              </a:lnSpc>
            </a:pPr>
            <a:r>
              <a:rPr dirty="0" sz="850" spc="20">
                <a:solidFill>
                  <a:srgbClr val="4168B2"/>
                </a:solidFill>
                <a:latin typeface="Calibri"/>
                <a:cs typeface="Calibri"/>
              </a:rPr>
              <a:t>Cloud  </a:t>
            </a:r>
            <a:r>
              <a:rPr dirty="0" sz="850" spc="20">
                <a:solidFill>
                  <a:srgbClr val="4168B2"/>
                </a:solidFill>
                <a:latin typeface="Calibri"/>
                <a:cs typeface="Calibri"/>
              </a:rPr>
              <a:t>D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a</a:t>
            </a:r>
            <a:r>
              <a:rPr dirty="0" sz="850" spc="-5">
                <a:solidFill>
                  <a:srgbClr val="4168B2"/>
                </a:solidFill>
                <a:latin typeface="Calibri"/>
                <a:cs typeface="Calibri"/>
              </a:rPr>
              <a:t>tafl</a:t>
            </a:r>
            <a:r>
              <a:rPr dirty="0" sz="850" spc="-15">
                <a:solidFill>
                  <a:srgbClr val="4168B2"/>
                </a:solidFill>
                <a:latin typeface="Calibri"/>
                <a:cs typeface="Calibri"/>
              </a:rPr>
              <a:t>o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w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901958" y="4948008"/>
            <a:ext cx="463550" cy="441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ts val="840"/>
              </a:lnSpc>
            </a:pP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Google  </a:t>
            </a:r>
            <a:r>
              <a:rPr dirty="0" sz="850" spc="20">
                <a:solidFill>
                  <a:srgbClr val="4168B2"/>
                </a:solidFill>
                <a:latin typeface="Calibri"/>
                <a:cs typeface="Calibri"/>
              </a:rPr>
              <a:t>Cloud  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Load  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Balancing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901958" y="5445556"/>
            <a:ext cx="46355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ts val="840"/>
              </a:lnSpc>
            </a:pPr>
            <a:r>
              <a:rPr dirty="0" sz="850">
                <a:solidFill>
                  <a:srgbClr val="4168B2"/>
                </a:solidFill>
                <a:latin typeface="Calibri"/>
                <a:cs typeface="Calibri"/>
              </a:rPr>
              <a:t>Network  </a:t>
            </a:r>
            <a:r>
              <a:rPr dirty="0" sz="850" spc="15">
                <a:solidFill>
                  <a:srgbClr val="4168B2"/>
                </a:solidFill>
                <a:latin typeface="Calibri"/>
                <a:cs typeface="Calibri"/>
              </a:rPr>
              <a:t>Load  </a:t>
            </a:r>
            <a:r>
              <a:rPr dirty="0" sz="850" spc="10">
                <a:solidFill>
                  <a:srgbClr val="4168B2"/>
                </a:solidFill>
                <a:latin typeface="Calibri"/>
                <a:cs typeface="Calibri"/>
              </a:rPr>
              <a:t>Balancing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902072" y="4120260"/>
            <a:ext cx="466725" cy="1694814"/>
          </a:xfrm>
          <a:custGeom>
            <a:avLst/>
            <a:gdLst/>
            <a:ahLst/>
            <a:cxnLst/>
            <a:rect l="l" t="t" r="r" b="b"/>
            <a:pathLst>
              <a:path w="466725" h="1694814">
                <a:moveTo>
                  <a:pt x="466343" y="1694700"/>
                </a:moveTo>
                <a:lnTo>
                  <a:pt x="0" y="1694700"/>
                </a:lnTo>
                <a:lnTo>
                  <a:pt x="0" y="0"/>
                </a:lnTo>
                <a:lnTo>
                  <a:pt x="466343" y="0"/>
                </a:lnTo>
                <a:lnTo>
                  <a:pt x="466343" y="1694700"/>
                </a:lnTo>
                <a:close/>
              </a:path>
            </a:pathLst>
          </a:custGeom>
          <a:ln w="19050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909477" y="4547018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909477" y="491617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09477" y="5408358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4168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690736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5490845" y="4166908"/>
            <a:ext cx="400050" cy="441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 indent="24130">
              <a:lnSpc>
                <a:spcPts val="84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Google  </a:t>
            </a: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Cloud  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Storage  </a:t>
            </a:r>
            <a:r>
              <a:rPr dirty="0" sz="850" spc="-5">
                <a:solidFill>
                  <a:srgbClr val="D22F2A"/>
                </a:solidFill>
                <a:latin typeface="Calibri"/>
                <a:cs typeface="Calibri"/>
              </a:rPr>
              <a:t>Near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line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458637" y="4665002"/>
            <a:ext cx="464184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ts val="84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Google  </a:t>
            </a:r>
            <a:r>
              <a:rPr dirty="0" sz="850" spc="25">
                <a:solidFill>
                  <a:srgbClr val="D22F2A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o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n</a:t>
            </a:r>
            <a:r>
              <a:rPr dirty="0" sz="850" spc="-5">
                <a:solidFill>
                  <a:srgbClr val="D22F2A"/>
                </a:solidFill>
                <a:latin typeface="Calibri"/>
                <a:cs typeface="Calibri"/>
              </a:rPr>
              <a:t>tainer  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Registry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76621" y="5055539"/>
            <a:ext cx="39497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52069">
              <a:lnSpc>
                <a:spcPts val="840"/>
              </a:lnSpc>
            </a:pP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Cloud  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Bigtable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485714" y="5403291"/>
            <a:ext cx="410209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635">
              <a:lnSpc>
                <a:spcPts val="84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Google  </a:t>
            </a: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Cloud  </a:t>
            </a:r>
            <a:r>
              <a:rPr dirty="0" sz="850" spc="-10">
                <a:solidFill>
                  <a:srgbClr val="D22F2A"/>
                </a:solidFill>
                <a:latin typeface="Calibri"/>
                <a:cs typeface="Calibri"/>
              </a:rPr>
              <a:t>P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ub/Sub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459171" y="4120260"/>
            <a:ext cx="466725" cy="1694814"/>
          </a:xfrm>
          <a:custGeom>
            <a:avLst/>
            <a:gdLst/>
            <a:ahLst/>
            <a:cxnLst/>
            <a:rect l="l" t="t" r="r" b="b"/>
            <a:pathLst>
              <a:path w="466725" h="1694814">
                <a:moveTo>
                  <a:pt x="466344" y="1694700"/>
                </a:moveTo>
                <a:lnTo>
                  <a:pt x="0" y="1694700"/>
                </a:lnTo>
                <a:lnTo>
                  <a:pt x="0" y="0"/>
                </a:lnTo>
                <a:lnTo>
                  <a:pt x="466344" y="0"/>
                </a:lnTo>
                <a:lnTo>
                  <a:pt x="466344" y="1694700"/>
                </a:lnTo>
                <a:close/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466575" y="462191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466575" y="5022634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466575" y="5333466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244596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6028867" y="4145051"/>
            <a:ext cx="444500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93345">
              <a:lnSpc>
                <a:spcPts val="800"/>
              </a:lnSpc>
            </a:pPr>
            <a:r>
              <a:rPr dirty="0" sz="800" spc="20">
                <a:solidFill>
                  <a:srgbClr val="F6A81E"/>
                </a:solidFill>
                <a:latin typeface="Calibri"/>
                <a:cs typeface="Calibri"/>
              </a:rPr>
              <a:t>Cloud  </a:t>
            </a:r>
            <a:r>
              <a:rPr dirty="0" sz="800" spc="5">
                <a:solidFill>
                  <a:srgbClr val="F6A81E"/>
                </a:solidFill>
                <a:latin typeface="Calibri"/>
                <a:cs typeface="Calibri"/>
              </a:rPr>
              <a:t>Vision</a:t>
            </a:r>
            <a:r>
              <a:rPr dirty="0" sz="800" spc="-105">
                <a:solidFill>
                  <a:srgbClr val="F6A81E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6A81E"/>
                </a:solidFill>
                <a:latin typeface="Calibri"/>
                <a:cs typeface="Calibri"/>
              </a:rPr>
              <a:t>API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071438" y="4411230"/>
            <a:ext cx="353695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635">
              <a:lnSpc>
                <a:spcPts val="840"/>
              </a:lnSpc>
            </a:pPr>
            <a:r>
              <a:rPr dirty="0" sz="850" spc="20">
                <a:solidFill>
                  <a:srgbClr val="F6A81E"/>
                </a:solidFill>
                <a:latin typeface="Calibri"/>
                <a:cs typeface="Calibri"/>
              </a:rPr>
              <a:t>Cloud  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Speech  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API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046177" y="4761941"/>
            <a:ext cx="407034" cy="250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930"/>
              </a:lnSpc>
            </a:pP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ML</a:t>
            </a:r>
            <a:endParaRPr sz="850">
              <a:latin typeface="Calibri"/>
              <a:cs typeface="Calibri"/>
            </a:endParaRPr>
          </a:p>
          <a:p>
            <a:pPr algn="ctr">
              <a:lnSpc>
                <a:spcPts val="930"/>
              </a:lnSpc>
            </a:pP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P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l</a:t>
            </a: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a</a:t>
            </a:r>
            <a:r>
              <a:rPr dirty="0" sz="850" spc="-10">
                <a:solidFill>
                  <a:srgbClr val="F6A81E"/>
                </a:solidFill>
                <a:latin typeface="Calibri"/>
                <a:cs typeface="Calibri"/>
              </a:rPr>
              <a:t>t</a:t>
            </a:r>
            <a:r>
              <a:rPr dirty="0" sz="850" spc="-25">
                <a:solidFill>
                  <a:srgbClr val="F6A81E"/>
                </a:solidFill>
                <a:latin typeface="Calibri"/>
                <a:cs typeface="Calibri"/>
              </a:rPr>
              <a:t>f</a:t>
            </a: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or</a:t>
            </a:r>
            <a:r>
              <a:rPr dirty="0" sz="850" spc="20">
                <a:solidFill>
                  <a:srgbClr val="F6A81E"/>
                </a:solidFill>
                <a:latin typeface="Calibri"/>
                <a:cs typeface="Calibri"/>
              </a:rPr>
              <a:t>m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069076" y="5055577"/>
            <a:ext cx="351790" cy="441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ts val="840"/>
              </a:lnSpc>
            </a:pP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G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oogle  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Data  </a:t>
            </a:r>
            <a:r>
              <a:rPr dirty="0" sz="850" spc="10">
                <a:solidFill>
                  <a:srgbClr val="F6A81E"/>
                </a:solidFill>
                <a:latin typeface="Calibri"/>
                <a:cs typeface="Calibri"/>
              </a:rPr>
              <a:t>Studio  </a:t>
            </a:r>
            <a:r>
              <a:rPr dirty="0" sz="850">
                <a:solidFill>
                  <a:srgbClr val="F6A81E"/>
                </a:solidFill>
                <a:latin typeface="Calibri"/>
                <a:cs typeface="Calibri"/>
              </a:rPr>
              <a:t>360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091440" y="5513316"/>
            <a:ext cx="351790" cy="302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485" marR="5080" indent="-58419">
              <a:lnSpc>
                <a:spcPct val="74300"/>
              </a:lnSpc>
            </a:pP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G</a:t>
            </a:r>
            <a:r>
              <a:rPr dirty="0" sz="850" spc="15">
                <a:solidFill>
                  <a:srgbClr val="F6A81E"/>
                </a:solidFill>
                <a:latin typeface="Calibri"/>
                <a:cs typeface="Calibri"/>
              </a:rPr>
              <a:t>oogle  </a:t>
            </a:r>
            <a:r>
              <a:rPr dirty="0" sz="850" spc="5">
                <a:solidFill>
                  <a:srgbClr val="F6A81E"/>
                </a:solidFill>
                <a:latin typeface="Calibri"/>
                <a:cs typeface="Calibri"/>
              </a:rPr>
              <a:t>Data  </a:t>
            </a:r>
            <a:r>
              <a:rPr dirty="0" sz="850" spc="-5">
                <a:solidFill>
                  <a:srgbClr val="F6A81E"/>
                </a:solidFill>
                <a:latin typeface="Calibri"/>
                <a:cs typeface="Calibri"/>
              </a:rPr>
              <a:t>Proc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013043" y="4120260"/>
            <a:ext cx="466725" cy="1694814"/>
          </a:xfrm>
          <a:custGeom>
            <a:avLst/>
            <a:gdLst/>
            <a:ahLst/>
            <a:cxnLst/>
            <a:rect l="l" t="t" r="r" b="b"/>
            <a:pathLst>
              <a:path w="466725" h="1694814">
                <a:moveTo>
                  <a:pt x="466344" y="1694700"/>
                </a:moveTo>
                <a:lnTo>
                  <a:pt x="0" y="1694700"/>
                </a:lnTo>
                <a:lnTo>
                  <a:pt x="0" y="0"/>
                </a:lnTo>
                <a:lnTo>
                  <a:pt x="466344" y="0"/>
                </a:lnTo>
                <a:lnTo>
                  <a:pt x="466344" y="1694700"/>
                </a:lnTo>
                <a:close/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020434" y="437581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020434" y="475032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20434" y="5022634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020434" y="548860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479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573733" y="3884650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5D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4343628" y="4166895"/>
            <a:ext cx="45847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-635">
              <a:lnSpc>
                <a:spcPts val="840"/>
              </a:lnSpc>
            </a:pPr>
            <a:r>
              <a:rPr dirty="0" sz="850" spc="15">
                <a:solidFill>
                  <a:srgbClr val="5D5E5E"/>
                </a:solidFill>
                <a:latin typeface="Calibri"/>
                <a:cs typeface="Calibri"/>
              </a:rPr>
              <a:t>Google  </a:t>
            </a:r>
            <a:r>
              <a:rPr dirty="0" sz="850" spc="20">
                <a:solidFill>
                  <a:srgbClr val="5D5E5E"/>
                </a:solidFill>
                <a:latin typeface="Calibri"/>
                <a:cs typeface="Calibri"/>
              </a:rPr>
              <a:t>Cloud  </a:t>
            </a:r>
            <a:r>
              <a:rPr dirty="0" sz="850" spc="20">
                <a:solidFill>
                  <a:srgbClr val="5D5E5E"/>
                </a:solidFill>
                <a:latin typeface="Calibri"/>
                <a:cs typeface="Calibri"/>
              </a:rPr>
              <a:t>D</a:t>
            </a:r>
            <a:r>
              <a:rPr dirty="0" sz="850" spc="10">
                <a:solidFill>
                  <a:srgbClr val="5D5E5E"/>
                </a:solidFill>
                <a:latin typeface="Calibri"/>
                <a:cs typeface="Calibri"/>
              </a:rPr>
              <a:t>a</a:t>
            </a:r>
            <a:r>
              <a:rPr dirty="0" sz="850" spc="-5">
                <a:solidFill>
                  <a:srgbClr val="5D5E5E"/>
                </a:solidFill>
                <a:latin typeface="Calibri"/>
                <a:cs typeface="Calibri"/>
              </a:rPr>
              <a:t>tas</a:t>
            </a:r>
            <a:r>
              <a:rPr dirty="0" sz="850" spc="-10">
                <a:solidFill>
                  <a:srgbClr val="5D5E5E"/>
                </a:solidFill>
                <a:latin typeface="Calibri"/>
                <a:cs typeface="Calibri"/>
              </a:rPr>
              <a:t>t</a:t>
            </a:r>
            <a:r>
              <a:rPr dirty="0" sz="850" spc="-5">
                <a:solidFill>
                  <a:srgbClr val="5D5E5E"/>
                </a:solidFill>
                <a:latin typeface="Calibri"/>
                <a:cs typeface="Calibri"/>
              </a:rPr>
              <a:t>o</a:t>
            </a:r>
            <a:r>
              <a:rPr dirty="0" sz="850" spc="-15">
                <a:solidFill>
                  <a:srgbClr val="5D5E5E"/>
                </a:solidFill>
                <a:latin typeface="Calibri"/>
                <a:cs typeface="Calibri"/>
              </a:rPr>
              <a:t>r</a:t>
            </a:r>
            <a:r>
              <a:rPr dirty="0" sz="850" spc="-5">
                <a:solidFill>
                  <a:srgbClr val="5D5E5E"/>
                </a:solidFill>
                <a:latin typeface="Calibri"/>
                <a:cs typeface="Calibri"/>
              </a:rPr>
              <a:t>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4342168" y="4120260"/>
            <a:ext cx="466725" cy="427355"/>
          </a:xfrm>
          <a:custGeom>
            <a:avLst/>
            <a:gdLst/>
            <a:ahLst/>
            <a:cxnLst/>
            <a:rect l="l" t="t" r="r" b="b"/>
            <a:pathLst>
              <a:path w="466725" h="427354">
                <a:moveTo>
                  <a:pt x="466343" y="426758"/>
                </a:moveTo>
                <a:lnTo>
                  <a:pt x="0" y="426758"/>
                </a:lnTo>
                <a:lnTo>
                  <a:pt x="0" y="0"/>
                </a:lnTo>
                <a:lnTo>
                  <a:pt x="466343" y="0"/>
                </a:lnTo>
                <a:lnTo>
                  <a:pt x="466343" y="426758"/>
                </a:lnTo>
                <a:close/>
              </a:path>
            </a:pathLst>
          </a:custGeom>
          <a:ln w="19050">
            <a:solidFill>
              <a:srgbClr val="5D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694610" y="3505174"/>
            <a:ext cx="0" cy="243840"/>
          </a:xfrm>
          <a:custGeom>
            <a:avLst/>
            <a:gdLst/>
            <a:ahLst/>
            <a:cxnLst/>
            <a:rect l="l" t="t" r="r" b="b"/>
            <a:pathLst>
              <a:path w="0" h="243839">
                <a:moveTo>
                  <a:pt x="0" y="0"/>
                </a:moveTo>
                <a:lnTo>
                  <a:pt x="0" y="243522"/>
                </a:lnTo>
              </a:path>
            </a:pathLst>
          </a:custGeom>
          <a:ln w="40805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5462561" y="2300274"/>
            <a:ext cx="464184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6685" marR="39370" indent="-100330">
              <a:lnSpc>
                <a:spcPts val="84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on  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EC2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844"/>
              </a:lnSpc>
            </a:pPr>
            <a:r>
              <a:rPr dirty="0" sz="850" spc="25">
                <a:solidFill>
                  <a:srgbClr val="D22F2A"/>
                </a:solidFill>
                <a:latin typeface="Calibri"/>
                <a:cs typeface="Calibri"/>
              </a:rPr>
              <a:t>C</a:t>
            </a: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o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n</a:t>
            </a:r>
            <a:r>
              <a:rPr dirty="0" sz="850" spc="-5">
                <a:solidFill>
                  <a:srgbClr val="D22F2A"/>
                </a:solidFill>
                <a:latin typeface="Calibri"/>
                <a:cs typeface="Calibri"/>
              </a:rPr>
              <a:t>tainer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501081" y="2598661"/>
            <a:ext cx="38735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10">
                <a:solidFill>
                  <a:srgbClr val="D22F2A"/>
                </a:solidFill>
                <a:latin typeface="Calibri"/>
                <a:cs typeface="Calibri"/>
              </a:rPr>
              <a:t>R</a:t>
            </a:r>
            <a:r>
              <a:rPr dirty="0" sz="850" spc="35">
                <a:solidFill>
                  <a:srgbClr val="D22F2A"/>
                </a:solidFill>
                <a:latin typeface="Calibri"/>
                <a:cs typeface="Calibri"/>
              </a:rPr>
              <a:t>e</a:t>
            </a:r>
            <a:r>
              <a:rPr dirty="0" sz="850" spc="25">
                <a:solidFill>
                  <a:srgbClr val="D22F2A"/>
                </a:solidFill>
                <a:latin typeface="Calibri"/>
                <a:cs typeface="Calibri"/>
              </a:rPr>
              <a:t>g</a:t>
            </a:r>
            <a:r>
              <a:rPr dirty="0" sz="850" spc="-10">
                <a:solidFill>
                  <a:srgbClr val="D22F2A"/>
                </a:solidFill>
                <a:latin typeface="Calibri"/>
                <a:cs typeface="Calibri"/>
              </a:rPr>
              <a:t>ist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r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576201" y="2821444"/>
            <a:ext cx="234950" cy="250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30"/>
              </a:lnSpc>
            </a:pPr>
            <a:r>
              <a:rPr dirty="0" sz="850" spc="-55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-15">
                <a:solidFill>
                  <a:srgbClr val="D22F2A"/>
                </a:solidFill>
                <a:latin typeface="Calibri"/>
                <a:cs typeface="Calibri"/>
              </a:rPr>
              <a:t>W</a:t>
            </a: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S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30"/>
              </a:lnSpc>
            </a:pPr>
            <a:r>
              <a:rPr dirty="0" sz="850" spc="20">
                <a:solidFill>
                  <a:srgbClr val="D22F2A"/>
                </a:solidFill>
                <a:latin typeface="Calibri"/>
                <a:cs typeface="Calibri"/>
              </a:rPr>
              <a:t>D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-5">
                <a:solidFill>
                  <a:srgbClr val="D22F2A"/>
                </a:solidFill>
                <a:latin typeface="Calibri"/>
                <a:cs typeface="Calibri"/>
              </a:rPr>
              <a:t>ta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501944" y="3035439"/>
            <a:ext cx="38354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10">
                <a:solidFill>
                  <a:srgbClr val="D22F2A"/>
                </a:solidFill>
                <a:latin typeface="Calibri"/>
                <a:cs typeface="Calibri"/>
              </a:rPr>
              <a:t>P</a:t>
            </a:r>
            <a:r>
              <a:rPr dirty="0" sz="850" spc="5">
                <a:solidFill>
                  <a:srgbClr val="D22F2A"/>
                </a:solidFill>
                <a:latin typeface="Calibri"/>
                <a:cs typeface="Calibri"/>
              </a:rPr>
              <a:t>ipeline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474868" y="3253321"/>
            <a:ext cx="422275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4765">
              <a:lnSpc>
                <a:spcPts val="840"/>
              </a:lnSpc>
            </a:pP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A</a:t>
            </a:r>
            <a:r>
              <a:rPr dirty="0" sz="850" spc="15">
                <a:solidFill>
                  <a:srgbClr val="D22F2A"/>
                </a:solidFill>
                <a:latin typeface="Calibri"/>
                <a:cs typeface="Calibri"/>
              </a:rPr>
              <a:t>ma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z</a:t>
            </a:r>
            <a:r>
              <a:rPr dirty="0" sz="850" spc="10">
                <a:solidFill>
                  <a:srgbClr val="D22F2A"/>
                </a:solidFill>
                <a:latin typeface="Calibri"/>
                <a:cs typeface="Calibri"/>
              </a:rPr>
              <a:t>on  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Route</a:t>
            </a:r>
            <a:r>
              <a:rPr dirty="0" sz="850" spc="-100">
                <a:solidFill>
                  <a:srgbClr val="D22F2A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D22F2A"/>
                </a:solidFill>
                <a:latin typeface="Calibri"/>
                <a:cs typeface="Calibri"/>
              </a:rPr>
              <a:t>53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448376" y="2273261"/>
            <a:ext cx="497840" cy="1231900"/>
          </a:xfrm>
          <a:custGeom>
            <a:avLst/>
            <a:gdLst/>
            <a:ahLst/>
            <a:cxnLst/>
            <a:rect l="l" t="t" r="r" b="b"/>
            <a:pathLst>
              <a:path w="497839" h="1231900">
                <a:moveTo>
                  <a:pt x="497636" y="1231912"/>
                </a:moveTo>
                <a:lnTo>
                  <a:pt x="0" y="1231912"/>
                </a:lnTo>
                <a:lnTo>
                  <a:pt x="0" y="0"/>
                </a:lnTo>
                <a:lnTo>
                  <a:pt x="497636" y="0"/>
                </a:lnTo>
                <a:lnTo>
                  <a:pt x="497636" y="1231912"/>
                </a:lnTo>
                <a:close/>
              </a:path>
            </a:pathLst>
          </a:custGeom>
          <a:ln w="19049">
            <a:solidFill>
              <a:srgbClr val="D22F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2058466" y="1325626"/>
            <a:ext cx="3350260" cy="220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4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350" spc="-75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350" spc="-50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350" spc="-20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350" spc="-45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350" spc="-2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350" spc="-85">
                <a:solidFill>
                  <a:srgbClr val="231F20"/>
                </a:solidFill>
                <a:latin typeface="Arial"/>
                <a:cs typeface="Arial"/>
              </a:rPr>
              <a:t>&amp; </a:t>
            </a:r>
            <a:r>
              <a:rPr dirty="0" sz="1350" spc="-55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2056879" y="1565275"/>
            <a:ext cx="3391535" cy="0"/>
          </a:xfrm>
          <a:custGeom>
            <a:avLst/>
            <a:gdLst/>
            <a:ahLst/>
            <a:cxnLst/>
            <a:rect l="l" t="t" r="r" b="b"/>
            <a:pathLst>
              <a:path w="3391535" h="0">
                <a:moveTo>
                  <a:pt x="0" y="0"/>
                </a:moveTo>
                <a:lnTo>
                  <a:pt x="3391509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760348" y="3421215"/>
            <a:ext cx="685419" cy="249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32440" y="3812717"/>
            <a:ext cx="749300" cy="0"/>
          </a:xfrm>
          <a:custGeom>
            <a:avLst/>
            <a:gdLst/>
            <a:ahLst/>
            <a:cxnLst/>
            <a:rect l="l" t="t" r="r" b="b"/>
            <a:pathLst>
              <a:path w="749300" h="0">
                <a:moveTo>
                  <a:pt x="0" y="0"/>
                </a:moveTo>
                <a:lnTo>
                  <a:pt x="749071" y="0"/>
                </a:lnTo>
              </a:path>
            </a:pathLst>
          </a:custGeom>
          <a:ln w="19050">
            <a:solidFill>
              <a:srgbClr val="F6A8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21868" y="3748697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42" y="0"/>
                </a:moveTo>
                <a:lnTo>
                  <a:pt x="37038" y="4763"/>
                </a:lnTo>
                <a:lnTo>
                  <a:pt x="17762" y="17756"/>
                </a:lnTo>
                <a:lnTo>
                  <a:pt x="4765" y="37027"/>
                </a:lnTo>
                <a:lnTo>
                  <a:pt x="0" y="60629"/>
                </a:lnTo>
                <a:lnTo>
                  <a:pt x="4765" y="84231"/>
                </a:lnTo>
                <a:lnTo>
                  <a:pt x="17762" y="103503"/>
                </a:lnTo>
                <a:lnTo>
                  <a:pt x="37038" y="116495"/>
                </a:lnTo>
                <a:lnTo>
                  <a:pt x="60642" y="121259"/>
                </a:lnTo>
                <a:lnTo>
                  <a:pt x="84239" y="116495"/>
                </a:lnTo>
                <a:lnTo>
                  <a:pt x="103511" y="103503"/>
                </a:lnTo>
                <a:lnTo>
                  <a:pt x="116506" y="84231"/>
                </a:lnTo>
                <a:lnTo>
                  <a:pt x="121272" y="60629"/>
                </a:lnTo>
                <a:lnTo>
                  <a:pt x="116506" y="37027"/>
                </a:lnTo>
                <a:lnTo>
                  <a:pt x="103511" y="17756"/>
                </a:lnTo>
                <a:lnTo>
                  <a:pt x="84239" y="4763"/>
                </a:lnTo>
                <a:lnTo>
                  <a:pt x="60642" y="0"/>
                </a:lnTo>
                <a:close/>
              </a:path>
            </a:pathLst>
          </a:custGeom>
          <a:solidFill>
            <a:srgbClr val="F6A8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53753" y="3935679"/>
            <a:ext cx="698605" cy="4657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893" y="2080399"/>
            <a:ext cx="5763260" cy="1887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200" spc="-114">
                <a:solidFill>
                  <a:srgbClr val="F5F4F4"/>
                </a:solidFill>
                <a:latin typeface="Arial"/>
                <a:cs typeface="Arial"/>
              </a:rPr>
              <a:t>SHIFTS </a:t>
            </a:r>
            <a:r>
              <a:rPr dirty="0" sz="3200" spc="-35">
                <a:solidFill>
                  <a:srgbClr val="F5F4F4"/>
                </a:solidFill>
                <a:latin typeface="Arial"/>
                <a:cs typeface="Arial"/>
              </a:rPr>
              <a:t>IN </a:t>
            </a:r>
            <a:r>
              <a:rPr dirty="0" sz="3200" spc="-235">
                <a:solidFill>
                  <a:srgbClr val="F5F4F4"/>
                </a:solidFill>
                <a:latin typeface="Arial"/>
                <a:cs typeface="Arial"/>
              </a:rPr>
              <a:t>CLOUD </a:t>
            </a:r>
            <a:r>
              <a:rPr dirty="0" sz="3200" spc="-204">
                <a:solidFill>
                  <a:srgbClr val="F5F4F4"/>
                </a:solidFill>
                <a:latin typeface="Arial"/>
                <a:cs typeface="Arial"/>
              </a:rPr>
              <a:t>STRATEGIES:  </a:t>
            </a:r>
            <a:r>
              <a:rPr dirty="0" sz="3200" spc="-175">
                <a:solidFill>
                  <a:srgbClr val="F5F4F4"/>
                </a:solidFill>
                <a:latin typeface="Arial"/>
                <a:cs typeface="Arial"/>
              </a:rPr>
              <a:t>RIVALRY </a:t>
            </a:r>
            <a:r>
              <a:rPr dirty="0" sz="3200" spc="380">
                <a:solidFill>
                  <a:srgbClr val="F5F4F4"/>
                </a:solidFill>
                <a:latin typeface="Arial"/>
                <a:cs typeface="Arial"/>
              </a:rPr>
              <a:t>/</a:t>
            </a:r>
            <a:r>
              <a:rPr dirty="0" sz="3200" spc="-14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200" spc="-195">
                <a:solidFill>
                  <a:srgbClr val="F5F4F4"/>
                </a:solidFill>
                <a:latin typeface="Arial"/>
                <a:cs typeface="Arial"/>
              </a:rPr>
              <a:t>EVOLUTION?</a:t>
            </a:r>
            <a:endParaRPr sz="3200">
              <a:latin typeface="Arial"/>
              <a:cs typeface="Arial"/>
            </a:endParaRPr>
          </a:p>
          <a:p>
            <a:pPr marL="38100" marR="1872614">
              <a:lnSpc>
                <a:spcPct val="100000"/>
              </a:lnSpc>
              <a:spcBef>
                <a:spcPts val="1900"/>
              </a:spcBef>
            </a:pP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Why </a:t>
            </a:r>
            <a:r>
              <a:rPr dirty="0" sz="2200" spc="-35" i="1">
                <a:solidFill>
                  <a:srgbClr val="F5F4F4"/>
                </a:solidFill>
                <a:latin typeface="Calibri"/>
                <a:cs typeface="Calibri"/>
              </a:rPr>
              <a:t>it’s </a:t>
            </a:r>
            <a:r>
              <a:rPr dirty="0" sz="2200" spc="5" i="1">
                <a:solidFill>
                  <a:srgbClr val="F5F4F4"/>
                </a:solidFill>
                <a:latin typeface="Calibri"/>
                <a:cs typeface="Calibri"/>
              </a:rPr>
              <a:t>time </a:t>
            </a: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to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take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a </a:t>
            </a:r>
            <a:r>
              <a:rPr dirty="0" sz="2200" spc="45" i="1">
                <a:solidFill>
                  <a:srgbClr val="F5F4F4"/>
                </a:solidFill>
                <a:latin typeface="Calibri"/>
                <a:cs typeface="Calibri"/>
              </a:rPr>
              <a:t>closer </a:t>
            </a:r>
            <a:r>
              <a:rPr dirty="0" sz="2200" i="1">
                <a:solidFill>
                  <a:srgbClr val="F5F4F4"/>
                </a:solidFill>
                <a:latin typeface="Calibri"/>
                <a:cs typeface="Calibri"/>
              </a:rPr>
              <a:t>look  </a:t>
            </a:r>
            <a:r>
              <a:rPr dirty="0" sz="2200" spc="-35" i="1">
                <a:solidFill>
                  <a:srgbClr val="F5F4F4"/>
                </a:solidFill>
                <a:latin typeface="Calibri"/>
                <a:cs typeface="Calibri"/>
              </a:rPr>
              <a:t>at </a:t>
            </a:r>
            <a:r>
              <a:rPr dirty="0" sz="2200" spc="10" i="1">
                <a:solidFill>
                  <a:srgbClr val="F5F4F4"/>
                </a:solidFill>
                <a:latin typeface="Calibri"/>
                <a:cs typeface="Calibri"/>
              </a:rPr>
              <a:t>enterprise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cloud</a:t>
            </a:r>
            <a:r>
              <a:rPr dirty="0" sz="2200" spc="2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strategies!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53598" y="5210441"/>
            <a:ext cx="2085949" cy="1605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9300" y="4658095"/>
            <a:ext cx="2581910" cy="3633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race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getting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hotter;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Year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began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major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announcing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cuts.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responded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price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changes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announcing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platform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still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economical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company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blog.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rivalry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pricing? Deﬁnitely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not!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So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shapes 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strategy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pricing?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past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few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months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saw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high-proﬁle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make changes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strategy.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tell 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story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space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evolving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getting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storing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restricted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somebody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else’s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servers,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keeps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getting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secure.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8468095"/>
            <a:ext cx="256921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Let’s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pioneered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spent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last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decade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popularizing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concept 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world.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5364" y="3149600"/>
            <a:ext cx="3259836" cy="1961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43407" y="3329172"/>
            <a:ext cx="3167380" cy="1643380"/>
          </a:xfrm>
          <a:custGeom>
            <a:avLst/>
            <a:gdLst/>
            <a:ahLst/>
            <a:cxnLst/>
            <a:rect l="l" t="t" r="r" b="b"/>
            <a:pathLst>
              <a:path w="3167379" h="1643379">
                <a:moveTo>
                  <a:pt x="2782967" y="1636908"/>
                </a:moveTo>
                <a:lnTo>
                  <a:pt x="1975998" y="1636908"/>
                </a:lnTo>
                <a:lnTo>
                  <a:pt x="2531421" y="1643346"/>
                </a:lnTo>
                <a:lnTo>
                  <a:pt x="2632361" y="1642303"/>
                </a:lnTo>
                <a:lnTo>
                  <a:pt x="2682730" y="1641079"/>
                </a:lnTo>
                <a:lnTo>
                  <a:pt x="2733013" y="1639302"/>
                </a:lnTo>
                <a:lnTo>
                  <a:pt x="2782967" y="1636908"/>
                </a:lnTo>
                <a:close/>
              </a:path>
              <a:path w="3167379" h="1643379">
                <a:moveTo>
                  <a:pt x="582422" y="565324"/>
                </a:moveTo>
                <a:lnTo>
                  <a:pt x="505796" y="571063"/>
                </a:lnTo>
                <a:lnTo>
                  <a:pt x="459034" y="579558"/>
                </a:lnTo>
                <a:lnTo>
                  <a:pt x="413709" y="591624"/>
                </a:lnTo>
                <a:lnTo>
                  <a:pt x="369963" y="607100"/>
                </a:lnTo>
                <a:lnTo>
                  <a:pt x="327938" y="625827"/>
                </a:lnTo>
                <a:lnTo>
                  <a:pt x="287776" y="647645"/>
                </a:lnTo>
                <a:lnTo>
                  <a:pt x="249620" y="672393"/>
                </a:lnTo>
                <a:lnTo>
                  <a:pt x="213613" y="699912"/>
                </a:lnTo>
                <a:lnTo>
                  <a:pt x="179895" y="730041"/>
                </a:lnTo>
                <a:lnTo>
                  <a:pt x="148611" y="762621"/>
                </a:lnTo>
                <a:lnTo>
                  <a:pt x="119901" y="797491"/>
                </a:lnTo>
                <a:lnTo>
                  <a:pt x="93909" y="834492"/>
                </a:lnTo>
                <a:lnTo>
                  <a:pt x="70776" y="873464"/>
                </a:lnTo>
                <a:lnTo>
                  <a:pt x="50645" y="914246"/>
                </a:lnTo>
                <a:lnTo>
                  <a:pt x="33658" y="956679"/>
                </a:lnTo>
                <a:lnTo>
                  <a:pt x="19958" y="1000602"/>
                </a:lnTo>
                <a:lnTo>
                  <a:pt x="9687" y="1045856"/>
                </a:lnTo>
                <a:lnTo>
                  <a:pt x="2986" y="1092281"/>
                </a:lnTo>
                <a:lnTo>
                  <a:pt x="0" y="1139716"/>
                </a:lnTo>
                <a:lnTo>
                  <a:pt x="868" y="1188001"/>
                </a:lnTo>
                <a:lnTo>
                  <a:pt x="5913" y="1240360"/>
                </a:lnTo>
                <a:lnTo>
                  <a:pt x="14900" y="1291606"/>
                </a:lnTo>
                <a:lnTo>
                  <a:pt x="27885" y="1341302"/>
                </a:lnTo>
                <a:lnTo>
                  <a:pt x="44921" y="1389010"/>
                </a:lnTo>
                <a:lnTo>
                  <a:pt x="66065" y="1434292"/>
                </a:lnTo>
                <a:lnTo>
                  <a:pt x="91369" y="1476709"/>
                </a:lnTo>
                <a:lnTo>
                  <a:pt x="120889" y="1515823"/>
                </a:lnTo>
                <a:lnTo>
                  <a:pt x="154678" y="1551196"/>
                </a:lnTo>
                <a:lnTo>
                  <a:pt x="218201" y="1607349"/>
                </a:lnTo>
                <a:lnTo>
                  <a:pt x="269099" y="1634995"/>
                </a:lnTo>
                <a:lnTo>
                  <a:pt x="334122" y="1642170"/>
                </a:lnTo>
                <a:lnTo>
                  <a:pt x="440022" y="1636908"/>
                </a:lnTo>
                <a:lnTo>
                  <a:pt x="2782967" y="1636908"/>
                </a:lnTo>
                <a:lnTo>
                  <a:pt x="2828165" y="1632654"/>
                </a:lnTo>
                <a:lnTo>
                  <a:pt x="2867121" y="1625667"/>
                </a:lnTo>
                <a:lnTo>
                  <a:pt x="2937538" y="1603573"/>
                </a:lnTo>
                <a:lnTo>
                  <a:pt x="2998132" y="1571666"/>
                </a:lnTo>
                <a:lnTo>
                  <a:pt x="3049108" y="1531161"/>
                </a:lnTo>
                <a:lnTo>
                  <a:pt x="3090670" y="1483276"/>
                </a:lnTo>
                <a:lnTo>
                  <a:pt x="3123021" y="1429230"/>
                </a:lnTo>
                <a:lnTo>
                  <a:pt x="3146367" y="1370237"/>
                </a:lnTo>
                <a:lnTo>
                  <a:pt x="3160910" y="1307517"/>
                </a:lnTo>
                <a:lnTo>
                  <a:pt x="3166856" y="1242285"/>
                </a:lnTo>
                <a:lnTo>
                  <a:pt x="3166669" y="1209107"/>
                </a:lnTo>
                <a:lnTo>
                  <a:pt x="3160101" y="1142391"/>
                </a:lnTo>
                <a:lnTo>
                  <a:pt x="3145446" y="1076206"/>
                </a:lnTo>
                <a:lnTo>
                  <a:pt x="3122908" y="1011769"/>
                </a:lnTo>
                <a:lnTo>
                  <a:pt x="3092692" y="950299"/>
                </a:lnTo>
                <a:lnTo>
                  <a:pt x="3055000" y="893011"/>
                </a:lnTo>
                <a:lnTo>
                  <a:pt x="3010038" y="841124"/>
                </a:lnTo>
                <a:lnTo>
                  <a:pt x="2958010" y="795853"/>
                </a:lnTo>
                <a:lnTo>
                  <a:pt x="2899119" y="758417"/>
                </a:lnTo>
                <a:lnTo>
                  <a:pt x="2833570" y="730033"/>
                </a:lnTo>
                <a:lnTo>
                  <a:pt x="2761568" y="711917"/>
                </a:lnTo>
                <a:lnTo>
                  <a:pt x="2723210" y="707090"/>
                </a:lnTo>
                <a:lnTo>
                  <a:pt x="2713671" y="706658"/>
                </a:lnTo>
                <a:lnTo>
                  <a:pt x="2641910" y="706658"/>
                </a:lnTo>
                <a:lnTo>
                  <a:pt x="2642616" y="654184"/>
                </a:lnTo>
                <a:lnTo>
                  <a:pt x="2637561" y="604655"/>
                </a:lnTo>
                <a:lnTo>
                  <a:pt x="2629907" y="570451"/>
                </a:lnTo>
                <a:lnTo>
                  <a:pt x="666361" y="570451"/>
                </a:lnTo>
                <a:lnTo>
                  <a:pt x="638705" y="567432"/>
                </a:lnTo>
                <a:lnTo>
                  <a:pt x="610716" y="565712"/>
                </a:lnTo>
                <a:lnTo>
                  <a:pt x="582422" y="565324"/>
                </a:lnTo>
                <a:close/>
              </a:path>
              <a:path w="3167379" h="1643379">
                <a:moveTo>
                  <a:pt x="2683316" y="705286"/>
                </a:moveTo>
                <a:lnTo>
                  <a:pt x="2641910" y="706658"/>
                </a:lnTo>
                <a:lnTo>
                  <a:pt x="2713671" y="706658"/>
                </a:lnTo>
                <a:lnTo>
                  <a:pt x="2683316" y="705286"/>
                </a:lnTo>
                <a:close/>
              </a:path>
              <a:path w="3167379" h="1643379">
                <a:moveTo>
                  <a:pt x="1393811" y="0"/>
                </a:moveTo>
                <a:lnTo>
                  <a:pt x="1340769" y="1389"/>
                </a:lnTo>
                <a:lnTo>
                  <a:pt x="1288135" y="6167"/>
                </a:lnTo>
                <a:lnTo>
                  <a:pt x="1236733" y="14191"/>
                </a:lnTo>
                <a:lnTo>
                  <a:pt x="1186690" y="25336"/>
                </a:lnTo>
                <a:lnTo>
                  <a:pt x="1138133" y="39476"/>
                </a:lnTo>
                <a:lnTo>
                  <a:pt x="1091187" y="56485"/>
                </a:lnTo>
                <a:lnTo>
                  <a:pt x="1045980" y="76237"/>
                </a:lnTo>
                <a:lnTo>
                  <a:pt x="1002637" y="98608"/>
                </a:lnTo>
                <a:lnTo>
                  <a:pt x="961285" y="123470"/>
                </a:lnTo>
                <a:lnTo>
                  <a:pt x="922051" y="150699"/>
                </a:lnTo>
                <a:lnTo>
                  <a:pt x="885060" y="180169"/>
                </a:lnTo>
                <a:lnTo>
                  <a:pt x="850439" y="211753"/>
                </a:lnTo>
                <a:lnTo>
                  <a:pt x="818315" y="245327"/>
                </a:lnTo>
                <a:lnTo>
                  <a:pt x="788813" y="280765"/>
                </a:lnTo>
                <a:lnTo>
                  <a:pt x="762061" y="317941"/>
                </a:lnTo>
                <a:lnTo>
                  <a:pt x="738185" y="356728"/>
                </a:lnTo>
                <a:lnTo>
                  <a:pt x="717311" y="397003"/>
                </a:lnTo>
                <a:lnTo>
                  <a:pt x="699565" y="438638"/>
                </a:lnTo>
                <a:lnTo>
                  <a:pt x="685073" y="481508"/>
                </a:lnTo>
                <a:lnTo>
                  <a:pt x="673963" y="525488"/>
                </a:lnTo>
                <a:lnTo>
                  <a:pt x="666361" y="570451"/>
                </a:lnTo>
                <a:lnTo>
                  <a:pt x="2629907" y="570451"/>
                </a:lnTo>
                <a:lnTo>
                  <a:pt x="2611774" y="514628"/>
                </a:lnTo>
                <a:lnTo>
                  <a:pt x="2591844" y="474232"/>
                </a:lnTo>
                <a:lnTo>
                  <a:pt x="2567757" y="436980"/>
                </a:lnTo>
                <a:lnTo>
                  <a:pt x="2539915" y="402924"/>
                </a:lnTo>
                <a:lnTo>
                  <a:pt x="2508718" y="372113"/>
                </a:lnTo>
                <a:lnTo>
                  <a:pt x="2474569" y="344597"/>
                </a:lnTo>
                <a:lnTo>
                  <a:pt x="2437867" y="320427"/>
                </a:lnTo>
                <a:lnTo>
                  <a:pt x="2399015" y="299653"/>
                </a:lnTo>
                <a:lnTo>
                  <a:pt x="1982284" y="286250"/>
                </a:lnTo>
                <a:lnTo>
                  <a:pt x="1954094" y="250259"/>
                </a:lnTo>
                <a:lnTo>
                  <a:pt x="1923206" y="216214"/>
                </a:lnTo>
                <a:lnTo>
                  <a:pt x="1889764" y="184226"/>
                </a:lnTo>
                <a:lnTo>
                  <a:pt x="1853907" y="154407"/>
                </a:lnTo>
                <a:lnTo>
                  <a:pt x="1815779" y="126867"/>
                </a:lnTo>
                <a:lnTo>
                  <a:pt x="1775522" y="101719"/>
                </a:lnTo>
                <a:lnTo>
                  <a:pt x="1733276" y="79074"/>
                </a:lnTo>
                <a:lnTo>
                  <a:pt x="1689184" y="59043"/>
                </a:lnTo>
                <a:lnTo>
                  <a:pt x="1643388" y="41738"/>
                </a:lnTo>
                <a:lnTo>
                  <a:pt x="1596030" y="27270"/>
                </a:lnTo>
                <a:lnTo>
                  <a:pt x="1547252" y="15751"/>
                </a:lnTo>
                <a:lnTo>
                  <a:pt x="1497194" y="7292"/>
                </a:lnTo>
                <a:lnTo>
                  <a:pt x="1446000" y="2004"/>
                </a:lnTo>
                <a:lnTo>
                  <a:pt x="1393811" y="0"/>
                </a:lnTo>
                <a:close/>
              </a:path>
              <a:path w="3167379" h="1643379">
                <a:moveTo>
                  <a:pt x="2186528" y="248474"/>
                </a:moveTo>
                <a:lnTo>
                  <a:pt x="2143193" y="249128"/>
                </a:lnTo>
                <a:lnTo>
                  <a:pt x="2101026" y="253409"/>
                </a:lnTo>
                <a:lnTo>
                  <a:pt x="2060067" y="261141"/>
                </a:lnTo>
                <a:lnTo>
                  <a:pt x="2020444" y="272147"/>
                </a:lnTo>
                <a:lnTo>
                  <a:pt x="1982284" y="286250"/>
                </a:lnTo>
                <a:lnTo>
                  <a:pt x="2367611" y="286250"/>
                </a:lnTo>
                <a:lnTo>
                  <a:pt x="2316462" y="268493"/>
                </a:lnTo>
                <a:lnTo>
                  <a:pt x="2273563" y="258207"/>
                </a:lnTo>
                <a:lnTo>
                  <a:pt x="2230118" y="251517"/>
                </a:lnTo>
                <a:lnTo>
                  <a:pt x="2186528" y="248474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05719" y="4080408"/>
            <a:ext cx="2198522" cy="1237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61828" y="4194314"/>
            <a:ext cx="1997710" cy="1036319"/>
          </a:xfrm>
          <a:custGeom>
            <a:avLst/>
            <a:gdLst/>
            <a:ahLst/>
            <a:cxnLst/>
            <a:rect l="l" t="t" r="r" b="b"/>
            <a:pathLst>
              <a:path w="1997710" h="1036320">
                <a:moveTo>
                  <a:pt x="1755432" y="1032155"/>
                </a:moveTo>
                <a:lnTo>
                  <a:pt x="1246162" y="1032155"/>
                </a:lnTo>
                <a:lnTo>
                  <a:pt x="1602958" y="1036198"/>
                </a:lnTo>
                <a:lnTo>
                  <a:pt x="1653906" y="1035676"/>
                </a:lnTo>
                <a:lnTo>
                  <a:pt x="1704742" y="1034383"/>
                </a:lnTo>
                <a:lnTo>
                  <a:pt x="1755432" y="1032155"/>
                </a:lnTo>
                <a:close/>
              </a:path>
              <a:path w="1997710" h="1036320">
                <a:moveTo>
                  <a:pt x="366919" y="356061"/>
                </a:moveTo>
                <a:lnTo>
                  <a:pt x="302579" y="362287"/>
                </a:lnTo>
                <a:lnTo>
                  <a:pt x="258312" y="373336"/>
                </a:lnTo>
                <a:lnTo>
                  <a:pt x="216420" y="389460"/>
                </a:lnTo>
                <a:lnTo>
                  <a:pt x="177228" y="410291"/>
                </a:lnTo>
                <a:lnTo>
                  <a:pt x="141065" y="435461"/>
                </a:lnTo>
                <a:lnTo>
                  <a:pt x="108257" y="464603"/>
                </a:lnTo>
                <a:lnTo>
                  <a:pt x="79130" y="497350"/>
                </a:lnTo>
                <a:lnTo>
                  <a:pt x="54013" y="533333"/>
                </a:lnTo>
                <a:lnTo>
                  <a:pt x="33231" y="572185"/>
                </a:lnTo>
                <a:lnTo>
                  <a:pt x="17112" y="613538"/>
                </a:lnTo>
                <a:lnTo>
                  <a:pt x="5982" y="657026"/>
                </a:lnTo>
                <a:lnTo>
                  <a:pt x="169" y="702279"/>
                </a:lnTo>
                <a:lnTo>
                  <a:pt x="0" y="748932"/>
                </a:lnTo>
                <a:lnTo>
                  <a:pt x="6282" y="801469"/>
                </a:lnTo>
                <a:lnTo>
                  <a:pt x="18988" y="851784"/>
                </a:lnTo>
                <a:lnTo>
                  <a:pt x="38257" y="898744"/>
                </a:lnTo>
                <a:lnTo>
                  <a:pt x="64228" y="941220"/>
                </a:lnTo>
                <a:lnTo>
                  <a:pt x="97040" y="978078"/>
                </a:lnTo>
                <a:lnTo>
                  <a:pt x="137115" y="1013506"/>
                </a:lnTo>
                <a:lnTo>
                  <a:pt x="210249" y="1035474"/>
                </a:lnTo>
                <a:lnTo>
                  <a:pt x="277063" y="1032155"/>
                </a:lnTo>
                <a:lnTo>
                  <a:pt x="1755432" y="1032155"/>
                </a:lnTo>
                <a:lnTo>
                  <a:pt x="1797654" y="1027240"/>
                </a:lnTo>
                <a:lnTo>
                  <a:pt x="1866234" y="1005061"/>
                </a:lnTo>
                <a:lnTo>
                  <a:pt x="1919922" y="968518"/>
                </a:lnTo>
                <a:lnTo>
                  <a:pt x="1959203" y="920502"/>
                </a:lnTo>
                <a:lnTo>
                  <a:pt x="1984562" y="863904"/>
                </a:lnTo>
                <a:lnTo>
                  <a:pt x="1996483" y="801614"/>
                </a:lnTo>
                <a:lnTo>
                  <a:pt x="1997557" y="769238"/>
                </a:lnTo>
                <a:lnTo>
                  <a:pt x="1995453" y="736522"/>
                </a:lnTo>
                <a:lnTo>
                  <a:pt x="1981954" y="671520"/>
                </a:lnTo>
                <a:lnTo>
                  <a:pt x="1956473" y="609496"/>
                </a:lnTo>
                <a:lnTo>
                  <a:pt x="1919493" y="553343"/>
                </a:lnTo>
                <a:lnTo>
                  <a:pt x="1871501" y="505950"/>
                </a:lnTo>
                <a:lnTo>
                  <a:pt x="1812979" y="470207"/>
                </a:lnTo>
                <a:lnTo>
                  <a:pt x="1744414" y="449006"/>
                </a:lnTo>
                <a:lnTo>
                  <a:pt x="1710756" y="445237"/>
                </a:lnTo>
                <a:lnTo>
                  <a:pt x="1666290" y="445237"/>
                </a:lnTo>
                <a:lnTo>
                  <a:pt x="1665430" y="394852"/>
                </a:lnTo>
                <a:lnTo>
                  <a:pt x="1658295" y="359296"/>
                </a:lnTo>
                <a:lnTo>
                  <a:pt x="419874" y="359296"/>
                </a:lnTo>
                <a:lnTo>
                  <a:pt x="402427" y="357392"/>
                </a:lnTo>
                <a:lnTo>
                  <a:pt x="384770" y="356307"/>
                </a:lnTo>
                <a:lnTo>
                  <a:pt x="366919" y="356061"/>
                </a:lnTo>
                <a:close/>
              </a:path>
              <a:path w="1997710" h="1036320">
                <a:moveTo>
                  <a:pt x="1706517" y="444762"/>
                </a:moveTo>
                <a:lnTo>
                  <a:pt x="1666290" y="445237"/>
                </a:lnTo>
                <a:lnTo>
                  <a:pt x="1710756" y="445237"/>
                </a:lnTo>
                <a:lnTo>
                  <a:pt x="1706517" y="444762"/>
                </a:lnTo>
                <a:close/>
              </a:path>
              <a:path w="1997710" h="1036320">
                <a:moveTo>
                  <a:pt x="900855" y="0"/>
                </a:moveTo>
                <a:lnTo>
                  <a:pt x="845375" y="267"/>
                </a:lnTo>
                <a:lnTo>
                  <a:pt x="794601" y="5758"/>
                </a:lnTo>
                <a:lnTo>
                  <a:pt x="745769" y="15996"/>
                </a:lnTo>
                <a:lnTo>
                  <a:pt x="699171" y="30692"/>
                </a:lnTo>
                <a:lnTo>
                  <a:pt x="655096" y="49557"/>
                </a:lnTo>
                <a:lnTo>
                  <a:pt x="613835" y="72302"/>
                </a:lnTo>
                <a:lnTo>
                  <a:pt x="575677" y="98639"/>
                </a:lnTo>
                <a:lnTo>
                  <a:pt x="540914" y="128278"/>
                </a:lnTo>
                <a:lnTo>
                  <a:pt x="509836" y="160931"/>
                </a:lnTo>
                <a:lnTo>
                  <a:pt x="482733" y="196309"/>
                </a:lnTo>
                <a:lnTo>
                  <a:pt x="459894" y="234124"/>
                </a:lnTo>
                <a:lnTo>
                  <a:pt x="441612" y="274085"/>
                </a:lnTo>
                <a:lnTo>
                  <a:pt x="428175" y="315906"/>
                </a:lnTo>
                <a:lnTo>
                  <a:pt x="419874" y="359296"/>
                </a:lnTo>
                <a:lnTo>
                  <a:pt x="1658295" y="359296"/>
                </a:lnTo>
                <a:lnTo>
                  <a:pt x="1639590" y="307632"/>
                </a:lnTo>
                <a:lnTo>
                  <a:pt x="1616479" y="271032"/>
                </a:lnTo>
                <a:lnTo>
                  <a:pt x="1587819" y="239259"/>
                </a:lnTo>
                <a:lnTo>
                  <a:pt x="1554545" y="212432"/>
                </a:lnTo>
                <a:lnTo>
                  <a:pt x="1517590" y="190667"/>
                </a:lnTo>
                <a:lnTo>
                  <a:pt x="1250124" y="179997"/>
                </a:lnTo>
                <a:lnTo>
                  <a:pt x="1219528" y="142827"/>
                </a:lnTo>
                <a:lnTo>
                  <a:pt x="1184371" y="109197"/>
                </a:lnTo>
                <a:lnTo>
                  <a:pt x="1145068" y="79434"/>
                </a:lnTo>
                <a:lnTo>
                  <a:pt x="1102032" y="53862"/>
                </a:lnTo>
                <a:lnTo>
                  <a:pt x="1055678" y="32808"/>
                </a:lnTo>
                <a:lnTo>
                  <a:pt x="1006421" y="16595"/>
                </a:lnTo>
                <a:lnTo>
                  <a:pt x="954676" y="5551"/>
                </a:lnTo>
                <a:lnTo>
                  <a:pt x="900855" y="0"/>
                </a:lnTo>
                <a:close/>
              </a:path>
              <a:path w="1997710" h="1036320">
                <a:moveTo>
                  <a:pt x="1351648" y="156566"/>
                </a:moveTo>
                <a:lnTo>
                  <a:pt x="1325039" y="159271"/>
                </a:lnTo>
                <a:lnTo>
                  <a:pt x="1299195" y="164152"/>
                </a:lnTo>
                <a:lnTo>
                  <a:pt x="1274197" y="171098"/>
                </a:lnTo>
                <a:lnTo>
                  <a:pt x="1250124" y="179997"/>
                </a:lnTo>
                <a:lnTo>
                  <a:pt x="1492050" y="179997"/>
                </a:lnTo>
                <a:lnTo>
                  <a:pt x="1477889" y="174081"/>
                </a:lnTo>
                <a:lnTo>
                  <a:pt x="1436375" y="162791"/>
                </a:lnTo>
                <a:lnTo>
                  <a:pt x="1393984" y="156914"/>
                </a:lnTo>
                <a:lnTo>
                  <a:pt x="1351648" y="1565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22420" y="7206071"/>
            <a:ext cx="2510155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Web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(AWS)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release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schedule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that’s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enviable!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rolls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services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millions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 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year.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proﬁle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Spotify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shifting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generated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debate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recent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months.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145"/>
              </a:spcBef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20"/>
              <a:t> </a:t>
            </a:r>
            <a:fld id="{81D60167-4931-47E6-BA6A-407CBD079E47}" type="slidenum">
              <a:rPr dirty="0" spc="10"/>
              <a:t>08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76349"/>
            <a:ext cx="2569210" cy="296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From</a:t>
            </a:r>
            <a:r>
              <a:rPr dirty="0" sz="1850" spc="-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a</a:t>
            </a:r>
            <a:r>
              <a:rPr dirty="0" sz="1850" spc="-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Trickle</a:t>
            </a:r>
            <a:r>
              <a:rPr dirty="0" sz="1850" spc="-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850" spc="-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a</a:t>
            </a:r>
            <a:r>
              <a:rPr dirty="0" sz="1850" spc="-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Roar</a:t>
            </a:r>
            <a:endParaRPr sz="1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1973823"/>
            <a:ext cx="2585720" cy="1918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Spotify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announced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plans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migrate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Platform,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left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everyone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baffled.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company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often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cited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reference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What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dismissed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one-off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supporters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turned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headache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reports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following spotify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surfaced.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4093621"/>
            <a:ext cx="2597150" cy="2019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-65">
                <a:solidFill>
                  <a:srgbClr val="2C99CF"/>
                </a:solidFill>
                <a:latin typeface="Arial"/>
                <a:cs typeface="Arial"/>
              </a:rPr>
              <a:t>So,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are </a:t>
            </a:r>
            <a:r>
              <a:rPr dirty="0" sz="1850" spc="-75">
                <a:solidFill>
                  <a:srgbClr val="2C99CF"/>
                </a:solidFill>
                <a:latin typeface="Arial"/>
                <a:cs typeface="Arial"/>
              </a:rPr>
              <a:t>AWS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users</a:t>
            </a:r>
            <a:r>
              <a:rPr dirty="0" sz="1850" spc="-12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really 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looking </a:t>
            </a:r>
            <a:r>
              <a:rPr dirty="0" sz="1850" spc="55">
                <a:solidFill>
                  <a:srgbClr val="2C99CF"/>
                </a:solidFill>
                <a:latin typeface="Arial"/>
                <a:cs typeface="Arial"/>
              </a:rPr>
              <a:t>for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better 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host?</a:t>
            </a:r>
            <a:endParaRPr sz="1850">
              <a:latin typeface="Arial"/>
              <a:cs typeface="Arial"/>
            </a:endParaRPr>
          </a:p>
          <a:p>
            <a:pPr marL="12700" marR="146685">
              <a:lnSpc>
                <a:spcPct val="104200"/>
              </a:lnSpc>
              <a:spcBef>
                <a:spcPts val="1310"/>
              </a:spcBef>
            </a:pP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really,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unless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believe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overexcited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folks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twitter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who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see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beginning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dominance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market.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6254750"/>
            <a:ext cx="2835910" cy="266192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12065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0"/>
              </a:spcBef>
            </a:pPr>
            <a:r>
              <a:rPr dirty="0" sz="1400">
                <a:solidFill>
                  <a:srgbClr val="5D5E5E"/>
                </a:solidFill>
                <a:latin typeface="Arial"/>
                <a:cs typeface="Arial"/>
              </a:rPr>
              <a:t>Let’s </a:t>
            </a:r>
            <a:r>
              <a:rPr dirty="0" sz="1400" spc="15">
                <a:solidFill>
                  <a:srgbClr val="5D5E5E"/>
                </a:solidFill>
                <a:latin typeface="Arial"/>
                <a:cs typeface="Arial"/>
              </a:rPr>
              <a:t>take </a:t>
            </a:r>
            <a:r>
              <a:rPr dirty="0" sz="1400" spc="-10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1400" spc="20">
                <a:solidFill>
                  <a:srgbClr val="5D5E5E"/>
                </a:solidFill>
                <a:latin typeface="Arial"/>
                <a:cs typeface="Arial"/>
              </a:rPr>
              <a:t>reality</a:t>
            </a:r>
            <a:r>
              <a:rPr dirty="0" sz="1400" spc="-235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400" spc="15">
                <a:solidFill>
                  <a:srgbClr val="5D5E5E"/>
                </a:solidFill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220979" marR="323850">
              <a:lnSpc>
                <a:spcPct val="116700"/>
              </a:lnSpc>
              <a:spcBef>
                <a:spcPts val="400"/>
              </a:spcBef>
              <a:buAutoNum type="arabicPeriod"/>
              <a:tabLst>
                <a:tab pos="346075" algn="l"/>
              </a:tabLst>
            </a:pP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Dropbox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reduced </a:t>
            </a:r>
            <a:r>
              <a:rPr dirty="0" sz="1000" spc="15" i="1">
                <a:solidFill>
                  <a:srgbClr val="5D5E5E"/>
                </a:solidFill>
                <a:latin typeface="Calibri"/>
                <a:cs typeface="Calibri"/>
              </a:rPr>
              <a:t>its </a:t>
            </a:r>
            <a:r>
              <a:rPr dirty="0" sz="1000" spc="30" i="1">
                <a:solidFill>
                  <a:srgbClr val="5D5E5E"/>
                </a:solidFill>
                <a:latin typeface="Calibri"/>
                <a:cs typeface="Calibri"/>
              </a:rPr>
              <a:t>use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of Amazon’s 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storage </a:t>
            </a:r>
            <a:r>
              <a:rPr dirty="0" sz="1000" spc="20" i="1">
                <a:solidFill>
                  <a:srgbClr val="5D5E5E"/>
                </a:solidFill>
                <a:latin typeface="Calibri"/>
                <a:cs typeface="Calibri"/>
              </a:rPr>
              <a:t>service (s3) </a:t>
            </a:r>
            <a:r>
              <a:rPr dirty="0" sz="1000" spc="35" i="1">
                <a:solidFill>
                  <a:srgbClr val="5D5E5E"/>
                </a:solidFill>
                <a:latin typeface="Calibri"/>
                <a:cs typeface="Calibri"/>
              </a:rPr>
              <a:t>as </a:t>
            </a:r>
            <a:r>
              <a:rPr dirty="0" sz="1000" spc="-20" i="1">
                <a:solidFill>
                  <a:srgbClr val="5D5E5E"/>
                </a:solidFill>
                <a:latin typeface="Calibri"/>
                <a:cs typeface="Calibri"/>
              </a:rPr>
              <a:t>it </a:t>
            </a:r>
            <a:r>
              <a:rPr dirty="0" sz="1000" spc="25" i="1">
                <a:solidFill>
                  <a:srgbClr val="5D5E5E"/>
                </a:solidFill>
                <a:latin typeface="Calibri"/>
                <a:cs typeface="Calibri"/>
              </a:rPr>
              <a:t>was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pursuing </a:t>
            </a:r>
            <a:r>
              <a:rPr dirty="0" sz="1000" spc="-5" i="1">
                <a:solidFill>
                  <a:srgbClr val="5D5E5E"/>
                </a:solidFill>
                <a:latin typeface="Calibri"/>
                <a:cs typeface="Calibri"/>
              </a:rPr>
              <a:t>an 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on-premise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cloud </a:t>
            </a:r>
            <a:r>
              <a:rPr dirty="0" sz="1000" spc="-15" i="1">
                <a:solidFill>
                  <a:srgbClr val="5D5E5E"/>
                </a:solidFill>
                <a:latin typeface="Calibri"/>
                <a:cs typeface="Calibri"/>
              </a:rPr>
              <a:t>strategy,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which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would 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require </a:t>
            </a:r>
            <a:r>
              <a:rPr dirty="0" sz="1000" spc="25" i="1">
                <a:solidFill>
                  <a:srgbClr val="5D5E5E"/>
                </a:solidFill>
                <a:latin typeface="Calibri"/>
                <a:cs typeface="Calibri"/>
              </a:rPr>
              <a:t>most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of </a:t>
            </a:r>
            <a:r>
              <a:rPr dirty="0" sz="1000" spc="-20" i="1">
                <a:solidFill>
                  <a:srgbClr val="5D5E5E"/>
                </a:solidFill>
                <a:latin typeface="Calibri"/>
                <a:cs typeface="Calibri"/>
              </a:rPr>
              <a:t>it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users’ </a:t>
            </a:r>
            <a:r>
              <a:rPr dirty="0" sz="1000" spc="-15" i="1">
                <a:solidFill>
                  <a:srgbClr val="5D5E5E"/>
                </a:solidFill>
                <a:latin typeface="Calibri"/>
                <a:cs typeface="Calibri"/>
              </a:rPr>
              <a:t>data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to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be stored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in 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in-house </a:t>
            </a:r>
            <a:r>
              <a:rPr dirty="0" sz="1000" spc="-15" i="1">
                <a:solidFill>
                  <a:srgbClr val="5D5E5E"/>
                </a:solidFill>
                <a:latin typeface="Calibri"/>
                <a:cs typeface="Calibri"/>
              </a:rPr>
              <a:t>data</a:t>
            </a:r>
            <a:r>
              <a:rPr dirty="0" sz="1000" spc="-65" i="1">
                <a:solidFill>
                  <a:srgbClr val="5D5E5E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centers.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D5E5E"/>
              </a:buClr>
              <a:buFont typeface="Calibri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20979" marR="412115">
              <a:lnSpc>
                <a:spcPct val="116700"/>
              </a:lnSpc>
              <a:spcBef>
                <a:spcPts val="5"/>
              </a:spcBef>
              <a:buAutoNum type="arabicPeriod"/>
              <a:tabLst>
                <a:tab pos="346075" algn="l"/>
              </a:tabLst>
            </a:pP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Apple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may </a:t>
            </a:r>
            <a:r>
              <a:rPr dirty="0" sz="1000" spc="-5" i="1">
                <a:solidFill>
                  <a:srgbClr val="5D5E5E"/>
                </a:solidFill>
                <a:latin typeface="Calibri"/>
                <a:cs typeface="Calibri"/>
              </a:rPr>
              <a:t>have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shifted </a:t>
            </a:r>
            <a:r>
              <a:rPr dirty="0" sz="1000" spc="30" i="1">
                <a:solidFill>
                  <a:srgbClr val="5D5E5E"/>
                </a:solidFill>
                <a:latin typeface="Calibri"/>
                <a:cs typeface="Calibri"/>
              </a:rPr>
              <a:t>some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of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its 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workloads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to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Google </a:t>
            </a:r>
            <a:r>
              <a:rPr dirty="0" sz="1000" spc="15" i="1">
                <a:solidFill>
                  <a:srgbClr val="5D5E5E"/>
                </a:solidFill>
                <a:latin typeface="Calibri"/>
                <a:cs typeface="Calibri"/>
              </a:rPr>
              <a:t>Cloud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Platform </a:t>
            </a:r>
            <a:r>
              <a:rPr dirty="0" sz="1000" spc="-5" i="1">
                <a:solidFill>
                  <a:srgbClr val="5D5E5E"/>
                </a:solidFill>
                <a:latin typeface="Calibri"/>
                <a:cs typeface="Calibri"/>
              </a:rPr>
              <a:t>but </a:t>
            </a:r>
            <a:r>
              <a:rPr dirty="0" sz="1000" spc="-25" i="1">
                <a:solidFill>
                  <a:srgbClr val="5D5E5E"/>
                </a:solidFill>
                <a:latin typeface="Calibri"/>
                <a:cs typeface="Calibri"/>
              </a:rPr>
              <a:t>it 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still </a:t>
            </a:r>
            <a:r>
              <a:rPr dirty="0" sz="1000" spc="15" i="1">
                <a:solidFill>
                  <a:srgbClr val="5D5E5E"/>
                </a:solidFill>
                <a:latin typeface="Calibri"/>
                <a:cs typeface="Calibri"/>
              </a:rPr>
              <a:t>continues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to </a:t>
            </a:r>
            <a:r>
              <a:rPr dirty="0" sz="1000" spc="30" i="1">
                <a:solidFill>
                  <a:srgbClr val="5D5E5E"/>
                </a:solidFill>
                <a:latin typeface="Calibri"/>
                <a:cs typeface="Calibri"/>
              </a:rPr>
              <a:t>use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AWS </a:t>
            </a:r>
            <a:r>
              <a:rPr dirty="0" sz="1000" spc="-15" i="1">
                <a:solidFill>
                  <a:srgbClr val="5D5E5E"/>
                </a:solidFill>
                <a:latin typeface="Calibri"/>
                <a:cs typeface="Calibri"/>
              </a:rPr>
              <a:t>too.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Apple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also  </a:t>
            </a:r>
            <a:r>
              <a:rPr dirty="0" sz="1000" spc="20" i="1">
                <a:solidFill>
                  <a:srgbClr val="5D5E5E"/>
                </a:solidFill>
                <a:latin typeface="Calibri"/>
                <a:cs typeface="Calibri"/>
              </a:rPr>
              <a:t>runs </a:t>
            </a:r>
            <a:r>
              <a:rPr dirty="0" sz="1000" spc="30" i="1">
                <a:solidFill>
                  <a:srgbClr val="5D5E5E"/>
                </a:solidFill>
                <a:latin typeface="Calibri"/>
                <a:cs typeface="Calibri"/>
              </a:rPr>
              <a:t>some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of </a:t>
            </a:r>
            <a:r>
              <a:rPr dirty="0" sz="1000" spc="15" i="1">
                <a:solidFill>
                  <a:srgbClr val="5D5E5E"/>
                </a:solidFill>
                <a:latin typeface="Calibri"/>
                <a:cs typeface="Calibri"/>
              </a:rPr>
              <a:t>its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operations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on Microsoft 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Azure </a:t>
            </a:r>
            <a:r>
              <a:rPr dirty="0" sz="1000" spc="5" i="1">
                <a:solidFill>
                  <a:srgbClr val="5D5E5E"/>
                </a:solidFill>
                <a:latin typeface="Calibri"/>
                <a:cs typeface="Calibri"/>
              </a:rPr>
              <a:t>cloud.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In </a:t>
            </a:r>
            <a:r>
              <a:rPr dirty="0" sz="1000" spc="-5" i="1">
                <a:solidFill>
                  <a:srgbClr val="5D5E5E"/>
                </a:solidFill>
                <a:latin typeface="Calibri"/>
                <a:cs typeface="Calibri"/>
              </a:rPr>
              <a:t>Apple’s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case, </a:t>
            </a:r>
            <a:r>
              <a:rPr dirty="0" sz="1000" spc="-20" i="1">
                <a:solidFill>
                  <a:srgbClr val="5D5E5E"/>
                </a:solidFill>
                <a:latin typeface="Calibri"/>
                <a:cs typeface="Calibri"/>
              </a:rPr>
              <a:t>it’s </a:t>
            </a:r>
            <a:r>
              <a:rPr dirty="0" sz="1000" spc="15" i="1">
                <a:solidFill>
                  <a:srgbClr val="5D5E5E"/>
                </a:solidFill>
                <a:latin typeface="Calibri"/>
                <a:cs typeface="Calibri"/>
              </a:rPr>
              <a:t>simply  </a:t>
            </a:r>
            <a:r>
              <a:rPr dirty="0" sz="1000" i="1">
                <a:solidFill>
                  <a:srgbClr val="5D5E5E"/>
                </a:solidFill>
                <a:latin typeface="Calibri"/>
                <a:cs typeface="Calibri"/>
              </a:rPr>
              <a:t>following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a multi-provider </a:t>
            </a:r>
            <a:r>
              <a:rPr dirty="0" sz="1000" spc="10" i="1">
                <a:solidFill>
                  <a:srgbClr val="5D5E5E"/>
                </a:solidFill>
                <a:latin typeface="Calibri"/>
                <a:cs typeface="Calibri"/>
              </a:rPr>
              <a:t>cloud</a:t>
            </a:r>
            <a:r>
              <a:rPr dirty="0" sz="1000" spc="20" i="1">
                <a:solidFill>
                  <a:srgbClr val="5D5E5E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5D5E5E"/>
                </a:solidFill>
                <a:latin typeface="Calibri"/>
                <a:cs typeface="Calibri"/>
              </a:rPr>
              <a:t>strategy.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27500" y="1433695"/>
            <a:ext cx="2611120" cy="37992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73025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What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is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driving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</a:t>
            </a:r>
            <a:r>
              <a:rPr dirty="0" sz="1850" spc="-3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shift 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in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2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strategies?</a:t>
            </a:r>
            <a:endParaRPr sz="1850">
              <a:latin typeface="Arial"/>
              <a:cs typeface="Arial"/>
            </a:endParaRPr>
          </a:p>
          <a:p>
            <a:pPr marL="12700" marR="137160">
              <a:lnSpc>
                <a:spcPct val="104200"/>
              </a:lnSpc>
              <a:spcBef>
                <a:spcPts val="115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proponents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marketed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paradigm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solution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all,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IT  challenges.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Moving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operations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off-premise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going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bring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savings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free enterprises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from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 lock-in.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Adoption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 imply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could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shift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part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rival vendors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delivering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value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cost,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performance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aspects. This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promise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computing.</a:t>
            </a:r>
            <a:endParaRPr sz="1200">
              <a:latin typeface="Arial"/>
              <a:cs typeface="Arial"/>
            </a:endParaRPr>
          </a:p>
          <a:p>
            <a:pPr marL="12700" marR="499745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seeing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promise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delivered.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145"/>
              </a:spcBef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20"/>
              <a:t> </a:t>
            </a:r>
            <a:fld id="{81D60167-4931-47E6-BA6A-407CBD079E47}" type="slidenum">
              <a:rPr dirty="0" spc="10"/>
              <a:t>08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3927500" y="5441154"/>
            <a:ext cx="2562225" cy="3774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38455">
              <a:lnSpc>
                <a:spcPct val="104800"/>
              </a:lnSpc>
            </a:pPr>
            <a:r>
              <a:rPr dirty="0" sz="1850" spc="-25">
                <a:solidFill>
                  <a:srgbClr val="2C99CF"/>
                </a:solidFill>
                <a:latin typeface="Arial"/>
                <a:cs typeface="Arial"/>
              </a:rPr>
              <a:t>Why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you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need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</a:t>
            </a:r>
            <a:r>
              <a:rPr dirty="0" sz="1850" spc="-25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5">
                <a:solidFill>
                  <a:srgbClr val="2C99CF"/>
                </a:solidFill>
                <a:latin typeface="Arial"/>
                <a:cs typeface="Arial"/>
              </a:rPr>
              <a:t>fluid 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1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strategy?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25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technology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decade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old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evolving.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space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accumulating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advantages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niche segments.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example, 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leveraging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strengths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processing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estab-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lish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dominance in big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seg-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ment.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small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might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that’s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having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edge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segment.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While  large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different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different product/service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lines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reasons.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Shifts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consumer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preferences,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laws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 marR="304800">
              <a:lnSpc>
                <a:spcPts val="1200"/>
              </a:lnSpc>
              <a:spcBef>
                <a:spcPts val="30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disruptive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innovations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capable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50418"/>
            <a:ext cx="5748020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engineering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change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strategy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unrelated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vendor-side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dynamics.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companies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experimenting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supplier 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strategy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ﬁgure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best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vendor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mix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product/service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matrix.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Therefore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it’s  pointless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discuss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strategies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absolute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terms.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operate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cloud,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might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be.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Similarly,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multiple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vendors servicing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different product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 lines.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reality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is,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ﬁrms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keeping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cloud strategy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fluid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respond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changes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environments.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fluid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strategy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positive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impact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ecosystem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pushes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providers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innovate.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4059059"/>
            <a:ext cx="5807075" cy="1691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375920" marR="370840" indent="-635">
              <a:lnSpc>
                <a:spcPct val="100000"/>
              </a:lnSpc>
            </a:pPr>
            <a:r>
              <a:rPr dirty="0" sz="2200" spc="20" i="1">
                <a:solidFill>
                  <a:srgbClr val="2C99CF"/>
                </a:solidFill>
                <a:latin typeface="Calibri"/>
                <a:cs typeface="Calibri"/>
              </a:rPr>
              <a:t>But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one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thing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is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certain, </a:t>
            </a:r>
            <a:r>
              <a:rPr dirty="0" sz="2200" spc="85" i="1">
                <a:solidFill>
                  <a:srgbClr val="2C99CF"/>
                </a:solidFill>
                <a:latin typeface="Calibri"/>
                <a:cs typeface="Calibri"/>
              </a:rPr>
              <a:t>as </a:t>
            </a:r>
            <a:r>
              <a:rPr dirty="0" sz="2200" spc="45" i="1">
                <a:solidFill>
                  <a:srgbClr val="2C99CF"/>
                </a:solidFill>
                <a:latin typeface="Calibri"/>
                <a:cs typeface="Calibri"/>
              </a:rPr>
              <a:t>prices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  </a:t>
            </a:r>
            <a:r>
              <a:rPr dirty="0" sz="2200" spc="60" i="1">
                <a:solidFill>
                  <a:srgbClr val="2C99CF"/>
                </a:solidFill>
                <a:latin typeface="Calibri"/>
                <a:cs typeface="Calibri"/>
              </a:rPr>
              <a:t>services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continue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drop and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providers</a:t>
            </a:r>
            <a:r>
              <a:rPr dirty="0" sz="2200" spc="2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add</a:t>
            </a:r>
            <a:endParaRPr sz="2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more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functionality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and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features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their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200" spc="-35" i="1">
                <a:solidFill>
                  <a:srgbClr val="2C99CF"/>
                </a:solidFill>
                <a:latin typeface="Calibri"/>
                <a:cs typeface="Calibri"/>
              </a:rPr>
              <a:t>plat-  </a:t>
            </a:r>
            <a:r>
              <a:rPr dirty="0" sz="2200" spc="50" i="1">
                <a:solidFill>
                  <a:srgbClr val="2C99CF"/>
                </a:solidFill>
                <a:latin typeface="Calibri"/>
                <a:cs typeface="Calibri"/>
              </a:rPr>
              <a:t>forms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we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200" spc="70" i="1">
                <a:solidFill>
                  <a:srgbClr val="2C99CF"/>
                </a:solidFill>
                <a:latin typeface="Calibri"/>
                <a:cs typeface="Calibri"/>
              </a:rPr>
              <a:t>see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greater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adoption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ser-  </a:t>
            </a:r>
            <a:r>
              <a:rPr dirty="0" sz="2200" spc="75" i="1">
                <a:solidFill>
                  <a:srgbClr val="2C99CF"/>
                </a:solidFill>
                <a:latin typeface="Calibri"/>
                <a:cs typeface="Calibri"/>
              </a:rPr>
              <a:t>vices 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in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</a:t>
            </a:r>
            <a:r>
              <a:rPr dirty="0" sz="2200" spc="-9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future.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24592" y="9469677"/>
            <a:ext cx="262826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0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5">
                <a:solidFill>
                  <a:srgbClr val="5D5E5E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00" y="2080399"/>
            <a:ext cx="5046980" cy="1887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200" spc="15">
                <a:solidFill>
                  <a:srgbClr val="F5F4F4"/>
                </a:solidFill>
                <a:latin typeface="Arial"/>
                <a:cs typeface="Arial"/>
              </a:rPr>
              <a:t>Starting </a:t>
            </a:r>
            <a:r>
              <a:rPr dirty="0" sz="3200" spc="-70">
                <a:solidFill>
                  <a:srgbClr val="F5F4F4"/>
                </a:solidFill>
                <a:latin typeface="Arial"/>
                <a:cs typeface="Arial"/>
              </a:rPr>
              <a:t>Your </a:t>
            </a:r>
            <a:r>
              <a:rPr dirty="0" sz="3200" spc="-55">
                <a:solidFill>
                  <a:srgbClr val="F5F4F4"/>
                </a:solidFill>
                <a:latin typeface="Arial"/>
                <a:cs typeface="Arial"/>
              </a:rPr>
              <a:t>Cloud</a:t>
            </a:r>
            <a:r>
              <a:rPr dirty="0" sz="3200" spc="-32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F5F4F4"/>
                </a:solidFill>
                <a:latin typeface="Arial"/>
                <a:cs typeface="Arial"/>
              </a:rPr>
              <a:t>Journey  </a:t>
            </a:r>
            <a:r>
              <a:rPr dirty="0" sz="3200" spc="5">
                <a:solidFill>
                  <a:srgbClr val="F5F4F4"/>
                </a:solidFill>
                <a:latin typeface="Arial"/>
                <a:cs typeface="Arial"/>
              </a:rPr>
              <a:t>With </a:t>
            </a:r>
            <a:r>
              <a:rPr dirty="0" sz="3200" spc="-70">
                <a:solidFill>
                  <a:srgbClr val="F5F4F4"/>
                </a:solidFill>
                <a:latin typeface="Arial"/>
                <a:cs typeface="Arial"/>
              </a:rPr>
              <a:t>The </a:t>
            </a:r>
            <a:r>
              <a:rPr dirty="0" sz="3200" spc="-10">
                <a:solidFill>
                  <a:srgbClr val="F5F4F4"/>
                </a:solidFill>
                <a:latin typeface="Arial"/>
                <a:cs typeface="Arial"/>
              </a:rPr>
              <a:t>Right</a:t>
            </a:r>
            <a:r>
              <a:rPr dirty="0" sz="3200" spc="-31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F5F4F4"/>
                </a:solidFill>
                <a:latin typeface="Arial"/>
                <a:cs typeface="Arial"/>
              </a:rPr>
              <a:t>Partner</a:t>
            </a:r>
            <a:endParaRPr sz="3200">
              <a:latin typeface="Arial"/>
              <a:cs typeface="Arial"/>
            </a:endParaRPr>
          </a:p>
          <a:p>
            <a:pPr marL="38100" marR="1852295">
              <a:lnSpc>
                <a:spcPct val="100000"/>
              </a:lnSpc>
              <a:spcBef>
                <a:spcPts val="1900"/>
              </a:spcBef>
            </a:pP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Why </a:t>
            </a:r>
            <a:r>
              <a:rPr dirty="0" sz="2200" spc="35" i="1">
                <a:solidFill>
                  <a:srgbClr val="F5F4F4"/>
                </a:solidFill>
                <a:latin typeface="Calibri"/>
                <a:cs typeface="Calibri"/>
              </a:rPr>
              <a:t>startups </a:t>
            </a:r>
            <a:r>
              <a:rPr dirty="0" sz="2200" spc="60" i="1">
                <a:solidFill>
                  <a:srgbClr val="F5F4F4"/>
                </a:solidFill>
                <a:latin typeface="Calibri"/>
                <a:cs typeface="Calibri"/>
              </a:rPr>
              <a:t>must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adopt</a:t>
            </a:r>
            <a:r>
              <a:rPr dirty="0" sz="2200" spc="-9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a  </a:t>
            </a:r>
            <a:r>
              <a:rPr dirty="0" sz="2200" spc="35" i="1">
                <a:solidFill>
                  <a:srgbClr val="F5F4F4"/>
                </a:solidFill>
                <a:latin typeface="Calibri"/>
                <a:cs typeface="Calibri"/>
              </a:rPr>
              <a:t>Cloud-First</a:t>
            </a:r>
            <a:r>
              <a:rPr dirty="0" sz="2200" spc="-9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Strategy!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0484" y="2674919"/>
            <a:ext cx="2164715" cy="1497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48785" y="2714357"/>
            <a:ext cx="1966595" cy="1168400"/>
          </a:xfrm>
          <a:custGeom>
            <a:avLst/>
            <a:gdLst/>
            <a:ahLst/>
            <a:cxnLst/>
            <a:rect l="l" t="t" r="r" b="b"/>
            <a:pathLst>
              <a:path w="1966595" h="1168400">
                <a:moveTo>
                  <a:pt x="544671" y="275775"/>
                </a:moveTo>
                <a:lnTo>
                  <a:pt x="470656" y="282328"/>
                </a:lnTo>
                <a:lnTo>
                  <a:pt x="432169" y="292605"/>
                </a:lnTo>
                <a:lnTo>
                  <a:pt x="395757" y="309078"/>
                </a:lnTo>
                <a:lnTo>
                  <a:pt x="361819" y="332931"/>
                </a:lnTo>
                <a:lnTo>
                  <a:pt x="328621" y="368039"/>
                </a:lnTo>
                <a:lnTo>
                  <a:pt x="304855" y="407918"/>
                </a:lnTo>
                <a:lnTo>
                  <a:pt x="290026" y="452378"/>
                </a:lnTo>
                <a:lnTo>
                  <a:pt x="283638" y="501231"/>
                </a:lnTo>
                <a:lnTo>
                  <a:pt x="283258" y="536324"/>
                </a:lnTo>
                <a:lnTo>
                  <a:pt x="284943" y="571264"/>
                </a:lnTo>
                <a:lnTo>
                  <a:pt x="288099" y="606096"/>
                </a:lnTo>
                <a:lnTo>
                  <a:pt x="292134" y="640867"/>
                </a:lnTo>
                <a:lnTo>
                  <a:pt x="292960" y="647649"/>
                </a:lnTo>
                <a:lnTo>
                  <a:pt x="290763" y="650672"/>
                </a:lnTo>
                <a:lnTo>
                  <a:pt x="252833" y="670500"/>
                </a:lnTo>
                <a:lnTo>
                  <a:pt x="217268" y="680301"/>
                </a:lnTo>
                <a:lnTo>
                  <a:pt x="182407" y="689618"/>
                </a:lnTo>
                <a:lnTo>
                  <a:pt x="118318" y="720626"/>
                </a:lnTo>
                <a:lnTo>
                  <a:pt x="56753" y="778915"/>
                </a:lnTo>
                <a:lnTo>
                  <a:pt x="31796" y="819139"/>
                </a:lnTo>
                <a:lnTo>
                  <a:pt x="14132" y="863490"/>
                </a:lnTo>
                <a:lnTo>
                  <a:pt x="3273" y="911619"/>
                </a:lnTo>
                <a:lnTo>
                  <a:pt x="0" y="967261"/>
                </a:lnTo>
                <a:lnTo>
                  <a:pt x="2076" y="995019"/>
                </a:lnTo>
                <a:lnTo>
                  <a:pt x="18552" y="1060828"/>
                </a:lnTo>
                <a:lnTo>
                  <a:pt x="64528" y="1117685"/>
                </a:lnTo>
                <a:lnTo>
                  <a:pt x="131758" y="1151962"/>
                </a:lnTo>
                <a:lnTo>
                  <a:pt x="204348" y="1165621"/>
                </a:lnTo>
                <a:lnTo>
                  <a:pt x="1129953" y="1167282"/>
                </a:lnTo>
                <a:lnTo>
                  <a:pt x="1129953" y="1168070"/>
                </a:lnTo>
                <a:lnTo>
                  <a:pt x="1966414" y="1167178"/>
                </a:lnTo>
                <a:lnTo>
                  <a:pt x="1966414" y="579452"/>
                </a:lnTo>
                <a:lnTo>
                  <a:pt x="1885221" y="550250"/>
                </a:lnTo>
                <a:lnTo>
                  <a:pt x="1837356" y="539445"/>
                </a:lnTo>
                <a:lnTo>
                  <a:pt x="1767771" y="527928"/>
                </a:lnTo>
                <a:lnTo>
                  <a:pt x="1690963" y="516941"/>
                </a:lnTo>
                <a:lnTo>
                  <a:pt x="1689249" y="513753"/>
                </a:lnTo>
                <a:lnTo>
                  <a:pt x="1677408" y="459103"/>
                </a:lnTo>
                <a:lnTo>
                  <a:pt x="1663749" y="412493"/>
                </a:lnTo>
                <a:lnTo>
                  <a:pt x="1647108" y="367678"/>
                </a:lnTo>
                <a:lnTo>
                  <a:pt x="1627490" y="324662"/>
                </a:lnTo>
                <a:lnTo>
                  <a:pt x="1605457" y="284467"/>
                </a:lnTo>
                <a:lnTo>
                  <a:pt x="651125" y="284467"/>
                </a:lnTo>
                <a:lnTo>
                  <a:pt x="645779" y="283743"/>
                </a:lnTo>
                <a:lnTo>
                  <a:pt x="612144" y="279631"/>
                </a:lnTo>
                <a:lnTo>
                  <a:pt x="578445" y="276803"/>
                </a:lnTo>
                <a:lnTo>
                  <a:pt x="544671" y="275775"/>
                </a:lnTo>
                <a:close/>
              </a:path>
              <a:path w="1966595" h="1168400">
                <a:moveTo>
                  <a:pt x="1132668" y="0"/>
                </a:moveTo>
                <a:lnTo>
                  <a:pt x="1090876" y="1003"/>
                </a:lnTo>
                <a:lnTo>
                  <a:pt x="1041766" y="5439"/>
                </a:lnTo>
                <a:lnTo>
                  <a:pt x="993495" y="14054"/>
                </a:lnTo>
                <a:lnTo>
                  <a:pt x="946200" y="27244"/>
                </a:lnTo>
                <a:lnTo>
                  <a:pt x="900020" y="45403"/>
                </a:lnTo>
                <a:lnTo>
                  <a:pt x="857965" y="67123"/>
                </a:lnTo>
                <a:lnTo>
                  <a:pt x="818780" y="92534"/>
                </a:lnTo>
                <a:lnTo>
                  <a:pt x="782388" y="121517"/>
                </a:lnTo>
                <a:lnTo>
                  <a:pt x="748710" y="153957"/>
                </a:lnTo>
                <a:lnTo>
                  <a:pt x="717669" y="189736"/>
                </a:lnTo>
                <a:lnTo>
                  <a:pt x="689187" y="228740"/>
                </a:lnTo>
                <a:lnTo>
                  <a:pt x="664702" y="266086"/>
                </a:lnTo>
                <a:lnTo>
                  <a:pt x="653856" y="283185"/>
                </a:lnTo>
                <a:lnTo>
                  <a:pt x="651125" y="284467"/>
                </a:lnTo>
                <a:lnTo>
                  <a:pt x="1605457" y="284467"/>
                </a:lnTo>
                <a:lnTo>
                  <a:pt x="1604898" y="283446"/>
                </a:lnTo>
                <a:lnTo>
                  <a:pt x="1579336" y="244034"/>
                </a:lnTo>
                <a:lnTo>
                  <a:pt x="1550810" y="206430"/>
                </a:lnTo>
                <a:lnTo>
                  <a:pt x="1519323" y="170634"/>
                </a:lnTo>
                <a:lnTo>
                  <a:pt x="1484880" y="136652"/>
                </a:lnTo>
                <a:lnTo>
                  <a:pt x="1444087" y="102448"/>
                </a:lnTo>
                <a:lnTo>
                  <a:pt x="1400922" y="72910"/>
                </a:lnTo>
                <a:lnTo>
                  <a:pt x="1355363" y="48177"/>
                </a:lnTo>
                <a:lnTo>
                  <a:pt x="1307386" y="28388"/>
                </a:lnTo>
                <a:lnTo>
                  <a:pt x="1256966" y="13678"/>
                </a:lnTo>
                <a:lnTo>
                  <a:pt x="1215773" y="5888"/>
                </a:lnTo>
                <a:lnTo>
                  <a:pt x="1174321" y="1478"/>
                </a:lnTo>
                <a:lnTo>
                  <a:pt x="1132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44699" y="3484030"/>
            <a:ext cx="1478781" cy="914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92272" y="3516331"/>
            <a:ext cx="1351915" cy="715010"/>
          </a:xfrm>
          <a:custGeom>
            <a:avLst/>
            <a:gdLst/>
            <a:ahLst/>
            <a:cxnLst/>
            <a:rect l="l" t="t" r="r" b="b"/>
            <a:pathLst>
              <a:path w="1351915" h="715010">
                <a:moveTo>
                  <a:pt x="333409" y="168803"/>
                </a:moveTo>
                <a:lnTo>
                  <a:pt x="288105" y="172821"/>
                </a:lnTo>
                <a:lnTo>
                  <a:pt x="242258" y="189194"/>
                </a:lnTo>
                <a:lnTo>
                  <a:pt x="201163" y="225289"/>
                </a:lnTo>
                <a:lnTo>
                  <a:pt x="177540" y="276919"/>
                </a:lnTo>
                <a:lnTo>
                  <a:pt x="173484" y="330206"/>
                </a:lnTo>
                <a:lnTo>
                  <a:pt x="174421" y="349693"/>
                </a:lnTo>
                <a:lnTo>
                  <a:pt x="176353" y="371010"/>
                </a:lnTo>
                <a:lnTo>
                  <a:pt x="178823" y="392284"/>
                </a:lnTo>
                <a:lnTo>
                  <a:pt x="179331" y="396449"/>
                </a:lnTo>
                <a:lnTo>
                  <a:pt x="177985" y="398304"/>
                </a:lnTo>
                <a:lnTo>
                  <a:pt x="133002" y="416439"/>
                </a:lnTo>
                <a:lnTo>
                  <a:pt x="111658" y="422136"/>
                </a:lnTo>
                <a:lnTo>
                  <a:pt x="72426" y="441116"/>
                </a:lnTo>
                <a:lnTo>
                  <a:pt x="34745" y="476804"/>
                </a:lnTo>
                <a:lnTo>
                  <a:pt x="8652" y="528576"/>
                </a:lnTo>
                <a:lnTo>
                  <a:pt x="212" y="575084"/>
                </a:lnTo>
                <a:lnTo>
                  <a:pt x="0" y="592096"/>
                </a:lnTo>
                <a:lnTo>
                  <a:pt x="1271" y="609084"/>
                </a:lnTo>
                <a:lnTo>
                  <a:pt x="11353" y="649366"/>
                </a:lnTo>
                <a:lnTo>
                  <a:pt x="39493" y="684176"/>
                </a:lnTo>
                <a:lnTo>
                  <a:pt x="80653" y="705158"/>
                </a:lnTo>
                <a:lnTo>
                  <a:pt x="125094" y="713517"/>
                </a:lnTo>
                <a:lnTo>
                  <a:pt x="691688" y="714534"/>
                </a:lnTo>
                <a:lnTo>
                  <a:pt x="691688" y="715016"/>
                </a:lnTo>
                <a:lnTo>
                  <a:pt x="1244265" y="714343"/>
                </a:lnTo>
                <a:lnTo>
                  <a:pt x="1306795" y="692374"/>
                </a:lnTo>
                <a:lnTo>
                  <a:pt x="1345407" y="636505"/>
                </a:lnTo>
                <a:lnTo>
                  <a:pt x="1351662" y="592248"/>
                </a:lnTo>
                <a:lnTo>
                  <a:pt x="1351618" y="577259"/>
                </a:lnTo>
                <a:lnTo>
                  <a:pt x="1341608" y="509918"/>
                </a:lnTo>
                <a:lnTo>
                  <a:pt x="1314483" y="447910"/>
                </a:lnTo>
                <a:lnTo>
                  <a:pt x="1279828" y="405279"/>
                </a:lnTo>
                <a:lnTo>
                  <a:pt x="1236810" y="372231"/>
                </a:lnTo>
                <a:lnTo>
                  <a:pt x="1182577" y="345775"/>
                </a:lnTo>
                <a:lnTo>
                  <a:pt x="1124707" y="330206"/>
                </a:lnTo>
                <a:lnTo>
                  <a:pt x="1082124" y="323161"/>
                </a:lnTo>
                <a:lnTo>
                  <a:pt x="1035096" y="316439"/>
                </a:lnTo>
                <a:lnTo>
                  <a:pt x="1034054" y="314484"/>
                </a:lnTo>
                <a:lnTo>
                  <a:pt x="1033330" y="310661"/>
                </a:lnTo>
                <a:lnTo>
                  <a:pt x="1020260" y="258115"/>
                </a:lnTo>
                <a:lnTo>
                  <a:pt x="1001271" y="209131"/>
                </a:lnTo>
                <a:lnTo>
                  <a:pt x="982089" y="174136"/>
                </a:lnTo>
                <a:lnTo>
                  <a:pt x="398572" y="174136"/>
                </a:lnTo>
                <a:lnTo>
                  <a:pt x="395308" y="173691"/>
                </a:lnTo>
                <a:lnTo>
                  <a:pt x="374716" y="171170"/>
                </a:lnTo>
                <a:lnTo>
                  <a:pt x="354085" y="169435"/>
                </a:lnTo>
                <a:lnTo>
                  <a:pt x="333409" y="168803"/>
                </a:lnTo>
                <a:close/>
              </a:path>
              <a:path w="1351915" h="715010">
                <a:moveTo>
                  <a:pt x="693354" y="0"/>
                </a:moveTo>
                <a:lnTo>
                  <a:pt x="637705" y="3330"/>
                </a:lnTo>
                <a:lnTo>
                  <a:pt x="579202" y="16679"/>
                </a:lnTo>
                <a:lnTo>
                  <a:pt x="512980" y="48586"/>
                </a:lnTo>
                <a:lnTo>
                  <a:pt x="478928" y="74379"/>
                </a:lnTo>
                <a:lnTo>
                  <a:pt x="448614" y="104937"/>
                </a:lnTo>
                <a:lnTo>
                  <a:pt x="421876" y="140024"/>
                </a:lnTo>
                <a:lnTo>
                  <a:pt x="400248" y="173349"/>
                </a:lnTo>
                <a:lnTo>
                  <a:pt x="398572" y="174136"/>
                </a:lnTo>
                <a:lnTo>
                  <a:pt x="982089" y="174136"/>
                </a:lnTo>
                <a:lnTo>
                  <a:pt x="976379" y="163718"/>
                </a:lnTo>
                <a:lnTo>
                  <a:pt x="945602" y="121887"/>
                </a:lnTo>
                <a:lnTo>
                  <a:pt x="908959" y="83648"/>
                </a:lnTo>
                <a:lnTo>
                  <a:pt x="877515" y="57917"/>
                </a:lnTo>
                <a:lnTo>
                  <a:pt x="843797" y="36687"/>
                </a:lnTo>
                <a:lnTo>
                  <a:pt x="807777" y="20119"/>
                </a:lnTo>
                <a:lnTo>
                  <a:pt x="769424" y="8376"/>
                </a:lnTo>
                <a:lnTo>
                  <a:pt x="718846" y="905"/>
                </a:lnTo>
                <a:lnTo>
                  <a:pt x="6933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11155" y="3296539"/>
            <a:ext cx="2105914" cy="1185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64889" y="3405644"/>
            <a:ext cx="2116429" cy="3089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9300" y="5094188"/>
            <a:ext cx="256032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space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evolving.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ﬁnding their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niche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segments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owning them.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why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should all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brouhaha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migration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matter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you?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‘Anytime,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Anywhere,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Device’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everyone?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300" y="6625869"/>
            <a:ext cx="2630805" cy="699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Is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there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compelling</a:t>
            </a:r>
            <a:r>
              <a:rPr dirty="0" sz="1500" spc="-2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business 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case </a:t>
            </a:r>
            <a:r>
              <a:rPr dirty="0" sz="1500" spc="40">
                <a:solidFill>
                  <a:srgbClr val="202020"/>
                </a:solidFill>
                <a:latin typeface="Arial"/>
                <a:cs typeface="Arial"/>
              </a:rPr>
              <a:t>for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universal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cloud 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adoption?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300" y="7540269"/>
            <a:ext cx="803275" cy="242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Find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Out!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300" y="7951688"/>
            <a:ext cx="258064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Moving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 adopting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newer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compelling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shift.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9270" y="6576242"/>
            <a:ext cx="2597150" cy="2341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442595">
              <a:lnSpc>
                <a:spcPct val="104800"/>
              </a:lnSpc>
            </a:pP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Business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Drivers</a:t>
            </a:r>
            <a:r>
              <a:rPr dirty="0" sz="1850" spc="-1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5">
                <a:solidFill>
                  <a:srgbClr val="2C99CF"/>
                </a:solidFill>
                <a:latin typeface="Arial"/>
                <a:cs typeface="Arial"/>
              </a:rPr>
              <a:t>for 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10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Adoption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1) </a:t>
            </a:r>
            <a:r>
              <a:rPr dirty="0" sz="1500" spc="-20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Cost</a:t>
            </a:r>
            <a:r>
              <a:rPr dirty="0" sz="1500" spc="-20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Argument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efﬁcient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cost-effective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way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deploy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IT.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Large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leverage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economies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low-cost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computing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users.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operating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platform,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pay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exact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69761" y="4586694"/>
            <a:ext cx="23495" cy="38735"/>
          </a:xfrm>
          <a:custGeom>
            <a:avLst/>
            <a:gdLst/>
            <a:ahLst/>
            <a:cxnLst/>
            <a:rect l="l" t="t" r="r" b="b"/>
            <a:pathLst>
              <a:path w="23495" h="38735">
                <a:moveTo>
                  <a:pt x="18554" y="0"/>
                </a:moveTo>
                <a:lnTo>
                  <a:pt x="7797" y="228"/>
                </a:lnTo>
                <a:lnTo>
                  <a:pt x="3746" y="3695"/>
                </a:lnTo>
                <a:lnTo>
                  <a:pt x="3073" y="8331"/>
                </a:lnTo>
                <a:lnTo>
                  <a:pt x="2285" y="13436"/>
                </a:lnTo>
                <a:lnTo>
                  <a:pt x="977" y="21653"/>
                </a:lnTo>
                <a:lnTo>
                  <a:pt x="0" y="27406"/>
                </a:lnTo>
                <a:lnTo>
                  <a:pt x="1192" y="34050"/>
                </a:lnTo>
                <a:lnTo>
                  <a:pt x="6013" y="38039"/>
                </a:lnTo>
                <a:lnTo>
                  <a:pt x="12272" y="38432"/>
                </a:lnTo>
                <a:lnTo>
                  <a:pt x="17779" y="34289"/>
                </a:lnTo>
                <a:lnTo>
                  <a:pt x="23164" y="5308"/>
                </a:lnTo>
                <a:lnTo>
                  <a:pt x="18554" y="0"/>
                </a:lnTo>
                <a:close/>
              </a:path>
            </a:pathLst>
          </a:custGeom>
          <a:solidFill>
            <a:srgbClr val="A1D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69761" y="4586694"/>
            <a:ext cx="23495" cy="38735"/>
          </a:xfrm>
          <a:custGeom>
            <a:avLst/>
            <a:gdLst/>
            <a:ahLst/>
            <a:cxnLst/>
            <a:rect l="l" t="t" r="r" b="b"/>
            <a:pathLst>
              <a:path w="23495" h="38735">
                <a:moveTo>
                  <a:pt x="22288" y="11341"/>
                </a:moveTo>
                <a:lnTo>
                  <a:pt x="23164" y="5308"/>
                </a:lnTo>
                <a:lnTo>
                  <a:pt x="18554" y="0"/>
                </a:lnTo>
                <a:lnTo>
                  <a:pt x="12458" y="114"/>
                </a:lnTo>
                <a:lnTo>
                  <a:pt x="7797" y="228"/>
                </a:lnTo>
                <a:lnTo>
                  <a:pt x="3746" y="3695"/>
                </a:lnTo>
                <a:lnTo>
                  <a:pt x="3073" y="8331"/>
                </a:lnTo>
                <a:lnTo>
                  <a:pt x="2285" y="13436"/>
                </a:lnTo>
                <a:lnTo>
                  <a:pt x="977" y="21653"/>
                </a:lnTo>
                <a:lnTo>
                  <a:pt x="0" y="27406"/>
                </a:lnTo>
                <a:lnTo>
                  <a:pt x="1192" y="34050"/>
                </a:lnTo>
                <a:lnTo>
                  <a:pt x="6013" y="38039"/>
                </a:lnTo>
                <a:lnTo>
                  <a:pt x="12272" y="38432"/>
                </a:lnTo>
                <a:lnTo>
                  <a:pt x="17779" y="34289"/>
                </a:lnTo>
                <a:lnTo>
                  <a:pt x="21513" y="16446"/>
                </a:lnTo>
                <a:lnTo>
                  <a:pt x="22288" y="11341"/>
                </a:lnTo>
                <a:close/>
              </a:path>
            </a:pathLst>
          </a:custGeom>
          <a:ln w="25400">
            <a:solidFill>
              <a:srgbClr val="ADD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83109" y="4470890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12287" y="0"/>
                </a:moveTo>
                <a:lnTo>
                  <a:pt x="802" y="14177"/>
                </a:lnTo>
                <a:lnTo>
                  <a:pt x="352" y="22661"/>
                </a:lnTo>
                <a:lnTo>
                  <a:pt x="0" y="28363"/>
                </a:lnTo>
                <a:lnTo>
                  <a:pt x="1832" y="34763"/>
                </a:lnTo>
                <a:lnTo>
                  <a:pt x="6946" y="38258"/>
                </a:lnTo>
                <a:lnTo>
                  <a:pt x="13165" y="38099"/>
                </a:lnTo>
                <a:lnTo>
                  <a:pt x="20447" y="10012"/>
                </a:lnTo>
                <a:lnTo>
                  <a:pt x="18110" y="3147"/>
                </a:lnTo>
                <a:lnTo>
                  <a:pt x="12287" y="0"/>
                </a:lnTo>
                <a:close/>
              </a:path>
            </a:pathLst>
          </a:custGeom>
          <a:solidFill>
            <a:srgbClr val="A1D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83109" y="4470890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20447" y="10012"/>
                </a:moveTo>
                <a:lnTo>
                  <a:pt x="18110" y="3147"/>
                </a:lnTo>
                <a:lnTo>
                  <a:pt x="12287" y="0"/>
                </a:lnTo>
                <a:lnTo>
                  <a:pt x="5759" y="1141"/>
                </a:lnTo>
                <a:lnTo>
                  <a:pt x="1308" y="7142"/>
                </a:lnTo>
                <a:lnTo>
                  <a:pt x="1155" y="7789"/>
                </a:lnTo>
                <a:lnTo>
                  <a:pt x="1041" y="8424"/>
                </a:lnTo>
                <a:lnTo>
                  <a:pt x="1016" y="9097"/>
                </a:lnTo>
                <a:lnTo>
                  <a:pt x="850" y="13250"/>
                </a:lnTo>
                <a:lnTo>
                  <a:pt x="419" y="21582"/>
                </a:lnTo>
                <a:lnTo>
                  <a:pt x="0" y="28363"/>
                </a:lnTo>
                <a:lnTo>
                  <a:pt x="1832" y="34763"/>
                </a:lnTo>
                <a:lnTo>
                  <a:pt x="6946" y="38258"/>
                </a:lnTo>
                <a:lnTo>
                  <a:pt x="13165" y="38099"/>
                </a:lnTo>
                <a:lnTo>
                  <a:pt x="18313" y="33532"/>
                </a:lnTo>
                <a:lnTo>
                  <a:pt x="20269" y="14177"/>
                </a:lnTo>
                <a:lnTo>
                  <a:pt x="20447" y="10012"/>
                </a:lnTo>
                <a:close/>
              </a:path>
            </a:pathLst>
          </a:custGeom>
          <a:ln w="25400">
            <a:solidFill>
              <a:srgbClr val="ADD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82423" y="4354248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11239" y="0"/>
                </a:moveTo>
                <a:lnTo>
                  <a:pt x="5110" y="969"/>
                </a:lnTo>
                <a:lnTo>
                  <a:pt x="596" y="6156"/>
                </a:lnTo>
                <a:lnTo>
                  <a:pt x="114" y="7591"/>
                </a:lnTo>
                <a:lnTo>
                  <a:pt x="0" y="10258"/>
                </a:lnTo>
                <a:lnTo>
                  <a:pt x="190" y="12760"/>
                </a:lnTo>
                <a:lnTo>
                  <a:pt x="762" y="21155"/>
                </a:lnTo>
                <a:lnTo>
                  <a:pt x="1244" y="29498"/>
                </a:lnTo>
                <a:lnTo>
                  <a:pt x="4093" y="35935"/>
                </a:lnTo>
                <a:lnTo>
                  <a:pt x="9907" y="38612"/>
                </a:lnTo>
                <a:lnTo>
                  <a:pt x="16162" y="37244"/>
                </a:lnTo>
                <a:lnTo>
                  <a:pt x="20332" y="31543"/>
                </a:lnTo>
                <a:lnTo>
                  <a:pt x="20586" y="30489"/>
                </a:lnTo>
                <a:lnTo>
                  <a:pt x="20736" y="29498"/>
                </a:lnTo>
                <a:lnTo>
                  <a:pt x="20167" y="19935"/>
                </a:lnTo>
                <a:lnTo>
                  <a:pt x="19405" y="8874"/>
                </a:lnTo>
                <a:lnTo>
                  <a:pt x="16748" y="2788"/>
                </a:lnTo>
                <a:lnTo>
                  <a:pt x="11239" y="0"/>
                </a:lnTo>
                <a:close/>
              </a:path>
            </a:pathLst>
          </a:custGeom>
          <a:solidFill>
            <a:srgbClr val="A1D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82334" y="4354248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19494" y="8874"/>
                </a:moveTo>
                <a:lnTo>
                  <a:pt x="16837" y="2788"/>
                </a:lnTo>
                <a:lnTo>
                  <a:pt x="11328" y="0"/>
                </a:lnTo>
                <a:lnTo>
                  <a:pt x="5199" y="969"/>
                </a:lnTo>
                <a:lnTo>
                  <a:pt x="685" y="6156"/>
                </a:lnTo>
                <a:lnTo>
                  <a:pt x="203" y="7591"/>
                </a:lnTo>
                <a:lnTo>
                  <a:pt x="0" y="8734"/>
                </a:lnTo>
                <a:lnTo>
                  <a:pt x="88" y="10258"/>
                </a:lnTo>
                <a:lnTo>
                  <a:pt x="279" y="12760"/>
                </a:lnTo>
                <a:lnTo>
                  <a:pt x="850" y="21155"/>
                </a:lnTo>
                <a:lnTo>
                  <a:pt x="1333" y="29498"/>
                </a:lnTo>
                <a:lnTo>
                  <a:pt x="4182" y="35935"/>
                </a:lnTo>
                <a:lnTo>
                  <a:pt x="9996" y="38612"/>
                </a:lnTo>
                <a:lnTo>
                  <a:pt x="16251" y="37244"/>
                </a:lnTo>
                <a:lnTo>
                  <a:pt x="20421" y="31543"/>
                </a:lnTo>
                <a:lnTo>
                  <a:pt x="20675" y="30489"/>
                </a:lnTo>
                <a:lnTo>
                  <a:pt x="20828" y="29549"/>
                </a:lnTo>
                <a:lnTo>
                  <a:pt x="20764" y="28457"/>
                </a:lnTo>
                <a:lnTo>
                  <a:pt x="20256" y="19935"/>
                </a:lnTo>
                <a:lnTo>
                  <a:pt x="19685" y="11376"/>
                </a:lnTo>
                <a:lnTo>
                  <a:pt x="19494" y="8874"/>
                </a:lnTo>
                <a:close/>
              </a:path>
            </a:pathLst>
          </a:custGeom>
          <a:ln w="25400">
            <a:solidFill>
              <a:srgbClr val="ADD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14999" y="4202328"/>
            <a:ext cx="149225" cy="143510"/>
          </a:xfrm>
          <a:custGeom>
            <a:avLst/>
            <a:gdLst/>
            <a:ahLst/>
            <a:cxnLst/>
            <a:rect l="l" t="t" r="r" b="b"/>
            <a:pathLst>
              <a:path w="149225" h="143510">
                <a:moveTo>
                  <a:pt x="59969" y="0"/>
                </a:moveTo>
                <a:lnTo>
                  <a:pt x="0" y="143510"/>
                </a:lnTo>
                <a:lnTo>
                  <a:pt x="149085" y="127469"/>
                </a:lnTo>
                <a:lnTo>
                  <a:pt x="59969" y="0"/>
                </a:lnTo>
                <a:close/>
              </a:path>
            </a:pathLst>
          </a:custGeom>
          <a:solidFill>
            <a:srgbClr val="A1D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14999" y="4202328"/>
            <a:ext cx="149225" cy="143510"/>
          </a:xfrm>
          <a:custGeom>
            <a:avLst/>
            <a:gdLst/>
            <a:ahLst/>
            <a:cxnLst/>
            <a:rect l="l" t="t" r="r" b="b"/>
            <a:pathLst>
              <a:path w="149225" h="143510">
                <a:moveTo>
                  <a:pt x="0" y="143510"/>
                </a:moveTo>
                <a:lnTo>
                  <a:pt x="59969" y="0"/>
                </a:lnTo>
                <a:lnTo>
                  <a:pt x="149085" y="127469"/>
                </a:lnTo>
                <a:lnTo>
                  <a:pt x="0" y="143510"/>
                </a:lnTo>
                <a:close/>
              </a:path>
            </a:pathLst>
          </a:custGeom>
          <a:ln w="25400">
            <a:solidFill>
              <a:srgbClr val="ADD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15659" y="4563225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13117" y="0"/>
                </a:moveTo>
                <a:lnTo>
                  <a:pt x="473" y="20204"/>
                </a:lnTo>
                <a:lnTo>
                  <a:pt x="114" y="26503"/>
                </a:lnTo>
                <a:lnTo>
                  <a:pt x="0" y="28128"/>
                </a:lnTo>
                <a:lnTo>
                  <a:pt x="1970" y="34801"/>
                </a:lnTo>
                <a:lnTo>
                  <a:pt x="7392" y="38212"/>
                </a:lnTo>
                <a:lnTo>
                  <a:pt x="13789" y="37680"/>
                </a:lnTo>
                <a:lnTo>
                  <a:pt x="20459" y="9840"/>
                </a:lnTo>
                <a:lnTo>
                  <a:pt x="18401" y="3329"/>
                </a:lnTo>
                <a:lnTo>
                  <a:pt x="13117" y="0"/>
                </a:lnTo>
                <a:close/>
              </a:path>
            </a:pathLst>
          </a:custGeom>
          <a:solidFill>
            <a:srgbClr val="A1D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15659" y="4563225"/>
            <a:ext cx="20955" cy="38735"/>
          </a:xfrm>
          <a:custGeom>
            <a:avLst/>
            <a:gdLst/>
            <a:ahLst/>
            <a:cxnLst/>
            <a:rect l="l" t="t" r="r" b="b"/>
            <a:pathLst>
              <a:path w="20954" h="38735">
                <a:moveTo>
                  <a:pt x="20459" y="9840"/>
                </a:moveTo>
                <a:lnTo>
                  <a:pt x="18401" y="3329"/>
                </a:lnTo>
                <a:lnTo>
                  <a:pt x="13117" y="0"/>
                </a:lnTo>
                <a:lnTo>
                  <a:pt x="6888" y="416"/>
                </a:lnTo>
                <a:lnTo>
                  <a:pt x="901" y="11796"/>
                </a:lnTo>
                <a:lnTo>
                  <a:pt x="533" y="19150"/>
                </a:lnTo>
                <a:lnTo>
                  <a:pt x="114" y="26503"/>
                </a:lnTo>
                <a:lnTo>
                  <a:pt x="0" y="28128"/>
                </a:lnTo>
                <a:lnTo>
                  <a:pt x="1970" y="34801"/>
                </a:lnTo>
                <a:lnTo>
                  <a:pt x="7392" y="38212"/>
                </a:lnTo>
                <a:lnTo>
                  <a:pt x="13789" y="37680"/>
                </a:lnTo>
                <a:lnTo>
                  <a:pt x="18681" y="32523"/>
                </a:lnTo>
                <a:lnTo>
                  <a:pt x="19088" y="31557"/>
                </a:lnTo>
                <a:lnTo>
                  <a:pt x="19329" y="30567"/>
                </a:lnTo>
                <a:lnTo>
                  <a:pt x="19392" y="29500"/>
                </a:lnTo>
                <a:lnTo>
                  <a:pt x="19519" y="27722"/>
                </a:lnTo>
                <a:lnTo>
                  <a:pt x="19964" y="20204"/>
                </a:lnTo>
                <a:lnTo>
                  <a:pt x="20345" y="12685"/>
                </a:lnTo>
                <a:lnTo>
                  <a:pt x="20459" y="9840"/>
                </a:lnTo>
                <a:close/>
              </a:path>
            </a:pathLst>
          </a:custGeom>
          <a:ln w="25399">
            <a:solidFill>
              <a:srgbClr val="ADD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287" y="1454647"/>
            <a:ext cx="244348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consume.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SMBs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startups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lean model,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avoiding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expenditure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installation,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maintenance,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upgrades and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difference.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287" y="2605328"/>
            <a:ext cx="2633345" cy="271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2)</a:t>
            </a:r>
            <a:r>
              <a:rPr dirty="0" sz="1500" spc="-14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Investment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Startups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SMBs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often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constrained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tight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budgets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imply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incurred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operational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expenditure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instead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capital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expenditure.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Operating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cloud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mean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don’t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worry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provisioning.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responsibility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upgrading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maintaining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it,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letting 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focus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87" y="5500928"/>
            <a:ext cx="2497455" cy="2139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3)</a:t>
            </a:r>
            <a:r>
              <a:rPr dirty="0" sz="1500" spc="-10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Scalability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Easy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scalability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another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advantage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adoption.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automatic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scaling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whenever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needs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peak.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ﬁrms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would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create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meet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peak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trafﬁc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demands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keep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idle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year.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Being able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avoid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over-provisioning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advantage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moving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cloud.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287" y="7825028"/>
            <a:ext cx="2520315" cy="996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4)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Enterprise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202020"/>
                </a:solidFill>
                <a:latin typeface="Arial"/>
                <a:cs typeface="Arial"/>
              </a:rPr>
              <a:t>mobility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adoption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furthers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mobility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anywhere,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time,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device. Cloud-based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9265" y="1462877"/>
            <a:ext cx="262636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9685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collaboration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efﬁcient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easy-to-use. Cloud-delivered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mobility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systems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companies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implement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Bring-Your-Own-Device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(BYOD)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policies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without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worrying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too much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data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security.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9303" y="2994621"/>
            <a:ext cx="2617470" cy="1758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969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5)</a:t>
            </a:r>
            <a:r>
              <a:rPr dirty="0" sz="1500" spc="-13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Speed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Virtual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commissioned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few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hours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traditional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setting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infra-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structure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weeks,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months.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startups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ideas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market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yesterday,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adopting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cloud-ﬁrst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strategy is 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means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speed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303" y="4930040"/>
            <a:ext cx="254889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Finally,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differ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why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embraces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computing.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Irrespective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why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migrate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cloud,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approach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adoption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must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properly planned and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executed.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begins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choosing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right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ﬁrm.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9303" y="6454101"/>
            <a:ext cx="2242820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So,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how </a:t>
            </a:r>
            <a:r>
              <a:rPr dirty="0" sz="1500" spc="60">
                <a:solidFill>
                  <a:srgbClr val="202020"/>
                </a:solidFill>
                <a:latin typeface="Arial"/>
                <a:cs typeface="Arial"/>
              </a:rPr>
              <a:t>to</a:t>
            </a:r>
            <a:r>
              <a:rPr dirty="0" sz="1500" spc="-28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202020"/>
                </a:solidFill>
                <a:latin typeface="Arial"/>
                <a:cs typeface="Arial"/>
              </a:rPr>
              <a:t>find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your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cloud 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match?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9303" y="7133671"/>
            <a:ext cx="2495550" cy="17697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715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What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you </a:t>
            </a:r>
            <a:r>
              <a:rPr dirty="0" sz="1850" spc="70">
                <a:solidFill>
                  <a:srgbClr val="2C99CF"/>
                </a:solidFill>
                <a:latin typeface="Arial"/>
                <a:cs typeface="Arial"/>
              </a:rPr>
              <a:t>must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look</a:t>
            </a:r>
            <a:r>
              <a:rPr dirty="0" sz="1850" spc="-3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5">
                <a:solidFill>
                  <a:srgbClr val="2C99CF"/>
                </a:solidFill>
                <a:latin typeface="Arial"/>
                <a:cs typeface="Arial"/>
              </a:rPr>
              <a:t>for 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in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28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vendor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1) Performance </a:t>
            </a:r>
            <a:r>
              <a:rPr dirty="0" sz="1500" spc="-70">
                <a:solidFill>
                  <a:srgbClr val="202020"/>
                </a:solidFill>
                <a:latin typeface="Arial"/>
                <a:cs typeface="Arial"/>
              </a:rPr>
              <a:t>&amp;</a:t>
            </a:r>
            <a:r>
              <a:rPr dirty="0" sz="1500" spc="-1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Uptime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high-speed delivery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applications,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performance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crucial.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Check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uptime.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53400"/>
            <a:ext cx="2612390" cy="1225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63195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2)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Service </a:t>
            </a:r>
            <a:r>
              <a:rPr dirty="0" sz="1500" spc="-20">
                <a:solidFill>
                  <a:srgbClr val="202020"/>
                </a:solidFill>
                <a:latin typeface="Arial"/>
                <a:cs typeface="Arial"/>
              </a:rPr>
              <a:t>Level</a:t>
            </a:r>
            <a:r>
              <a:rPr dirty="0" sz="1500" spc="-18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Agreements  and</a:t>
            </a:r>
            <a:r>
              <a:rPr dirty="0" sz="1500" spc="-9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Reliability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higher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levels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differentiate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themselves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competitors.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2863100"/>
            <a:ext cx="2550160" cy="1568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3)</a:t>
            </a:r>
            <a:r>
              <a:rPr dirty="0" sz="1500" spc="-14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Costs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charge you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actual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number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servers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use,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 you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keep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online.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Few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hour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minute.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4615700"/>
            <a:ext cx="2621280" cy="1568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4)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Technology</a:t>
            </a:r>
            <a:r>
              <a:rPr dirty="0" sz="1500" spc="-1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Stack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 software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stacks.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soft-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ware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stack,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simplify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migration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choosing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software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stack.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6391160"/>
            <a:ext cx="2524760" cy="1187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5)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APIs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and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Vendor</a:t>
            </a:r>
            <a:r>
              <a:rPr dirty="0" sz="1500" spc="-21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lock-in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better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choose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APIs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backed by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multiple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reduces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chances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lock-in.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makes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migration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another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easier.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7762760"/>
            <a:ext cx="2604135" cy="1187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6)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Security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and</a:t>
            </a:r>
            <a:r>
              <a:rPr dirty="0" sz="1500" spc="-21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compliance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concerns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weigh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heavily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minds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wanting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migrate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cloud.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 sure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compli-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9278" y="1462544"/>
            <a:ext cx="125793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safety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regulations.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303" y="1836191"/>
            <a:ext cx="2610485" cy="2129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7)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Deployment</a:t>
            </a:r>
            <a:r>
              <a:rPr dirty="0" sz="1500" spc="-8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models</a:t>
            </a:r>
            <a:endParaRPr sz="1500">
              <a:latin typeface="Arial"/>
              <a:cs typeface="Arial"/>
            </a:endParaRPr>
          </a:p>
          <a:p>
            <a:pPr marL="12700" marR="139065">
              <a:lnSpc>
                <a:spcPts val="1490"/>
              </a:lnSpc>
              <a:spcBef>
                <a:spcPts val="50"/>
              </a:spcBef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uprooting  their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entire on-premise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work-  loads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migrating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public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maybe challenging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unneces-sary. Enterprises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may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choose</a:t>
            </a:r>
            <a:endParaRPr sz="1200">
              <a:latin typeface="Arial"/>
              <a:cs typeface="Arial"/>
            </a:endParaRPr>
          </a:p>
          <a:p>
            <a:pPr marL="12700" marR="94615">
              <a:lnSpc>
                <a:spcPct val="103200"/>
              </a:lnSpc>
            </a:pP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migrate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hybrid 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strategy.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It’s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important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check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provider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hybrid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conﬁgurations.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9303" y="4149661"/>
            <a:ext cx="2602230" cy="1179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8)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Regional</a:t>
            </a:r>
            <a:r>
              <a:rPr dirty="0" sz="1500" spc="-12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0">
                <a:solidFill>
                  <a:srgbClr val="202020"/>
                </a:solidFill>
                <a:latin typeface="Arial"/>
                <a:cs typeface="Arial"/>
              </a:rPr>
              <a:t>support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480"/>
              </a:lnSpc>
              <a:spcBef>
                <a:spcPts val="45"/>
              </a:spcBef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requirements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safety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laws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mandate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localization  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country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region,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necessary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check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regional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avail-ability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provider.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9303" y="5505259"/>
            <a:ext cx="2527935" cy="1753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472440">
              <a:lnSpc>
                <a:spcPct val="102600"/>
              </a:lnSpc>
            </a:pP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9)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Autoscaling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Autoscaling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important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likely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experience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demand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peaks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2899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troughs.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Bringing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servers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online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handling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higher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taking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offline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necessary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ensures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pay-as-you-use.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9303" y="7439215"/>
            <a:ext cx="2453640" cy="118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tabLst>
                <a:tab pos="421640" algn="l"/>
              </a:tabLst>
            </a:pP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10)	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Network</a:t>
            </a:r>
            <a:r>
              <a:rPr dirty="0" sz="1500" spc="-8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0">
                <a:solidFill>
                  <a:srgbClr val="202020"/>
                </a:solidFill>
                <a:latin typeface="Arial"/>
                <a:cs typeface="Arial"/>
              </a:rPr>
              <a:t>connectivity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Evaluating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provider’s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connectivity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crucial,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running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latency-sensitive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cloud.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8432" y="587082"/>
            <a:ext cx="4558030" cy="562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357505">
              <a:lnSpc>
                <a:spcPct val="100000"/>
              </a:lnSpc>
            </a:pPr>
            <a:r>
              <a:rPr dirty="0" sz="1200" i="1">
                <a:solidFill>
                  <a:srgbClr val="2C99CF"/>
                </a:solidFill>
                <a:latin typeface="Calibri"/>
                <a:cs typeface="Calibri"/>
              </a:rPr>
              <a:t>Not </a:t>
            </a:r>
            <a:r>
              <a:rPr dirty="0" sz="1200" spc="-20" i="1">
                <a:solidFill>
                  <a:srgbClr val="2C99CF"/>
                </a:solidFill>
                <a:latin typeface="Calibri"/>
                <a:cs typeface="Calibri"/>
              </a:rPr>
              <a:t>all </a:t>
            </a:r>
            <a:r>
              <a:rPr dirty="0" sz="1200" spc="15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1200" spc="5" i="1">
                <a:solidFill>
                  <a:srgbClr val="2C99CF"/>
                </a:solidFill>
                <a:latin typeface="Calibri"/>
                <a:cs typeface="Calibri"/>
              </a:rPr>
              <a:t>providers </a:t>
            </a:r>
            <a:r>
              <a:rPr dirty="0" sz="1200" spc="-15" i="1">
                <a:solidFill>
                  <a:srgbClr val="2C99CF"/>
                </a:solidFill>
                <a:latin typeface="Calibri"/>
                <a:cs typeface="Calibri"/>
              </a:rPr>
              <a:t>are </a:t>
            </a:r>
            <a:r>
              <a:rPr dirty="0" sz="1200" spc="5" i="1">
                <a:solidFill>
                  <a:srgbClr val="2C99CF"/>
                </a:solidFill>
                <a:latin typeface="Calibri"/>
                <a:cs typeface="Calibri"/>
              </a:rPr>
              <a:t>made </a:t>
            </a:r>
            <a:r>
              <a:rPr dirty="0" sz="1200" spc="-5" i="1">
                <a:solidFill>
                  <a:srgbClr val="2C99CF"/>
                </a:solidFill>
                <a:latin typeface="Calibri"/>
                <a:cs typeface="Calibri"/>
              </a:rPr>
              <a:t>equal. </a:t>
            </a:r>
            <a:r>
              <a:rPr dirty="0" sz="1200" spc="-10" i="1">
                <a:solidFill>
                  <a:srgbClr val="2C99CF"/>
                </a:solidFill>
                <a:latin typeface="Calibri"/>
                <a:cs typeface="Calibri"/>
              </a:rPr>
              <a:t>Apart </a:t>
            </a:r>
            <a:r>
              <a:rPr dirty="0" sz="1200" i="1">
                <a:solidFill>
                  <a:srgbClr val="2C99CF"/>
                </a:solidFill>
                <a:latin typeface="Calibri"/>
                <a:cs typeface="Calibri"/>
              </a:rPr>
              <a:t>from </a:t>
            </a:r>
            <a:r>
              <a:rPr dirty="0" sz="12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200" i="1">
                <a:solidFill>
                  <a:srgbClr val="2C99CF"/>
                </a:solidFill>
                <a:latin typeface="Calibri"/>
                <a:cs typeface="Calibri"/>
              </a:rPr>
              <a:t>above  </a:t>
            </a:r>
            <a:r>
              <a:rPr dirty="0" sz="1200" spc="-15" i="1">
                <a:solidFill>
                  <a:srgbClr val="2C99CF"/>
                </a:solidFill>
                <a:latin typeface="Calibri"/>
                <a:cs typeface="Calibri"/>
              </a:rPr>
              <a:t>attributes, </a:t>
            </a:r>
            <a:r>
              <a:rPr dirty="0" sz="1200" spc="-20" i="1">
                <a:solidFill>
                  <a:srgbClr val="2C99CF"/>
                </a:solidFill>
                <a:latin typeface="Calibri"/>
                <a:cs typeface="Calibri"/>
              </a:rPr>
              <a:t>it’s </a:t>
            </a:r>
            <a:r>
              <a:rPr dirty="0" sz="1200" spc="20" i="1">
                <a:solidFill>
                  <a:srgbClr val="2C99CF"/>
                </a:solidFill>
                <a:latin typeface="Calibri"/>
                <a:cs typeface="Calibri"/>
              </a:rPr>
              <a:t>also </a:t>
            </a:r>
            <a:r>
              <a:rPr dirty="0" sz="1200" spc="-5" i="1">
                <a:solidFill>
                  <a:srgbClr val="2C99CF"/>
                </a:solidFill>
                <a:latin typeface="Calibri"/>
                <a:cs typeface="Calibri"/>
              </a:rPr>
              <a:t>important </a:t>
            </a:r>
            <a:r>
              <a:rPr dirty="0" sz="12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1200" spc="35" i="1">
                <a:solidFill>
                  <a:srgbClr val="2C99CF"/>
                </a:solidFill>
                <a:latin typeface="Calibri"/>
                <a:cs typeface="Calibri"/>
              </a:rPr>
              <a:t>check </a:t>
            </a:r>
            <a:r>
              <a:rPr dirty="0" sz="1200" spc="15" i="1">
                <a:solidFill>
                  <a:srgbClr val="2C99CF"/>
                </a:solidFill>
                <a:latin typeface="Calibri"/>
                <a:cs typeface="Calibri"/>
              </a:rPr>
              <a:t>which cloud </a:t>
            </a:r>
            <a:r>
              <a:rPr dirty="0" sz="1200" spc="5" i="1">
                <a:solidFill>
                  <a:srgbClr val="2C99CF"/>
                </a:solidFill>
                <a:latin typeface="Calibri"/>
                <a:cs typeface="Calibri"/>
              </a:rPr>
              <a:t>vendor </a:t>
            </a:r>
            <a:r>
              <a:rPr dirty="0" sz="1200" spc="25" i="1">
                <a:solidFill>
                  <a:srgbClr val="2C99CF"/>
                </a:solidFill>
                <a:latin typeface="Calibri"/>
                <a:cs typeface="Calibri"/>
              </a:rPr>
              <a:t>matches</a:t>
            </a:r>
            <a:r>
              <a:rPr dirty="0" sz="1200" spc="5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200" spc="-5" i="1">
                <a:solidFill>
                  <a:srgbClr val="2C99CF"/>
                </a:solidFill>
                <a:latin typeface="Calibri"/>
                <a:cs typeface="Calibri"/>
              </a:rPr>
              <a:t>your</a:t>
            </a:r>
            <a:endParaRPr sz="1200">
              <a:latin typeface="Calibri"/>
              <a:cs typeface="Calibri"/>
            </a:endParaRPr>
          </a:p>
          <a:p>
            <a:pPr marL="497840">
              <a:lnSpc>
                <a:spcPct val="100000"/>
              </a:lnSpc>
            </a:pPr>
            <a:r>
              <a:rPr dirty="0" sz="1200" spc="35" i="1">
                <a:solidFill>
                  <a:srgbClr val="2C99CF"/>
                </a:solidFill>
                <a:latin typeface="Calibri"/>
                <a:cs typeface="Calibri"/>
              </a:rPr>
              <a:t>business </a:t>
            </a:r>
            <a:r>
              <a:rPr dirty="0" sz="1200" spc="15" i="1">
                <a:solidFill>
                  <a:srgbClr val="2C99CF"/>
                </a:solidFill>
                <a:latin typeface="Calibri"/>
                <a:cs typeface="Calibri"/>
              </a:rPr>
              <a:t>objectives </a:t>
            </a:r>
            <a:r>
              <a:rPr dirty="0" sz="1200" i="1">
                <a:solidFill>
                  <a:srgbClr val="2C99CF"/>
                </a:solidFill>
                <a:latin typeface="Calibri"/>
                <a:cs typeface="Calibri"/>
              </a:rPr>
              <a:t>and </a:t>
            </a:r>
            <a:r>
              <a:rPr dirty="0" sz="1200" spc="-5" i="1">
                <a:solidFill>
                  <a:srgbClr val="2C99CF"/>
                </a:solidFill>
                <a:latin typeface="Calibri"/>
                <a:cs typeface="Calibri"/>
              </a:rPr>
              <a:t>your </a:t>
            </a:r>
            <a:r>
              <a:rPr dirty="0" sz="1200" spc="5" i="1">
                <a:solidFill>
                  <a:srgbClr val="2C99CF"/>
                </a:solidFill>
                <a:latin typeface="Calibri"/>
                <a:cs typeface="Calibri"/>
              </a:rPr>
              <a:t>enterprise </a:t>
            </a:r>
            <a:r>
              <a:rPr dirty="0" sz="1200" spc="10" i="1">
                <a:solidFill>
                  <a:srgbClr val="2C99CF"/>
                </a:solidFill>
                <a:latin typeface="Calibri"/>
                <a:cs typeface="Calibri"/>
              </a:rPr>
              <a:t>philosophy</a:t>
            </a:r>
            <a:r>
              <a:rPr dirty="0" sz="1200" spc="-1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200" spc="10" i="1">
                <a:solidFill>
                  <a:srgbClr val="2C99CF"/>
                </a:solidFill>
                <a:latin typeface="Calibri"/>
                <a:cs typeface="Calibri"/>
              </a:rPr>
              <a:t>best.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6908" y="4803178"/>
            <a:ext cx="1395730" cy="1376045"/>
          </a:xfrm>
          <a:custGeom>
            <a:avLst/>
            <a:gdLst/>
            <a:ahLst/>
            <a:cxnLst/>
            <a:rect l="l" t="t" r="r" b="b"/>
            <a:pathLst>
              <a:path w="1395729" h="1376045">
                <a:moveTo>
                  <a:pt x="1392862" y="1091234"/>
                </a:moveTo>
                <a:lnTo>
                  <a:pt x="670814" y="1091234"/>
                </a:lnTo>
                <a:lnTo>
                  <a:pt x="682466" y="1092252"/>
                </a:lnTo>
                <a:lnTo>
                  <a:pt x="692613" y="1095587"/>
                </a:lnTo>
                <a:lnTo>
                  <a:pt x="701189" y="1101632"/>
                </a:lnTo>
                <a:lnTo>
                  <a:pt x="708126" y="1110780"/>
                </a:lnTo>
                <a:lnTo>
                  <a:pt x="712606" y="1122183"/>
                </a:lnTo>
                <a:lnTo>
                  <a:pt x="713374" y="1133416"/>
                </a:lnTo>
                <a:lnTo>
                  <a:pt x="710794" y="1144446"/>
                </a:lnTo>
                <a:lnTo>
                  <a:pt x="685165" y="1175991"/>
                </a:lnTo>
                <a:lnTo>
                  <a:pt x="677252" y="1181646"/>
                </a:lnTo>
                <a:lnTo>
                  <a:pt x="656078" y="1200461"/>
                </a:lnTo>
                <a:lnTo>
                  <a:pt x="643509" y="1222441"/>
                </a:lnTo>
                <a:lnTo>
                  <a:pt x="639798" y="1247436"/>
                </a:lnTo>
                <a:lnTo>
                  <a:pt x="645198" y="1275295"/>
                </a:lnTo>
                <a:lnTo>
                  <a:pt x="682932" y="1335981"/>
                </a:lnTo>
                <a:lnTo>
                  <a:pt x="747014" y="1368425"/>
                </a:lnTo>
                <a:lnTo>
                  <a:pt x="805145" y="1375687"/>
                </a:lnTo>
                <a:lnTo>
                  <a:pt x="833903" y="1373088"/>
                </a:lnTo>
                <a:lnTo>
                  <a:pt x="884783" y="1351826"/>
                </a:lnTo>
                <a:lnTo>
                  <a:pt x="914893" y="1313866"/>
                </a:lnTo>
                <a:lnTo>
                  <a:pt x="923741" y="1260308"/>
                </a:lnTo>
                <a:lnTo>
                  <a:pt x="918460" y="1233938"/>
                </a:lnTo>
                <a:lnTo>
                  <a:pt x="906679" y="1209692"/>
                </a:lnTo>
                <a:lnTo>
                  <a:pt x="888733" y="1187513"/>
                </a:lnTo>
                <a:lnTo>
                  <a:pt x="881608" y="1180035"/>
                </a:lnTo>
                <a:lnTo>
                  <a:pt x="874979" y="1172203"/>
                </a:lnTo>
                <a:lnTo>
                  <a:pt x="869102" y="1163828"/>
                </a:lnTo>
                <a:lnTo>
                  <a:pt x="864235" y="1154722"/>
                </a:lnTo>
                <a:lnTo>
                  <a:pt x="860193" y="1140149"/>
                </a:lnTo>
                <a:lnTo>
                  <a:pt x="861383" y="1126588"/>
                </a:lnTo>
                <a:lnTo>
                  <a:pt x="888974" y="1098246"/>
                </a:lnTo>
                <a:lnTo>
                  <a:pt x="922312" y="1091590"/>
                </a:lnTo>
                <a:lnTo>
                  <a:pt x="1392828" y="1091590"/>
                </a:lnTo>
                <a:lnTo>
                  <a:pt x="1392862" y="1091234"/>
                </a:lnTo>
                <a:close/>
              </a:path>
              <a:path w="1395729" h="1376045">
                <a:moveTo>
                  <a:pt x="1392828" y="1091590"/>
                </a:moveTo>
                <a:lnTo>
                  <a:pt x="922312" y="1091590"/>
                </a:lnTo>
                <a:lnTo>
                  <a:pt x="1376667" y="1092034"/>
                </a:lnTo>
                <a:lnTo>
                  <a:pt x="1384744" y="1091793"/>
                </a:lnTo>
                <a:lnTo>
                  <a:pt x="1392821" y="1091666"/>
                </a:lnTo>
                <a:close/>
              </a:path>
              <a:path w="1395729" h="1376045">
                <a:moveTo>
                  <a:pt x="44691" y="378891"/>
                </a:moveTo>
                <a:lnTo>
                  <a:pt x="3989" y="398422"/>
                </a:lnTo>
                <a:lnTo>
                  <a:pt x="63" y="1089799"/>
                </a:lnTo>
                <a:lnTo>
                  <a:pt x="241" y="1091412"/>
                </a:lnTo>
                <a:lnTo>
                  <a:pt x="1392862" y="1091234"/>
                </a:lnTo>
                <a:lnTo>
                  <a:pt x="1393556" y="1083831"/>
                </a:lnTo>
                <a:lnTo>
                  <a:pt x="1394336" y="1075999"/>
                </a:lnTo>
                <a:lnTo>
                  <a:pt x="1394996" y="1068165"/>
                </a:lnTo>
                <a:lnTo>
                  <a:pt x="1395374" y="1060323"/>
                </a:lnTo>
                <a:lnTo>
                  <a:pt x="1394583" y="1018513"/>
                </a:lnTo>
                <a:lnTo>
                  <a:pt x="1390207" y="977230"/>
                </a:lnTo>
                <a:lnTo>
                  <a:pt x="1382156" y="936532"/>
                </a:lnTo>
                <a:lnTo>
                  <a:pt x="1370342" y="896480"/>
                </a:lnTo>
                <a:lnTo>
                  <a:pt x="1351120" y="848214"/>
                </a:lnTo>
                <a:lnTo>
                  <a:pt x="1328032" y="803415"/>
                </a:lnTo>
                <a:lnTo>
                  <a:pt x="1301078" y="762103"/>
                </a:lnTo>
                <a:lnTo>
                  <a:pt x="1270260" y="724298"/>
                </a:lnTo>
                <a:lnTo>
                  <a:pt x="1235580" y="690022"/>
                </a:lnTo>
                <a:lnTo>
                  <a:pt x="1197038" y="659295"/>
                </a:lnTo>
                <a:lnTo>
                  <a:pt x="1154638" y="632138"/>
                </a:lnTo>
                <a:lnTo>
                  <a:pt x="1108379" y="608571"/>
                </a:lnTo>
                <a:lnTo>
                  <a:pt x="1065120" y="591470"/>
                </a:lnTo>
                <a:lnTo>
                  <a:pt x="1020947" y="578909"/>
                </a:lnTo>
                <a:lnTo>
                  <a:pt x="975903" y="571026"/>
                </a:lnTo>
                <a:lnTo>
                  <a:pt x="973100" y="570839"/>
                </a:lnTo>
                <a:lnTo>
                  <a:pt x="872883" y="570839"/>
                </a:lnTo>
                <a:lnTo>
                  <a:pt x="870940" y="568833"/>
                </a:lnTo>
                <a:lnTo>
                  <a:pt x="868921" y="513046"/>
                </a:lnTo>
                <a:lnTo>
                  <a:pt x="861504" y="467728"/>
                </a:lnTo>
                <a:lnTo>
                  <a:pt x="857463" y="450900"/>
                </a:lnTo>
                <a:lnTo>
                  <a:pt x="160134" y="450900"/>
                </a:lnTo>
                <a:lnTo>
                  <a:pt x="138785" y="449731"/>
                </a:lnTo>
                <a:lnTo>
                  <a:pt x="120157" y="443344"/>
                </a:lnTo>
                <a:lnTo>
                  <a:pt x="104145" y="431880"/>
                </a:lnTo>
                <a:lnTo>
                  <a:pt x="90639" y="415480"/>
                </a:lnTo>
                <a:lnTo>
                  <a:pt x="81740" y="403078"/>
                </a:lnTo>
                <a:lnTo>
                  <a:pt x="71537" y="392314"/>
                </a:lnTo>
                <a:lnTo>
                  <a:pt x="59398" y="383985"/>
                </a:lnTo>
                <a:lnTo>
                  <a:pt x="44691" y="378891"/>
                </a:lnTo>
                <a:close/>
              </a:path>
              <a:path w="1395729" h="1376045">
                <a:moveTo>
                  <a:pt x="930034" y="567960"/>
                </a:moveTo>
                <a:lnTo>
                  <a:pt x="883386" y="569849"/>
                </a:lnTo>
                <a:lnTo>
                  <a:pt x="872883" y="570839"/>
                </a:lnTo>
                <a:lnTo>
                  <a:pt x="973100" y="570839"/>
                </a:lnTo>
                <a:lnTo>
                  <a:pt x="930034" y="567960"/>
                </a:lnTo>
                <a:close/>
              </a:path>
              <a:path w="1395729" h="1376045">
                <a:moveTo>
                  <a:pt x="710228" y="177588"/>
                </a:moveTo>
                <a:lnTo>
                  <a:pt x="182449" y="177588"/>
                </a:lnTo>
                <a:lnTo>
                  <a:pt x="224184" y="188027"/>
                </a:lnTo>
                <a:lnTo>
                  <a:pt x="258457" y="215455"/>
                </a:lnTo>
                <a:lnTo>
                  <a:pt x="269227" y="231835"/>
                </a:lnTo>
                <a:lnTo>
                  <a:pt x="276628" y="249420"/>
                </a:lnTo>
                <a:lnTo>
                  <a:pt x="280928" y="268049"/>
                </a:lnTo>
                <a:lnTo>
                  <a:pt x="282397" y="287566"/>
                </a:lnTo>
                <a:lnTo>
                  <a:pt x="280334" y="325560"/>
                </a:lnTo>
                <a:lnTo>
                  <a:pt x="255826" y="393523"/>
                </a:lnTo>
                <a:lnTo>
                  <a:pt x="229146" y="421767"/>
                </a:lnTo>
                <a:lnTo>
                  <a:pt x="179234" y="447882"/>
                </a:lnTo>
                <a:lnTo>
                  <a:pt x="160134" y="450900"/>
                </a:lnTo>
                <a:lnTo>
                  <a:pt x="857463" y="450900"/>
                </a:lnTo>
                <a:lnTo>
                  <a:pt x="833195" y="368930"/>
                </a:lnTo>
                <a:lnTo>
                  <a:pt x="812876" y="322557"/>
                </a:lnTo>
                <a:lnTo>
                  <a:pt x="788429" y="278218"/>
                </a:lnTo>
                <a:lnTo>
                  <a:pt x="759842" y="235926"/>
                </a:lnTo>
                <a:lnTo>
                  <a:pt x="727100" y="195694"/>
                </a:lnTo>
                <a:lnTo>
                  <a:pt x="710228" y="177588"/>
                </a:lnTo>
                <a:close/>
              </a:path>
              <a:path w="1395729" h="1376045">
                <a:moveTo>
                  <a:pt x="300316" y="0"/>
                </a:moveTo>
                <a:lnTo>
                  <a:pt x="234615" y="2914"/>
                </a:lnTo>
                <a:lnTo>
                  <a:pt x="169646" y="14020"/>
                </a:lnTo>
                <a:lnTo>
                  <a:pt x="125138" y="25955"/>
                </a:lnTo>
                <a:lnTo>
                  <a:pt x="81884" y="41016"/>
                </a:lnTo>
                <a:lnTo>
                  <a:pt x="40100" y="59717"/>
                </a:lnTo>
                <a:lnTo>
                  <a:pt x="0" y="82575"/>
                </a:lnTo>
                <a:lnTo>
                  <a:pt x="87" y="152130"/>
                </a:lnTo>
                <a:lnTo>
                  <a:pt x="3136" y="205425"/>
                </a:lnTo>
                <a:lnTo>
                  <a:pt x="37312" y="240614"/>
                </a:lnTo>
                <a:lnTo>
                  <a:pt x="46348" y="241644"/>
                </a:lnTo>
                <a:lnTo>
                  <a:pt x="54811" y="240349"/>
                </a:lnTo>
                <a:lnTo>
                  <a:pt x="93325" y="215382"/>
                </a:lnTo>
                <a:lnTo>
                  <a:pt x="100317" y="208635"/>
                </a:lnTo>
                <a:lnTo>
                  <a:pt x="139183" y="184378"/>
                </a:lnTo>
                <a:lnTo>
                  <a:pt x="182449" y="177588"/>
                </a:lnTo>
                <a:lnTo>
                  <a:pt x="710228" y="177588"/>
                </a:lnTo>
                <a:lnTo>
                  <a:pt x="706282" y="173353"/>
                </a:lnTo>
                <a:lnTo>
                  <a:pt x="661508" y="132054"/>
                </a:lnTo>
                <a:lnTo>
                  <a:pt x="593709" y="83627"/>
                </a:lnTo>
                <a:lnTo>
                  <a:pt x="548466" y="58665"/>
                </a:lnTo>
                <a:lnTo>
                  <a:pt x="501725" y="38202"/>
                </a:lnTo>
                <a:lnTo>
                  <a:pt x="453512" y="22171"/>
                </a:lnTo>
                <a:lnTo>
                  <a:pt x="403854" y="10505"/>
                </a:lnTo>
                <a:lnTo>
                  <a:pt x="352780" y="3137"/>
                </a:lnTo>
                <a:lnTo>
                  <a:pt x="300316" y="0"/>
                </a:lnTo>
                <a:close/>
              </a:path>
            </a:pathLst>
          </a:custGeom>
          <a:solidFill>
            <a:srgbClr val="3DBC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39154" y="5613284"/>
            <a:ext cx="1398270" cy="864235"/>
          </a:xfrm>
          <a:custGeom>
            <a:avLst/>
            <a:gdLst/>
            <a:ahLst/>
            <a:cxnLst/>
            <a:rect l="l" t="t" r="r" b="b"/>
            <a:pathLst>
              <a:path w="1398270" h="864235">
                <a:moveTo>
                  <a:pt x="1397615" y="621158"/>
                </a:moveTo>
                <a:lnTo>
                  <a:pt x="891531" y="621158"/>
                </a:lnTo>
                <a:lnTo>
                  <a:pt x="894007" y="624828"/>
                </a:lnTo>
                <a:lnTo>
                  <a:pt x="896014" y="627749"/>
                </a:lnTo>
                <a:lnTo>
                  <a:pt x="897995" y="630708"/>
                </a:lnTo>
                <a:lnTo>
                  <a:pt x="929648" y="673573"/>
                </a:lnTo>
                <a:lnTo>
                  <a:pt x="964843" y="712532"/>
                </a:lnTo>
                <a:lnTo>
                  <a:pt x="1003593" y="747544"/>
                </a:lnTo>
                <a:lnTo>
                  <a:pt x="1045911" y="778571"/>
                </a:lnTo>
                <a:lnTo>
                  <a:pt x="1091810" y="805575"/>
                </a:lnTo>
                <a:lnTo>
                  <a:pt x="1141733" y="828456"/>
                </a:lnTo>
                <a:lnTo>
                  <a:pt x="1193281" y="845649"/>
                </a:lnTo>
                <a:lnTo>
                  <a:pt x="1246399" y="857127"/>
                </a:lnTo>
                <a:lnTo>
                  <a:pt x="1301030" y="862864"/>
                </a:lnTo>
                <a:lnTo>
                  <a:pt x="1325217" y="863670"/>
                </a:lnTo>
                <a:lnTo>
                  <a:pt x="1349404" y="863420"/>
                </a:lnTo>
                <a:lnTo>
                  <a:pt x="1373553" y="861861"/>
                </a:lnTo>
                <a:lnTo>
                  <a:pt x="1397626" y="858737"/>
                </a:lnTo>
                <a:lnTo>
                  <a:pt x="1397615" y="621158"/>
                </a:lnTo>
                <a:close/>
              </a:path>
              <a:path w="1398270" h="864235">
                <a:moveTo>
                  <a:pt x="615598" y="0"/>
                </a:moveTo>
                <a:lnTo>
                  <a:pt x="563638" y="4174"/>
                </a:lnTo>
                <a:lnTo>
                  <a:pt x="525480" y="24344"/>
                </a:lnTo>
                <a:lnTo>
                  <a:pt x="493082" y="76503"/>
                </a:lnTo>
                <a:lnTo>
                  <a:pt x="489873" y="114477"/>
                </a:lnTo>
                <a:lnTo>
                  <a:pt x="500148" y="151678"/>
                </a:lnTo>
                <a:lnTo>
                  <a:pt x="523548" y="184786"/>
                </a:lnTo>
                <a:lnTo>
                  <a:pt x="531323" y="192920"/>
                </a:lnTo>
                <a:lnTo>
                  <a:pt x="538496" y="201455"/>
                </a:lnTo>
                <a:lnTo>
                  <a:pt x="544783" y="210618"/>
                </a:lnTo>
                <a:lnTo>
                  <a:pt x="549901" y="220638"/>
                </a:lnTo>
                <a:lnTo>
                  <a:pt x="553104" y="231493"/>
                </a:lnTo>
                <a:lnTo>
                  <a:pt x="553312" y="241961"/>
                </a:lnTo>
                <a:lnTo>
                  <a:pt x="550342" y="251935"/>
                </a:lnTo>
                <a:lnTo>
                  <a:pt x="520305" y="277285"/>
                </a:lnTo>
                <a:lnTo>
                  <a:pt x="491697" y="281598"/>
                </a:lnTo>
                <a:lnTo>
                  <a:pt x="454" y="281598"/>
                </a:lnTo>
                <a:lnTo>
                  <a:pt x="0" y="294707"/>
                </a:lnTo>
                <a:lnTo>
                  <a:pt x="3178" y="334392"/>
                </a:lnTo>
                <a:lnTo>
                  <a:pt x="10516" y="387159"/>
                </a:lnTo>
                <a:lnTo>
                  <a:pt x="23397" y="438659"/>
                </a:lnTo>
                <a:lnTo>
                  <a:pt x="40476" y="485639"/>
                </a:lnTo>
                <a:lnTo>
                  <a:pt x="61566" y="529994"/>
                </a:lnTo>
                <a:lnTo>
                  <a:pt x="86686" y="571663"/>
                </a:lnTo>
                <a:lnTo>
                  <a:pt x="115856" y="610587"/>
                </a:lnTo>
                <a:lnTo>
                  <a:pt x="149096" y="646705"/>
                </a:lnTo>
                <a:lnTo>
                  <a:pt x="186427" y="679959"/>
                </a:lnTo>
                <a:lnTo>
                  <a:pt x="229252" y="711439"/>
                </a:lnTo>
                <a:lnTo>
                  <a:pt x="273569" y="737921"/>
                </a:lnTo>
                <a:lnTo>
                  <a:pt x="319371" y="759395"/>
                </a:lnTo>
                <a:lnTo>
                  <a:pt x="366651" y="775850"/>
                </a:lnTo>
                <a:lnTo>
                  <a:pt x="415402" y="787276"/>
                </a:lnTo>
                <a:lnTo>
                  <a:pt x="465617" y="793662"/>
                </a:lnTo>
                <a:lnTo>
                  <a:pt x="517289" y="794999"/>
                </a:lnTo>
                <a:lnTo>
                  <a:pt x="570411" y="791274"/>
                </a:lnTo>
                <a:lnTo>
                  <a:pt x="623432" y="782224"/>
                </a:lnTo>
                <a:lnTo>
                  <a:pt x="674264" y="767746"/>
                </a:lnTo>
                <a:lnTo>
                  <a:pt x="722958" y="747972"/>
                </a:lnTo>
                <a:lnTo>
                  <a:pt x="769565" y="723031"/>
                </a:lnTo>
                <a:lnTo>
                  <a:pt x="814137" y="693053"/>
                </a:lnTo>
                <a:lnTo>
                  <a:pt x="854472" y="659125"/>
                </a:lnTo>
                <a:lnTo>
                  <a:pt x="891531" y="621158"/>
                </a:lnTo>
                <a:lnTo>
                  <a:pt x="1397615" y="621158"/>
                </a:lnTo>
                <a:lnTo>
                  <a:pt x="1397721" y="284087"/>
                </a:lnTo>
                <a:lnTo>
                  <a:pt x="1147207" y="284087"/>
                </a:lnTo>
                <a:lnTo>
                  <a:pt x="1144096" y="281598"/>
                </a:lnTo>
                <a:lnTo>
                  <a:pt x="491697" y="281598"/>
                </a:lnTo>
                <a:lnTo>
                  <a:pt x="1143858" y="281407"/>
                </a:lnTo>
                <a:lnTo>
                  <a:pt x="711508" y="281306"/>
                </a:lnTo>
                <a:lnTo>
                  <a:pt x="696271" y="277146"/>
                </a:lnTo>
                <a:lnTo>
                  <a:pt x="684645" y="266347"/>
                </a:lnTo>
                <a:lnTo>
                  <a:pt x="678233" y="251368"/>
                </a:lnTo>
                <a:lnTo>
                  <a:pt x="678641" y="234671"/>
                </a:lnTo>
                <a:lnTo>
                  <a:pt x="684343" y="220597"/>
                </a:lnTo>
                <a:lnTo>
                  <a:pt x="692914" y="208975"/>
                </a:lnTo>
                <a:lnTo>
                  <a:pt x="703635" y="199155"/>
                </a:lnTo>
                <a:lnTo>
                  <a:pt x="715788" y="190488"/>
                </a:lnTo>
                <a:lnTo>
                  <a:pt x="730006" y="179018"/>
                </a:lnTo>
                <a:lnTo>
                  <a:pt x="740671" y="165426"/>
                </a:lnTo>
                <a:lnTo>
                  <a:pt x="747464" y="149599"/>
                </a:lnTo>
                <a:lnTo>
                  <a:pt x="750065" y="131420"/>
                </a:lnTo>
                <a:lnTo>
                  <a:pt x="746727" y="100962"/>
                </a:lnTo>
                <a:lnTo>
                  <a:pt x="719399" y="50609"/>
                </a:lnTo>
                <a:lnTo>
                  <a:pt x="672159" y="13848"/>
                </a:lnTo>
                <a:lnTo>
                  <a:pt x="644614" y="4174"/>
                </a:lnTo>
                <a:lnTo>
                  <a:pt x="615598" y="0"/>
                </a:lnTo>
                <a:close/>
              </a:path>
              <a:path w="1398270" h="864235">
                <a:moveTo>
                  <a:pt x="1154980" y="280747"/>
                </a:moveTo>
                <a:lnTo>
                  <a:pt x="1151081" y="281776"/>
                </a:lnTo>
                <a:lnTo>
                  <a:pt x="1147207" y="284087"/>
                </a:lnTo>
                <a:lnTo>
                  <a:pt x="1397721" y="284087"/>
                </a:lnTo>
                <a:lnTo>
                  <a:pt x="1397816" y="283198"/>
                </a:lnTo>
                <a:lnTo>
                  <a:pt x="1397924" y="281315"/>
                </a:lnTo>
                <a:lnTo>
                  <a:pt x="1223874" y="281315"/>
                </a:lnTo>
                <a:lnTo>
                  <a:pt x="1154980" y="280747"/>
                </a:lnTo>
                <a:close/>
              </a:path>
              <a:path w="1398270" h="864235">
                <a:moveTo>
                  <a:pt x="1143270" y="280938"/>
                </a:moveTo>
                <a:lnTo>
                  <a:pt x="1141670" y="281077"/>
                </a:lnTo>
                <a:lnTo>
                  <a:pt x="1140057" y="281344"/>
                </a:lnTo>
                <a:lnTo>
                  <a:pt x="1143778" y="281344"/>
                </a:lnTo>
                <a:lnTo>
                  <a:pt x="1143270" y="280938"/>
                </a:lnTo>
                <a:close/>
              </a:path>
              <a:path w="1398270" h="864235">
                <a:moveTo>
                  <a:pt x="1397931" y="281192"/>
                </a:moveTo>
                <a:lnTo>
                  <a:pt x="1223874" y="281315"/>
                </a:lnTo>
                <a:lnTo>
                  <a:pt x="1397924" y="281315"/>
                </a:lnTo>
                <a:close/>
              </a:path>
            </a:pathLst>
          </a:custGeom>
          <a:solidFill>
            <a:srgbClr val="79C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36781" y="5894413"/>
            <a:ext cx="1393190" cy="577850"/>
          </a:xfrm>
          <a:custGeom>
            <a:avLst/>
            <a:gdLst/>
            <a:ahLst/>
            <a:cxnLst/>
            <a:rect l="l" t="t" r="r" b="b"/>
            <a:pathLst>
              <a:path w="1393190" h="577850">
                <a:moveTo>
                  <a:pt x="670941" y="0"/>
                </a:moveTo>
                <a:lnTo>
                  <a:pt x="304" y="63"/>
                </a:lnTo>
                <a:lnTo>
                  <a:pt x="190" y="2082"/>
                </a:lnTo>
                <a:lnTo>
                  <a:pt x="74" y="3163"/>
                </a:lnTo>
                <a:lnTo>
                  <a:pt x="0" y="577608"/>
                </a:lnTo>
                <a:lnTo>
                  <a:pt x="8382" y="576618"/>
                </a:lnTo>
                <a:lnTo>
                  <a:pt x="16852" y="576084"/>
                </a:lnTo>
                <a:lnTo>
                  <a:pt x="78266" y="561994"/>
                </a:lnTo>
                <a:lnTo>
                  <a:pt x="129192" y="544147"/>
                </a:lnTo>
                <a:lnTo>
                  <a:pt x="177834" y="520809"/>
                </a:lnTo>
                <a:lnTo>
                  <a:pt x="224104" y="491782"/>
                </a:lnTo>
                <a:lnTo>
                  <a:pt x="229525" y="488155"/>
                </a:lnTo>
                <a:lnTo>
                  <a:pt x="234805" y="486095"/>
                </a:lnTo>
                <a:lnTo>
                  <a:pt x="564948" y="486095"/>
                </a:lnTo>
                <a:lnTo>
                  <a:pt x="589915" y="465886"/>
                </a:lnTo>
                <a:lnTo>
                  <a:pt x="625813" y="421901"/>
                </a:lnTo>
                <a:lnTo>
                  <a:pt x="650709" y="370878"/>
                </a:lnTo>
                <a:lnTo>
                  <a:pt x="654037" y="361505"/>
                </a:lnTo>
                <a:lnTo>
                  <a:pt x="655916" y="359587"/>
                </a:lnTo>
                <a:lnTo>
                  <a:pt x="1175843" y="359587"/>
                </a:lnTo>
                <a:lnTo>
                  <a:pt x="1182070" y="355815"/>
                </a:lnTo>
                <a:lnTo>
                  <a:pt x="1219173" y="327884"/>
                </a:lnTo>
                <a:lnTo>
                  <a:pt x="1253869" y="296046"/>
                </a:lnTo>
                <a:lnTo>
                  <a:pt x="1264370" y="284453"/>
                </a:lnTo>
                <a:lnTo>
                  <a:pt x="805276" y="284453"/>
                </a:lnTo>
                <a:lnTo>
                  <a:pt x="776272" y="282449"/>
                </a:lnTo>
                <a:lnTo>
                  <a:pt x="711662" y="264701"/>
                </a:lnTo>
                <a:lnTo>
                  <a:pt x="661049" y="217730"/>
                </a:lnTo>
                <a:lnTo>
                  <a:pt x="639932" y="156201"/>
                </a:lnTo>
                <a:lnTo>
                  <a:pt x="643642" y="131206"/>
                </a:lnTo>
                <a:lnTo>
                  <a:pt x="656210" y="109226"/>
                </a:lnTo>
                <a:lnTo>
                  <a:pt x="677379" y="90411"/>
                </a:lnTo>
                <a:lnTo>
                  <a:pt x="685292" y="84757"/>
                </a:lnTo>
                <a:lnTo>
                  <a:pt x="692726" y="78609"/>
                </a:lnTo>
                <a:lnTo>
                  <a:pt x="699480" y="71762"/>
                </a:lnTo>
                <a:lnTo>
                  <a:pt x="705358" y="64007"/>
                </a:lnTo>
                <a:lnTo>
                  <a:pt x="710921" y="53212"/>
                </a:lnTo>
                <a:lnTo>
                  <a:pt x="713501" y="42181"/>
                </a:lnTo>
                <a:lnTo>
                  <a:pt x="712733" y="30948"/>
                </a:lnTo>
                <a:lnTo>
                  <a:pt x="708253" y="19545"/>
                </a:lnTo>
                <a:lnTo>
                  <a:pt x="701316" y="10397"/>
                </a:lnTo>
                <a:lnTo>
                  <a:pt x="692740" y="4352"/>
                </a:lnTo>
                <a:lnTo>
                  <a:pt x="682545" y="1013"/>
                </a:lnTo>
                <a:lnTo>
                  <a:pt x="670941" y="0"/>
                </a:lnTo>
                <a:close/>
              </a:path>
              <a:path w="1393190" h="577850">
                <a:moveTo>
                  <a:pt x="564948" y="486095"/>
                </a:moveTo>
                <a:lnTo>
                  <a:pt x="234805" y="486095"/>
                </a:lnTo>
                <a:lnTo>
                  <a:pt x="240297" y="486917"/>
                </a:lnTo>
                <a:lnTo>
                  <a:pt x="246354" y="491934"/>
                </a:lnTo>
                <a:lnTo>
                  <a:pt x="292127" y="519612"/>
                </a:lnTo>
                <a:lnTo>
                  <a:pt x="356043" y="539828"/>
                </a:lnTo>
                <a:lnTo>
                  <a:pt x="389877" y="543483"/>
                </a:lnTo>
                <a:lnTo>
                  <a:pt x="446086" y="540272"/>
                </a:lnTo>
                <a:lnTo>
                  <a:pt x="498182" y="526168"/>
                </a:lnTo>
                <a:lnTo>
                  <a:pt x="546136" y="501323"/>
                </a:lnTo>
                <a:lnTo>
                  <a:pt x="564948" y="486095"/>
                </a:lnTo>
                <a:close/>
              </a:path>
              <a:path w="1393190" h="577850">
                <a:moveTo>
                  <a:pt x="1175843" y="359587"/>
                </a:moveTo>
                <a:lnTo>
                  <a:pt x="655916" y="359587"/>
                </a:lnTo>
                <a:lnTo>
                  <a:pt x="665467" y="365391"/>
                </a:lnTo>
                <a:lnTo>
                  <a:pt x="711689" y="390455"/>
                </a:lnTo>
                <a:lnTo>
                  <a:pt x="758936" y="410054"/>
                </a:lnTo>
                <a:lnTo>
                  <a:pt x="807178" y="424208"/>
                </a:lnTo>
                <a:lnTo>
                  <a:pt x="856383" y="432935"/>
                </a:lnTo>
                <a:lnTo>
                  <a:pt x="906519" y="436254"/>
                </a:lnTo>
                <a:lnTo>
                  <a:pt x="957555" y="434184"/>
                </a:lnTo>
                <a:lnTo>
                  <a:pt x="1009459" y="426745"/>
                </a:lnTo>
                <a:lnTo>
                  <a:pt x="1056256" y="415304"/>
                </a:lnTo>
                <a:lnTo>
                  <a:pt x="1100619" y="399612"/>
                </a:lnTo>
                <a:lnTo>
                  <a:pt x="1142555" y="379753"/>
                </a:lnTo>
                <a:lnTo>
                  <a:pt x="1175843" y="359587"/>
                </a:lnTo>
                <a:close/>
              </a:path>
              <a:path w="1393190" h="577850">
                <a:moveTo>
                  <a:pt x="922439" y="355"/>
                </a:moveTo>
                <a:lnTo>
                  <a:pt x="879005" y="12763"/>
                </a:lnTo>
                <a:lnTo>
                  <a:pt x="860320" y="48909"/>
                </a:lnTo>
                <a:lnTo>
                  <a:pt x="864362" y="63474"/>
                </a:lnTo>
                <a:lnTo>
                  <a:pt x="869231" y="72588"/>
                </a:lnTo>
                <a:lnTo>
                  <a:pt x="875110" y="80967"/>
                </a:lnTo>
                <a:lnTo>
                  <a:pt x="881740" y="88800"/>
                </a:lnTo>
                <a:lnTo>
                  <a:pt x="888860" y="96278"/>
                </a:lnTo>
                <a:lnTo>
                  <a:pt x="906806" y="118457"/>
                </a:lnTo>
                <a:lnTo>
                  <a:pt x="918589" y="142703"/>
                </a:lnTo>
                <a:lnTo>
                  <a:pt x="923873" y="169073"/>
                </a:lnTo>
                <a:lnTo>
                  <a:pt x="922324" y="197624"/>
                </a:lnTo>
                <a:lnTo>
                  <a:pt x="902508" y="243655"/>
                </a:lnTo>
                <a:lnTo>
                  <a:pt x="862431" y="273303"/>
                </a:lnTo>
                <a:lnTo>
                  <a:pt x="805276" y="284453"/>
                </a:lnTo>
                <a:lnTo>
                  <a:pt x="1264370" y="284453"/>
                </a:lnTo>
                <a:lnTo>
                  <a:pt x="1315122" y="221756"/>
                </a:lnTo>
                <a:lnTo>
                  <a:pt x="1339601" y="181206"/>
                </a:lnTo>
                <a:lnTo>
                  <a:pt x="1359612" y="138768"/>
                </a:lnTo>
                <a:lnTo>
                  <a:pt x="1375167" y="94472"/>
                </a:lnTo>
                <a:lnTo>
                  <a:pt x="1386276" y="48350"/>
                </a:lnTo>
                <a:lnTo>
                  <a:pt x="1392897" y="800"/>
                </a:lnTo>
                <a:lnTo>
                  <a:pt x="1376794" y="800"/>
                </a:lnTo>
                <a:lnTo>
                  <a:pt x="922439" y="355"/>
                </a:lnTo>
                <a:close/>
              </a:path>
              <a:path w="1393190" h="577850">
                <a:moveTo>
                  <a:pt x="1392948" y="431"/>
                </a:moveTo>
                <a:lnTo>
                  <a:pt x="1384871" y="558"/>
                </a:lnTo>
                <a:lnTo>
                  <a:pt x="1376794" y="800"/>
                </a:lnTo>
                <a:lnTo>
                  <a:pt x="1392897" y="800"/>
                </a:lnTo>
                <a:lnTo>
                  <a:pt x="1392948" y="431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39616" y="4885740"/>
            <a:ext cx="1680210" cy="1009650"/>
          </a:xfrm>
          <a:custGeom>
            <a:avLst/>
            <a:gdLst/>
            <a:ahLst/>
            <a:cxnLst/>
            <a:rect l="l" t="t" r="r" b="b"/>
            <a:pathLst>
              <a:path w="1680210" h="1009650">
                <a:moveTo>
                  <a:pt x="500721" y="504081"/>
                </a:moveTo>
                <a:lnTo>
                  <a:pt x="487111" y="505094"/>
                </a:lnTo>
                <a:lnTo>
                  <a:pt x="473440" y="506684"/>
                </a:lnTo>
                <a:lnTo>
                  <a:pt x="459701" y="507428"/>
                </a:lnTo>
                <a:lnTo>
                  <a:pt x="409752" y="514375"/>
                </a:lnTo>
                <a:lnTo>
                  <a:pt x="360432" y="527127"/>
                </a:lnTo>
                <a:lnTo>
                  <a:pt x="313804" y="543623"/>
                </a:lnTo>
                <a:lnTo>
                  <a:pt x="269886" y="563877"/>
                </a:lnTo>
                <a:lnTo>
                  <a:pt x="228698" y="587901"/>
                </a:lnTo>
                <a:lnTo>
                  <a:pt x="190258" y="615707"/>
                </a:lnTo>
                <a:lnTo>
                  <a:pt x="154585" y="647308"/>
                </a:lnTo>
                <a:lnTo>
                  <a:pt x="121697" y="682717"/>
                </a:lnTo>
                <a:lnTo>
                  <a:pt x="91612" y="721947"/>
                </a:lnTo>
                <a:lnTo>
                  <a:pt x="64350" y="765009"/>
                </a:lnTo>
                <a:lnTo>
                  <a:pt x="41038" y="810936"/>
                </a:lnTo>
                <a:lnTo>
                  <a:pt x="22983" y="858342"/>
                </a:lnTo>
                <a:lnTo>
                  <a:pt x="10149" y="907178"/>
                </a:lnTo>
                <a:lnTo>
                  <a:pt x="2500" y="957398"/>
                </a:lnTo>
                <a:lnTo>
                  <a:pt x="0" y="1008951"/>
                </a:lnTo>
                <a:lnTo>
                  <a:pt x="491235" y="1009142"/>
                </a:lnTo>
                <a:lnTo>
                  <a:pt x="532389" y="998565"/>
                </a:lnTo>
                <a:lnTo>
                  <a:pt x="552851" y="969498"/>
                </a:lnTo>
                <a:lnTo>
                  <a:pt x="552643" y="959034"/>
                </a:lnTo>
                <a:lnTo>
                  <a:pt x="530857" y="920458"/>
                </a:lnTo>
                <a:lnTo>
                  <a:pt x="523087" y="912329"/>
                </a:lnTo>
                <a:lnTo>
                  <a:pt x="499685" y="879219"/>
                </a:lnTo>
                <a:lnTo>
                  <a:pt x="489405" y="842016"/>
                </a:lnTo>
                <a:lnTo>
                  <a:pt x="492610" y="804041"/>
                </a:lnTo>
                <a:lnTo>
                  <a:pt x="509663" y="768616"/>
                </a:lnTo>
                <a:lnTo>
                  <a:pt x="543015" y="739630"/>
                </a:lnTo>
                <a:lnTo>
                  <a:pt x="585215" y="727913"/>
                </a:lnTo>
                <a:lnTo>
                  <a:pt x="615131" y="727537"/>
                </a:lnTo>
                <a:lnTo>
                  <a:pt x="1397366" y="727537"/>
                </a:lnTo>
                <a:lnTo>
                  <a:pt x="1397374" y="514667"/>
                </a:lnTo>
                <a:lnTo>
                  <a:pt x="611060" y="514667"/>
                </a:lnTo>
                <a:lnTo>
                  <a:pt x="602090" y="513740"/>
                </a:lnTo>
                <a:lnTo>
                  <a:pt x="588340" y="513740"/>
                </a:lnTo>
                <a:lnTo>
                  <a:pt x="582320" y="511810"/>
                </a:lnTo>
                <a:lnTo>
                  <a:pt x="565378" y="508280"/>
                </a:lnTo>
                <a:lnTo>
                  <a:pt x="548311" y="507257"/>
                </a:lnTo>
                <a:lnTo>
                  <a:pt x="531237" y="506823"/>
                </a:lnTo>
                <a:lnTo>
                  <a:pt x="514273" y="505066"/>
                </a:lnTo>
                <a:lnTo>
                  <a:pt x="500721" y="504081"/>
                </a:lnTo>
                <a:close/>
              </a:path>
              <a:path w="1680210" h="1009650">
                <a:moveTo>
                  <a:pt x="1397366" y="727537"/>
                </a:moveTo>
                <a:lnTo>
                  <a:pt x="615131" y="727537"/>
                </a:lnTo>
                <a:lnTo>
                  <a:pt x="644148" y="731712"/>
                </a:lnTo>
                <a:lnTo>
                  <a:pt x="671696" y="741384"/>
                </a:lnTo>
                <a:lnTo>
                  <a:pt x="718938" y="778147"/>
                </a:lnTo>
                <a:lnTo>
                  <a:pt x="746266" y="828500"/>
                </a:lnTo>
                <a:lnTo>
                  <a:pt x="749604" y="858951"/>
                </a:lnTo>
                <a:lnTo>
                  <a:pt x="747002" y="877132"/>
                </a:lnTo>
                <a:lnTo>
                  <a:pt x="740209" y="892963"/>
                </a:lnTo>
                <a:lnTo>
                  <a:pt x="729545" y="906559"/>
                </a:lnTo>
                <a:lnTo>
                  <a:pt x="715327" y="918032"/>
                </a:lnTo>
                <a:lnTo>
                  <a:pt x="703174" y="926693"/>
                </a:lnTo>
                <a:lnTo>
                  <a:pt x="692453" y="936513"/>
                </a:lnTo>
                <a:lnTo>
                  <a:pt x="683865" y="948182"/>
                </a:lnTo>
                <a:lnTo>
                  <a:pt x="678179" y="962215"/>
                </a:lnTo>
                <a:lnTo>
                  <a:pt x="677772" y="978912"/>
                </a:lnTo>
                <a:lnTo>
                  <a:pt x="684183" y="993889"/>
                </a:lnTo>
                <a:lnTo>
                  <a:pt x="695810" y="1004685"/>
                </a:lnTo>
                <a:lnTo>
                  <a:pt x="711047" y="1008837"/>
                </a:lnTo>
                <a:lnTo>
                  <a:pt x="1284165" y="1008967"/>
                </a:lnTo>
                <a:lnTo>
                  <a:pt x="1397533" y="1008837"/>
                </a:lnTo>
                <a:lnTo>
                  <a:pt x="1397459" y="1008169"/>
                </a:lnTo>
                <a:lnTo>
                  <a:pt x="1397366" y="727537"/>
                </a:lnTo>
                <a:close/>
              </a:path>
              <a:path w="1680210" h="1009650">
                <a:moveTo>
                  <a:pt x="815355" y="395379"/>
                </a:moveTo>
                <a:lnTo>
                  <a:pt x="758724" y="402480"/>
                </a:lnTo>
                <a:lnTo>
                  <a:pt x="713251" y="419141"/>
                </a:lnTo>
                <a:lnTo>
                  <a:pt x="669869" y="446511"/>
                </a:lnTo>
                <a:lnTo>
                  <a:pt x="631712" y="483341"/>
                </a:lnTo>
                <a:lnTo>
                  <a:pt x="614679" y="510463"/>
                </a:lnTo>
                <a:lnTo>
                  <a:pt x="611060" y="514667"/>
                </a:lnTo>
                <a:lnTo>
                  <a:pt x="1397374" y="514667"/>
                </a:lnTo>
                <a:lnTo>
                  <a:pt x="1397378" y="397611"/>
                </a:lnTo>
                <a:lnTo>
                  <a:pt x="853732" y="397611"/>
                </a:lnTo>
                <a:lnTo>
                  <a:pt x="848271" y="396938"/>
                </a:lnTo>
                <a:lnTo>
                  <a:pt x="831815" y="395549"/>
                </a:lnTo>
                <a:lnTo>
                  <a:pt x="815355" y="395379"/>
                </a:lnTo>
                <a:close/>
              </a:path>
              <a:path w="1680210" h="1009650">
                <a:moveTo>
                  <a:pt x="597052" y="513219"/>
                </a:moveTo>
                <a:lnTo>
                  <a:pt x="588340" y="513740"/>
                </a:lnTo>
                <a:lnTo>
                  <a:pt x="602090" y="513740"/>
                </a:lnTo>
                <a:lnTo>
                  <a:pt x="597052" y="513219"/>
                </a:lnTo>
                <a:close/>
              </a:path>
              <a:path w="1680210" h="1009650">
                <a:moveTo>
                  <a:pt x="1168663" y="89220"/>
                </a:moveTo>
                <a:lnTo>
                  <a:pt x="1124514" y="90369"/>
                </a:lnTo>
                <a:lnTo>
                  <a:pt x="1080046" y="98056"/>
                </a:lnTo>
                <a:lnTo>
                  <a:pt x="1033108" y="113677"/>
                </a:lnTo>
                <a:lnTo>
                  <a:pt x="990736" y="136459"/>
                </a:lnTo>
                <a:lnTo>
                  <a:pt x="952883" y="166145"/>
                </a:lnTo>
                <a:lnTo>
                  <a:pt x="919505" y="202476"/>
                </a:lnTo>
                <a:lnTo>
                  <a:pt x="891159" y="244999"/>
                </a:lnTo>
                <a:lnTo>
                  <a:pt x="870951" y="290414"/>
                </a:lnTo>
                <a:lnTo>
                  <a:pt x="859085" y="338700"/>
                </a:lnTo>
                <a:lnTo>
                  <a:pt x="855764" y="389839"/>
                </a:lnTo>
                <a:lnTo>
                  <a:pt x="855891" y="396328"/>
                </a:lnTo>
                <a:lnTo>
                  <a:pt x="853732" y="397611"/>
                </a:lnTo>
                <a:lnTo>
                  <a:pt x="1397378" y="397611"/>
                </a:lnTo>
                <a:lnTo>
                  <a:pt x="1397380" y="330936"/>
                </a:lnTo>
                <a:lnTo>
                  <a:pt x="1401281" y="315847"/>
                </a:lnTo>
                <a:lnTo>
                  <a:pt x="1411500" y="303939"/>
                </a:lnTo>
                <a:lnTo>
                  <a:pt x="1425809" y="296875"/>
                </a:lnTo>
                <a:lnTo>
                  <a:pt x="1441983" y="296316"/>
                </a:lnTo>
                <a:lnTo>
                  <a:pt x="1660521" y="296316"/>
                </a:lnTo>
                <a:lnTo>
                  <a:pt x="1669475" y="278604"/>
                </a:lnTo>
                <a:lnTo>
                  <a:pt x="1677626" y="242997"/>
                </a:lnTo>
                <a:lnTo>
                  <a:pt x="1679689" y="205003"/>
                </a:lnTo>
                <a:lnTo>
                  <a:pt x="1678220" y="185481"/>
                </a:lnTo>
                <a:lnTo>
                  <a:pt x="1673920" y="166851"/>
                </a:lnTo>
                <a:lnTo>
                  <a:pt x="1670648" y="159076"/>
                </a:lnTo>
                <a:lnTo>
                  <a:pt x="1443640" y="159076"/>
                </a:lnTo>
                <a:lnTo>
                  <a:pt x="1434604" y="158051"/>
                </a:lnTo>
                <a:lnTo>
                  <a:pt x="1419998" y="151024"/>
                </a:lnTo>
                <a:lnTo>
                  <a:pt x="1408268" y="138861"/>
                </a:lnTo>
                <a:lnTo>
                  <a:pt x="1400428" y="122850"/>
                </a:lnTo>
                <a:lnTo>
                  <a:pt x="1398472" y="110464"/>
                </a:lnTo>
                <a:lnTo>
                  <a:pt x="1261529" y="110464"/>
                </a:lnTo>
                <a:lnTo>
                  <a:pt x="1255737" y="108178"/>
                </a:lnTo>
                <a:lnTo>
                  <a:pt x="1212385" y="95015"/>
                </a:lnTo>
                <a:lnTo>
                  <a:pt x="1168663" y="89220"/>
                </a:lnTo>
                <a:close/>
              </a:path>
              <a:path w="1680210" h="1009650">
                <a:moveTo>
                  <a:pt x="1660521" y="296316"/>
                </a:moveTo>
                <a:lnTo>
                  <a:pt x="1441983" y="296316"/>
                </a:lnTo>
                <a:lnTo>
                  <a:pt x="1456695" y="301410"/>
                </a:lnTo>
                <a:lnTo>
                  <a:pt x="1468834" y="309740"/>
                </a:lnTo>
                <a:lnTo>
                  <a:pt x="1479034" y="320508"/>
                </a:lnTo>
                <a:lnTo>
                  <a:pt x="1487931" y="332917"/>
                </a:lnTo>
                <a:lnTo>
                  <a:pt x="1501439" y="349317"/>
                </a:lnTo>
                <a:lnTo>
                  <a:pt x="1517454" y="360780"/>
                </a:lnTo>
                <a:lnTo>
                  <a:pt x="1536082" y="367163"/>
                </a:lnTo>
                <a:lnTo>
                  <a:pt x="1557426" y="368325"/>
                </a:lnTo>
                <a:lnTo>
                  <a:pt x="1576526" y="365314"/>
                </a:lnTo>
                <a:lnTo>
                  <a:pt x="1594261" y="359165"/>
                </a:lnTo>
                <a:lnTo>
                  <a:pt x="1610831" y="350316"/>
                </a:lnTo>
                <a:lnTo>
                  <a:pt x="1626438" y="339204"/>
                </a:lnTo>
                <a:lnTo>
                  <a:pt x="1653118" y="310961"/>
                </a:lnTo>
                <a:lnTo>
                  <a:pt x="1660521" y="296316"/>
                </a:lnTo>
                <a:close/>
              </a:path>
              <a:path w="1680210" h="1009650">
                <a:moveTo>
                  <a:pt x="1579741" y="95015"/>
                </a:moveTo>
                <a:lnTo>
                  <a:pt x="1536475" y="101808"/>
                </a:lnTo>
                <a:lnTo>
                  <a:pt x="1497609" y="126072"/>
                </a:lnTo>
                <a:lnTo>
                  <a:pt x="1490544" y="132880"/>
                </a:lnTo>
                <a:lnTo>
                  <a:pt x="1483520" y="139409"/>
                </a:lnTo>
                <a:lnTo>
                  <a:pt x="1443640" y="159076"/>
                </a:lnTo>
                <a:lnTo>
                  <a:pt x="1670648" y="159076"/>
                </a:lnTo>
                <a:lnTo>
                  <a:pt x="1666519" y="149266"/>
                </a:lnTo>
                <a:lnTo>
                  <a:pt x="1655749" y="132880"/>
                </a:lnTo>
                <a:lnTo>
                  <a:pt x="1621476" y="105452"/>
                </a:lnTo>
                <a:lnTo>
                  <a:pt x="1579741" y="95015"/>
                </a:lnTo>
                <a:close/>
              </a:path>
              <a:path w="1680210" h="1009650">
                <a:moveTo>
                  <a:pt x="1397292" y="0"/>
                </a:moveTo>
                <a:lnTo>
                  <a:pt x="1395488" y="850"/>
                </a:lnTo>
                <a:lnTo>
                  <a:pt x="1393570" y="1524"/>
                </a:lnTo>
                <a:lnTo>
                  <a:pt x="1391869" y="2552"/>
                </a:lnTo>
                <a:lnTo>
                  <a:pt x="1358120" y="24745"/>
                </a:lnTo>
                <a:lnTo>
                  <a:pt x="1326240" y="49231"/>
                </a:lnTo>
                <a:lnTo>
                  <a:pt x="1296034" y="75765"/>
                </a:lnTo>
                <a:lnTo>
                  <a:pt x="1267307" y="104101"/>
                </a:lnTo>
                <a:lnTo>
                  <a:pt x="1261529" y="110464"/>
                </a:lnTo>
                <a:lnTo>
                  <a:pt x="1398472" y="110464"/>
                </a:lnTo>
                <a:lnTo>
                  <a:pt x="1397495" y="104279"/>
                </a:lnTo>
                <a:lnTo>
                  <a:pt x="1397400" y="75765"/>
                </a:lnTo>
                <a:lnTo>
                  <a:pt x="1397292" y="0"/>
                </a:lnTo>
                <a:close/>
              </a:path>
            </a:pathLst>
          </a:custGeom>
          <a:solidFill>
            <a:srgbClr val="2883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89154" y="2621229"/>
            <a:ext cx="424815" cy="2200910"/>
          </a:xfrm>
          <a:custGeom>
            <a:avLst/>
            <a:gdLst/>
            <a:ahLst/>
            <a:cxnLst/>
            <a:rect l="l" t="t" r="r" b="b"/>
            <a:pathLst>
              <a:path w="424814" h="2200910">
                <a:moveTo>
                  <a:pt x="191900" y="2198471"/>
                </a:moveTo>
                <a:lnTo>
                  <a:pt x="178195" y="2198471"/>
                </a:lnTo>
                <a:lnTo>
                  <a:pt x="179414" y="2199005"/>
                </a:lnTo>
                <a:lnTo>
                  <a:pt x="180735" y="2199398"/>
                </a:lnTo>
                <a:lnTo>
                  <a:pt x="186526" y="2200389"/>
                </a:lnTo>
                <a:lnTo>
                  <a:pt x="190882" y="2199220"/>
                </a:lnTo>
                <a:lnTo>
                  <a:pt x="191900" y="2198471"/>
                </a:lnTo>
                <a:close/>
              </a:path>
              <a:path w="424814" h="2200910">
                <a:moveTo>
                  <a:pt x="14431" y="2148762"/>
                </a:moveTo>
                <a:lnTo>
                  <a:pt x="8507" y="2150564"/>
                </a:lnTo>
                <a:lnTo>
                  <a:pt x="3693" y="2154456"/>
                </a:lnTo>
                <a:lnTo>
                  <a:pt x="636" y="2160092"/>
                </a:lnTo>
                <a:lnTo>
                  <a:pt x="0" y="2166477"/>
                </a:lnTo>
                <a:lnTo>
                  <a:pt x="1800" y="2172401"/>
                </a:lnTo>
                <a:lnTo>
                  <a:pt x="45084" y="2189265"/>
                </a:lnTo>
                <a:lnTo>
                  <a:pt x="110056" y="2198974"/>
                </a:lnTo>
                <a:lnTo>
                  <a:pt x="141073" y="2200109"/>
                </a:lnTo>
                <a:lnTo>
                  <a:pt x="150518" y="2200003"/>
                </a:lnTo>
                <a:lnTo>
                  <a:pt x="159858" y="2199690"/>
                </a:lnTo>
                <a:lnTo>
                  <a:pt x="169085" y="2199177"/>
                </a:lnTo>
                <a:lnTo>
                  <a:pt x="178195" y="2198471"/>
                </a:lnTo>
                <a:lnTo>
                  <a:pt x="191900" y="2198471"/>
                </a:lnTo>
                <a:lnTo>
                  <a:pt x="194299" y="2196706"/>
                </a:lnTo>
                <a:lnTo>
                  <a:pt x="250351" y="2185476"/>
                </a:lnTo>
                <a:lnTo>
                  <a:pt x="299976" y="2168206"/>
                </a:lnTo>
                <a:lnTo>
                  <a:pt x="300540" y="2167920"/>
                </a:lnTo>
                <a:lnTo>
                  <a:pt x="133927" y="2167920"/>
                </a:lnTo>
                <a:lnTo>
                  <a:pt x="97629" y="2165494"/>
                </a:lnTo>
                <a:lnTo>
                  <a:pt x="59869" y="2159446"/>
                </a:lnTo>
                <a:lnTo>
                  <a:pt x="20817" y="2149398"/>
                </a:lnTo>
                <a:lnTo>
                  <a:pt x="14431" y="2148762"/>
                </a:lnTo>
                <a:close/>
              </a:path>
              <a:path w="424814" h="2200910">
                <a:moveTo>
                  <a:pt x="200890" y="0"/>
                </a:moveTo>
                <a:lnTo>
                  <a:pt x="168594" y="0"/>
                </a:lnTo>
                <a:lnTo>
                  <a:pt x="168594" y="2167102"/>
                </a:lnTo>
                <a:lnTo>
                  <a:pt x="133927" y="2167920"/>
                </a:lnTo>
                <a:lnTo>
                  <a:pt x="300540" y="2167920"/>
                </a:lnTo>
                <a:lnTo>
                  <a:pt x="313044" y="2161590"/>
                </a:lnTo>
                <a:lnTo>
                  <a:pt x="212040" y="2161590"/>
                </a:lnTo>
                <a:lnTo>
                  <a:pt x="233281" y="2125797"/>
                </a:lnTo>
                <a:lnTo>
                  <a:pt x="241890" y="2115680"/>
                </a:lnTo>
                <a:lnTo>
                  <a:pt x="200890" y="2115680"/>
                </a:lnTo>
                <a:lnTo>
                  <a:pt x="200890" y="0"/>
                </a:lnTo>
                <a:close/>
              </a:path>
              <a:path w="424814" h="2200910">
                <a:moveTo>
                  <a:pt x="423160" y="2042210"/>
                </a:moveTo>
                <a:lnTo>
                  <a:pt x="384532" y="2042210"/>
                </a:lnTo>
                <a:lnTo>
                  <a:pt x="390844" y="2045246"/>
                </a:lnTo>
                <a:lnTo>
                  <a:pt x="391872" y="2047443"/>
                </a:lnTo>
                <a:lnTo>
                  <a:pt x="350651" y="2102558"/>
                </a:lnTo>
                <a:lnTo>
                  <a:pt x="313520" y="2126408"/>
                </a:lnTo>
                <a:lnTo>
                  <a:pt x="266940" y="2146920"/>
                </a:lnTo>
                <a:lnTo>
                  <a:pt x="212040" y="2161590"/>
                </a:lnTo>
                <a:lnTo>
                  <a:pt x="313044" y="2161590"/>
                </a:lnTo>
                <a:lnTo>
                  <a:pt x="376494" y="2123064"/>
                </a:lnTo>
                <a:lnTo>
                  <a:pt x="414754" y="2080932"/>
                </a:lnTo>
                <a:lnTo>
                  <a:pt x="424540" y="2047799"/>
                </a:lnTo>
                <a:lnTo>
                  <a:pt x="423160" y="2042210"/>
                </a:lnTo>
                <a:close/>
              </a:path>
              <a:path w="424814" h="2200910">
                <a:moveTo>
                  <a:pt x="367298" y="2009990"/>
                </a:moveTo>
                <a:lnTo>
                  <a:pt x="310464" y="2021114"/>
                </a:lnTo>
                <a:lnTo>
                  <a:pt x="264206" y="2046357"/>
                </a:lnTo>
                <a:lnTo>
                  <a:pt x="227891" y="2079838"/>
                </a:lnTo>
                <a:lnTo>
                  <a:pt x="200890" y="2115680"/>
                </a:lnTo>
                <a:lnTo>
                  <a:pt x="241890" y="2115680"/>
                </a:lnTo>
                <a:lnTo>
                  <a:pt x="265947" y="2087410"/>
                </a:lnTo>
                <a:lnTo>
                  <a:pt x="310751" y="2056281"/>
                </a:lnTo>
                <a:lnTo>
                  <a:pt x="368403" y="2042261"/>
                </a:lnTo>
                <a:lnTo>
                  <a:pt x="423160" y="2042210"/>
                </a:lnTo>
                <a:lnTo>
                  <a:pt x="421006" y="2033485"/>
                </a:lnTo>
                <a:lnTo>
                  <a:pt x="415163" y="2024855"/>
                </a:lnTo>
                <a:lnTo>
                  <a:pt x="405034" y="2017037"/>
                </a:lnTo>
                <a:lnTo>
                  <a:pt x="389465" y="2011570"/>
                </a:lnTo>
                <a:lnTo>
                  <a:pt x="367298" y="200999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64657" y="4820539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32613" y="0"/>
                </a:moveTo>
                <a:lnTo>
                  <a:pt x="19920" y="2561"/>
                </a:lnTo>
                <a:lnTo>
                  <a:pt x="9553" y="9547"/>
                </a:lnTo>
                <a:lnTo>
                  <a:pt x="2563" y="19909"/>
                </a:lnTo>
                <a:lnTo>
                  <a:pt x="0" y="32600"/>
                </a:lnTo>
                <a:lnTo>
                  <a:pt x="2563" y="45292"/>
                </a:lnTo>
                <a:lnTo>
                  <a:pt x="9553" y="55654"/>
                </a:lnTo>
                <a:lnTo>
                  <a:pt x="19920" y="62640"/>
                </a:lnTo>
                <a:lnTo>
                  <a:pt x="32613" y="65201"/>
                </a:lnTo>
                <a:lnTo>
                  <a:pt x="45304" y="62640"/>
                </a:lnTo>
                <a:lnTo>
                  <a:pt x="55667" y="55654"/>
                </a:lnTo>
                <a:lnTo>
                  <a:pt x="62653" y="45292"/>
                </a:lnTo>
                <a:lnTo>
                  <a:pt x="65214" y="32600"/>
                </a:lnTo>
                <a:lnTo>
                  <a:pt x="62653" y="19909"/>
                </a:lnTo>
                <a:lnTo>
                  <a:pt x="55667" y="9547"/>
                </a:lnTo>
                <a:lnTo>
                  <a:pt x="45304" y="2561"/>
                </a:lnTo>
                <a:lnTo>
                  <a:pt x="32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549241" y="5455043"/>
            <a:ext cx="6197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1200" spc="30">
                <a:solidFill>
                  <a:srgbClr val="FFFFFF"/>
                </a:solidFill>
                <a:latin typeface="Calibri"/>
                <a:cs typeface="Calibri"/>
              </a:rPr>
              <a:t>ompu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9490" y="5939980"/>
            <a:ext cx="77851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200" spc="3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dirty="0" sz="1200" spc="45">
                <a:solidFill>
                  <a:srgbClr val="FFFFFF"/>
                </a:solidFill>
                <a:latin typeface="Calibri"/>
                <a:cs typeface="Calibri"/>
              </a:rPr>
              <a:t>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7040" y="5455043"/>
            <a:ext cx="51752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3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200" spc="35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1589" y="5939980"/>
            <a:ext cx="68135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3900" y="2098814"/>
            <a:ext cx="4001770" cy="1552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04139">
              <a:lnSpc>
                <a:spcPct val="100000"/>
              </a:lnSpc>
            </a:pPr>
            <a:r>
              <a:rPr dirty="0" sz="3200" spc="-180">
                <a:solidFill>
                  <a:srgbClr val="F5F4F4"/>
                </a:solidFill>
                <a:latin typeface="Arial"/>
                <a:cs typeface="Arial"/>
              </a:rPr>
              <a:t>ARCHITECTURE </a:t>
            </a:r>
            <a:r>
              <a:rPr dirty="0" sz="3200" spc="-225">
                <a:solidFill>
                  <a:srgbClr val="F5F4F4"/>
                </a:solidFill>
                <a:latin typeface="Arial"/>
                <a:cs typeface="Arial"/>
              </a:rPr>
              <a:t>OF </a:t>
            </a:r>
            <a:r>
              <a:rPr dirty="0" sz="3200" spc="-140">
                <a:solidFill>
                  <a:srgbClr val="F5F4F4"/>
                </a:solidFill>
                <a:latin typeface="Arial"/>
                <a:cs typeface="Arial"/>
              </a:rPr>
              <a:t>A  </a:t>
            </a:r>
            <a:r>
              <a:rPr dirty="0" sz="3200" spc="-235">
                <a:solidFill>
                  <a:srgbClr val="F5F4F4"/>
                </a:solidFill>
                <a:latin typeface="Arial"/>
                <a:cs typeface="Arial"/>
              </a:rPr>
              <a:t>CLOUD</a:t>
            </a:r>
            <a:r>
              <a:rPr dirty="0" sz="3200" spc="-20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200" spc="-150">
                <a:solidFill>
                  <a:srgbClr val="F5F4F4"/>
                </a:solidFill>
                <a:latin typeface="Arial"/>
                <a:cs typeface="Arial"/>
              </a:rPr>
              <a:t>PLATFORM</a:t>
            </a:r>
            <a:endParaRPr sz="3200">
              <a:latin typeface="Arial"/>
              <a:cs typeface="Arial"/>
            </a:endParaRPr>
          </a:p>
          <a:p>
            <a:pPr marL="105410">
              <a:lnSpc>
                <a:spcPct val="100000"/>
              </a:lnSpc>
              <a:spcBef>
                <a:spcPts val="1900"/>
              </a:spcBef>
            </a:pPr>
            <a:r>
              <a:rPr dirty="0" sz="2200" spc="40" i="1">
                <a:solidFill>
                  <a:srgbClr val="F5F4F4"/>
                </a:solidFill>
                <a:latin typeface="Calibri"/>
                <a:cs typeface="Calibri"/>
              </a:rPr>
              <a:t>Piecing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the </a:t>
            </a:r>
            <a:r>
              <a:rPr dirty="0" sz="2200" spc="40" i="1">
                <a:solidFill>
                  <a:srgbClr val="F5F4F4"/>
                </a:solidFill>
                <a:latin typeface="Calibri"/>
                <a:cs typeface="Calibri"/>
              </a:rPr>
              <a:t>Cloud </a:t>
            </a:r>
            <a:r>
              <a:rPr dirty="0" sz="2200" spc="70" i="1">
                <a:solidFill>
                  <a:srgbClr val="F5F4F4"/>
                </a:solidFill>
                <a:latin typeface="Calibri"/>
                <a:cs typeface="Calibri"/>
              </a:rPr>
              <a:t>Puzzle</a:t>
            </a:r>
            <a:r>
              <a:rPr dirty="0" sz="2200" spc="-10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together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300" y="4734648"/>
            <a:ext cx="2781300" cy="296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What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is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 Cloud</a:t>
            </a:r>
            <a:r>
              <a:rPr dirty="0" sz="1850" spc="-2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Platform?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5479506"/>
            <a:ext cx="2614930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comprehensive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providing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appli-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cation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 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hosting.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offered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categorised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and higher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higher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top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fundamental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layer.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300" y="7201687"/>
            <a:ext cx="2343785" cy="699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</a:pP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Let’s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explore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500" spc="-18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essentials 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and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add-ons </a:t>
            </a:r>
            <a:r>
              <a:rPr dirty="0" sz="1500" spc="55">
                <a:solidFill>
                  <a:srgbClr val="202020"/>
                </a:solidFill>
                <a:latin typeface="Arial"/>
                <a:cs typeface="Arial"/>
              </a:rPr>
              <a:t>of</a:t>
            </a:r>
            <a:r>
              <a:rPr dirty="0" sz="1500" spc="-29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cloud </a:t>
            </a: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ser- 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vices</a:t>
            </a:r>
            <a:r>
              <a:rPr dirty="0" sz="1500" spc="-1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suite: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9300" y="8077975"/>
            <a:ext cx="2620645" cy="806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A. 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Building-block</a:t>
            </a:r>
            <a:r>
              <a:rPr dirty="0" sz="1500" spc="-1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Any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self-respecting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his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arsenal.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7050" y="6845772"/>
            <a:ext cx="249237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offered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platforms 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7000" y="7577378"/>
            <a:ext cx="1261745" cy="1385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buChar char="•"/>
              <a:tabLst>
                <a:tab pos="266700" algn="l"/>
                <a:tab pos="267335" algn="l"/>
              </a:tabLst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Compute</a:t>
            </a:r>
            <a:endParaRPr sz="15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spcBef>
                <a:spcPts val="1200"/>
              </a:spcBef>
              <a:buChar char="•"/>
              <a:tabLst>
                <a:tab pos="266700" algn="l"/>
                <a:tab pos="267335" algn="l"/>
              </a:tabLst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spcBef>
                <a:spcPts val="1200"/>
              </a:spcBef>
              <a:buChar char="•"/>
              <a:tabLst>
                <a:tab pos="266700" algn="l"/>
                <a:tab pos="267335" algn="l"/>
              </a:tabLst>
            </a:pP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Networking</a:t>
            </a:r>
            <a:endParaRPr sz="15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spcBef>
                <a:spcPts val="1200"/>
              </a:spcBef>
              <a:buChar char="•"/>
              <a:tabLst>
                <a:tab pos="266700" algn="l"/>
                <a:tab pos="267335" algn="l"/>
              </a:tabLst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Databases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064" y="1461719"/>
            <a:ext cx="2625090" cy="1568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35">
                <a:solidFill>
                  <a:srgbClr val="202020"/>
                </a:solidFill>
                <a:latin typeface="Arial"/>
                <a:cs typeface="Arial"/>
              </a:rPr>
              <a:t>B. 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Higher-level</a:t>
            </a:r>
            <a:r>
              <a:rPr dirty="0" sz="1500" spc="-11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higher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level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stack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diverse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mostly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meant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cloud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easy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offering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additional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layer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abstraction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easier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deployments.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064" y="3214319"/>
            <a:ext cx="2322195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5900" indent="-203200">
              <a:lnSpc>
                <a:spcPct val="100000"/>
              </a:lnSpc>
              <a:buChar char="•"/>
              <a:tabLst>
                <a:tab pos="215900" algn="l"/>
                <a:tab pos="216535" algn="l"/>
              </a:tabLst>
            </a:pP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Application</a:t>
            </a:r>
            <a:r>
              <a:rPr dirty="0" sz="1200" spc="-8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Function: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optimise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cloud.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064" y="3968638"/>
            <a:ext cx="261810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Examples: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SNS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Pub/Sub.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064" y="4547819"/>
            <a:ext cx="2529840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5900" indent="-203200">
              <a:lnSpc>
                <a:spcPct val="100000"/>
              </a:lnSpc>
              <a:buChar char="•"/>
              <a:tabLst>
                <a:tab pos="215900" algn="l"/>
                <a:tab pos="216535" algn="l"/>
              </a:tabLst>
            </a:pPr>
            <a:r>
              <a:rPr dirty="0" sz="1200" spc="-5">
                <a:solidFill>
                  <a:srgbClr val="202020"/>
                </a:solidFill>
                <a:latin typeface="Arial"/>
                <a:cs typeface="Arial"/>
              </a:rPr>
              <a:t>Data</a:t>
            </a:r>
            <a:r>
              <a:rPr dirty="0" sz="1200" spc="-13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Function: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enable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Big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64" y="5302138"/>
            <a:ext cx="262509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Examples: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Kinesis and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Dataflow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6923" y="1463182"/>
            <a:ext cx="229933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215900" algn="l"/>
                <a:tab pos="216535" algn="l"/>
              </a:tabLst>
            </a:pP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Management services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Function: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track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performance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running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6936" y="2217562"/>
            <a:ext cx="244792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Examples: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CloudWatch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Monitoring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6936" y="2789062"/>
            <a:ext cx="2599690" cy="306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plat-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forms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backed by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robust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set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basic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that’s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all!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constantly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innovating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strengthen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architecture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further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add higher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recently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launched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services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family.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expected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power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next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wave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products.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Offering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such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cutting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edge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fastest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way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mainstream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beneﬁts, 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developers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everywhere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harness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potential.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316" y="6715264"/>
            <a:ext cx="5791200" cy="1691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</a:pP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entered the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200" spc="20" i="1">
                <a:solidFill>
                  <a:srgbClr val="2C99CF"/>
                </a:solidFill>
                <a:latin typeface="Calibri"/>
                <a:cs typeface="Calibri"/>
              </a:rPr>
              <a:t>game </a:t>
            </a:r>
            <a:r>
              <a:rPr dirty="0" sz="2200" spc="-50" i="1">
                <a:solidFill>
                  <a:srgbClr val="2C99CF"/>
                </a:solidFill>
                <a:latin typeface="Calibri"/>
                <a:cs typeface="Calibri"/>
              </a:rPr>
              <a:t>late,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but the 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Alphabet </a:t>
            </a:r>
            <a:r>
              <a:rPr dirty="0" sz="2200" spc="55" i="1">
                <a:solidFill>
                  <a:srgbClr val="2C99CF"/>
                </a:solidFill>
                <a:latin typeface="Calibri"/>
                <a:cs typeface="Calibri"/>
              </a:rPr>
              <a:t>Inc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is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not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one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be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left </a:t>
            </a:r>
            <a:r>
              <a:rPr dirty="0" sz="2200" spc="-30" i="1">
                <a:solidFill>
                  <a:srgbClr val="2C99CF"/>
                </a:solidFill>
                <a:latin typeface="Calibri"/>
                <a:cs typeface="Calibri"/>
              </a:rPr>
              <a:t>behind!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is 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launching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new </a:t>
            </a:r>
            <a:r>
              <a:rPr dirty="0" sz="2200" spc="35" i="1">
                <a:solidFill>
                  <a:srgbClr val="2C99CF"/>
                </a:solidFill>
                <a:latin typeface="Calibri"/>
                <a:cs typeface="Calibri"/>
              </a:rPr>
              <a:t>products </a:t>
            </a:r>
            <a:r>
              <a:rPr dirty="0" sz="2200" spc="-35" i="1">
                <a:solidFill>
                  <a:srgbClr val="2C99CF"/>
                </a:solidFill>
                <a:latin typeface="Calibri"/>
                <a:cs typeface="Calibri"/>
              </a:rPr>
              <a:t>at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rapid </a:t>
            </a:r>
            <a:r>
              <a:rPr dirty="0" sz="2200" spc="35" i="1">
                <a:solidFill>
                  <a:srgbClr val="2C99CF"/>
                </a:solidFill>
                <a:latin typeface="Calibri"/>
                <a:cs typeface="Calibri"/>
              </a:rPr>
              <a:t>pace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power  the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next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wave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</a:t>
            </a:r>
            <a:endParaRPr sz="2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evolution.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893" y="2100706"/>
            <a:ext cx="3226435" cy="1213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85">
                <a:solidFill>
                  <a:srgbClr val="F5F4F4"/>
                </a:solidFill>
                <a:latin typeface="Arial"/>
                <a:cs typeface="Arial"/>
              </a:rPr>
              <a:t>The</a:t>
            </a:r>
            <a:r>
              <a:rPr dirty="0" sz="4000" spc="-22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4000" spc="-50">
                <a:solidFill>
                  <a:srgbClr val="F5F4F4"/>
                </a:solidFill>
                <a:latin typeface="Arial"/>
                <a:cs typeface="Arial"/>
              </a:rPr>
              <a:t>‘Compute’</a:t>
            </a:r>
            <a:endParaRPr sz="4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110"/>
              </a:spcBef>
            </a:pPr>
            <a:r>
              <a:rPr dirty="0" sz="2200" spc="10" i="1">
                <a:solidFill>
                  <a:srgbClr val="F5F4F4"/>
                </a:solidFill>
                <a:latin typeface="Calibri"/>
                <a:cs typeface="Calibri"/>
              </a:rPr>
              <a:t>In </a:t>
            </a:r>
            <a:r>
              <a:rPr dirty="0" sz="2200" spc="40" i="1">
                <a:solidFill>
                  <a:srgbClr val="F5F4F4"/>
                </a:solidFill>
                <a:latin typeface="Calibri"/>
                <a:cs typeface="Calibri"/>
              </a:rPr>
              <a:t>Cloud</a:t>
            </a:r>
            <a:r>
              <a:rPr dirty="0" sz="2200" spc="-7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Computing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60721" y="4894288"/>
            <a:ext cx="135255" cy="768350"/>
          </a:xfrm>
          <a:custGeom>
            <a:avLst/>
            <a:gdLst/>
            <a:ahLst/>
            <a:cxnLst/>
            <a:rect l="l" t="t" r="r" b="b"/>
            <a:pathLst>
              <a:path w="135254" h="768350">
                <a:moveTo>
                  <a:pt x="0" y="372389"/>
                </a:moveTo>
                <a:lnTo>
                  <a:pt x="0" y="767753"/>
                </a:lnTo>
                <a:lnTo>
                  <a:pt x="134899" y="767753"/>
                </a:lnTo>
                <a:lnTo>
                  <a:pt x="134899" y="478916"/>
                </a:lnTo>
                <a:lnTo>
                  <a:pt x="59867" y="478916"/>
                </a:lnTo>
                <a:lnTo>
                  <a:pt x="48993" y="476879"/>
                </a:lnTo>
                <a:lnTo>
                  <a:pt x="40125" y="471325"/>
                </a:lnTo>
                <a:lnTo>
                  <a:pt x="34153" y="463090"/>
                </a:lnTo>
                <a:lnTo>
                  <a:pt x="31965" y="453008"/>
                </a:lnTo>
                <a:lnTo>
                  <a:pt x="34153" y="443057"/>
                </a:lnTo>
                <a:lnTo>
                  <a:pt x="40125" y="434871"/>
                </a:lnTo>
                <a:lnTo>
                  <a:pt x="48993" y="429322"/>
                </a:lnTo>
                <a:lnTo>
                  <a:pt x="59867" y="427278"/>
                </a:lnTo>
                <a:lnTo>
                  <a:pt x="134899" y="427278"/>
                </a:lnTo>
                <a:lnTo>
                  <a:pt x="134899" y="381533"/>
                </a:lnTo>
                <a:lnTo>
                  <a:pt x="84454" y="381533"/>
                </a:lnTo>
                <a:lnTo>
                  <a:pt x="83083" y="381304"/>
                </a:lnTo>
                <a:lnTo>
                  <a:pt x="0" y="372389"/>
                </a:lnTo>
                <a:close/>
              </a:path>
              <a:path w="135254" h="768350">
                <a:moveTo>
                  <a:pt x="134899" y="427278"/>
                </a:moveTo>
                <a:lnTo>
                  <a:pt x="59867" y="427278"/>
                </a:lnTo>
                <a:lnTo>
                  <a:pt x="70847" y="429322"/>
                </a:lnTo>
                <a:lnTo>
                  <a:pt x="79786" y="434871"/>
                </a:lnTo>
                <a:lnTo>
                  <a:pt x="85797" y="443057"/>
                </a:lnTo>
                <a:lnTo>
                  <a:pt x="87998" y="453008"/>
                </a:lnTo>
                <a:lnTo>
                  <a:pt x="85797" y="463090"/>
                </a:lnTo>
                <a:lnTo>
                  <a:pt x="79786" y="471325"/>
                </a:lnTo>
                <a:lnTo>
                  <a:pt x="70847" y="476879"/>
                </a:lnTo>
                <a:lnTo>
                  <a:pt x="59867" y="478916"/>
                </a:lnTo>
                <a:lnTo>
                  <a:pt x="134899" y="478916"/>
                </a:lnTo>
                <a:lnTo>
                  <a:pt x="134899" y="427278"/>
                </a:lnTo>
                <a:close/>
              </a:path>
              <a:path w="135254" h="768350">
                <a:moveTo>
                  <a:pt x="0" y="287693"/>
                </a:moveTo>
                <a:lnTo>
                  <a:pt x="0" y="310057"/>
                </a:lnTo>
                <a:lnTo>
                  <a:pt x="91147" y="319887"/>
                </a:lnTo>
                <a:lnTo>
                  <a:pt x="103782" y="323683"/>
                </a:lnTo>
                <a:lnTo>
                  <a:pt x="113569" y="331369"/>
                </a:lnTo>
                <a:lnTo>
                  <a:pt x="119508" y="341906"/>
                </a:lnTo>
                <a:lnTo>
                  <a:pt x="120599" y="354253"/>
                </a:lnTo>
                <a:lnTo>
                  <a:pt x="116905" y="365127"/>
                </a:lnTo>
                <a:lnTo>
                  <a:pt x="109461" y="373770"/>
                </a:lnTo>
                <a:lnTo>
                  <a:pt x="99207" y="379474"/>
                </a:lnTo>
                <a:lnTo>
                  <a:pt x="87083" y="381533"/>
                </a:lnTo>
                <a:lnTo>
                  <a:pt x="134899" y="381533"/>
                </a:lnTo>
                <a:lnTo>
                  <a:pt x="134899" y="299072"/>
                </a:lnTo>
                <a:lnTo>
                  <a:pt x="85547" y="299072"/>
                </a:lnTo>
                <a:lnTo>
                  <a:pt x="83997" y="298843"/>
                </a:lnTo>
                <a:lnTo>
                  <a:pt x="0" y="287693"/>
                </a:lnTo>
                <a:close/>
              </a:path>
              <a:path w="135254" h="768350">
                <a:moveTo>
                  <a:pt x="0" y="203695"/>
                </a:moveTo>
                <a:lnTo>
                  <a:pt x="0" y="225132"/>
                </a:lnTo>
                <a:lnTo>
                  <a:pt x="92011" y="237426"/>
                </a:lnTo>
                <a:lnTo>
                  <a:pt x="104597" y="241563"/>
                </a:lnTo>
                <a:lnTo>
                  <a:pt x="114192" y="249532"/>
                </a:lnTo>
                <a:lnTo>
                  <a:pt x="119843" y="260211"/>
                </a:lnTo>
                <a:lnTo>
                  <a:pt x="120599" y="272478"/>
                </a:lnTo>
                <a:lnTo>
                  <a:pt x="116648" y="283148"/>
                </a:lnTo>
                <a:lnTo>
                  <a:pt x="109118" y="291566"/>
                </a:lnTo>
                <a:lnTo>
                  <a:pt x="98950" y="297088"/>
                </a:lnTo>
                <a:lnTo>
                  <a:pt x="87083" y="299072"/>
                </a:lnTo>
                <a:lnTo>
                  <a:pt x="134899" y="299072"/>
                </a:lnTo>
                <a:lnTo>
                  <a:pt x="134899" y="216446"/>
                </a:lnTo>
                <a:lnTo>
                  <a:pt x="85318" y="216446"/>
                </a:lnTo>
                <a:lnTo>
                  <a:pt x="81775" y="215988"/>
                </a:lnTo>
                <a:lnTo>
                  <a:pt x="0" y="203695"/>
                </a:lnTo>
                <a:close/>
              </a:path>
              <a:path w="135254" h="768350">
                <a:moveTo>
                  <a:pt x="0" y="118605"/>
                </a:moveTo>
                <a:lnTo>
                  <a:pt x="0" y="140957"/>
                </a:lnTo>
                <a:lnTo>
                  <a:pt x="92468" y="155028"/>
                </a:lnTo>
                <a:lnTo>
                  <a:pt x="105082" y="159325"/>
                </a:lnTo>
                <a:lnTo>
                  <a:pt x="114544" y="167425"/>
                </a:lnTo>
                <a:lnTo>
                  <a:pt x="119943" y="178205"/>
                </a:lnTo>
                <a:lnTo>
                  <a:pt x="120370" y="190538"/>
                </a:lnTo>
                <a:lnTo>
                  <a:pt x="116360" y="200978"/>
                </a:lnTo>
                <a:lnTo>
                  <a:pt x="108875" y="209173"/>
                </a:lnTo>
                <a:lnTo>
                  <a:pt x="98816" y="214528"/>
                </a:lnTo>
                <a:lnTo>
                  <a:pt x="87083" y="216446"/>
                </a:lnTo>
                <a:lnTo>
                  <a:pt x="134899" y="216446"/>
                </a:lnTo>
                <a:lnTo>
                  <a:pt x="134899" y="134035"/>
                </a:lnTo>
                <a:lnTo>
                  <a:pt x="85089" y="134035"/>
                </a:lnTo>
                <a:lnTo>
                  <a:pt x="82854" y="133819"/>
                </a:lnTo>
                <a:lnTo>
                  <a:pt x="80632" y="133349"/>
                </a:lnTo>
                <a:lnTo>
                  <a:pt x="0" y="118605"/>
                </a:lnTo>
                <a:close/>
              </a:path>
              <a:path w="135254" h="768350">
                <a:moveTo>
                  <a:pt x="0" y="0"/>
                </a:moveTo>
                <a:lnTo>
                  <a:pt x="0" y="55410"/>
                </a:lnTo>
                <a:lnTo>
                  <a:pt x="93840" y="72567"/>
                </a:lnTo>
                <a:lnTo>
                  <a:pt x="106210" y="77328"/>
                </a:lnTo>
                <a:lnTo>
                  <a:pt x="115298" y="85764"/>
                </a:lnTo>
                <a:lnTo>
                  <a:pt x="120245" y="96708"/>
                </a:lnTo>
                <a:lnTo>
                  <a:pt x="120192" y="108991"/>
                </a:lnTo>
                <a:lnTo>
                  <a:pt x="115935" y="119130"/>
                </a:lnTo>
                <a:lnTo>
                  <a:pt x="108453" y="127047"/>
                </a:lnTo>
                <a:lnTo>
                  <a:pt x="98620" y="132197"/>
                </a:lnTo>
                <a:lnTo>
                  <a:pt x="87312" y="134035"/>
                </a:lnTo>
                <a:lnTo>
                  <a:pt x="134899" y="134035"/>
                </a:lnTo>
                <a:lnTo>
                  <a:pt x="134899" y="24764"/>
                </a:lnTo>
                <a:lnTo>
                  <a:pt x="0" y="0"/>
                </a:lnTo>
                <a:close/>
              </a:path>
            </a:pathLst>
          </a:custGeom>
          <a:solidFill>
            <a:srgbClr val="2883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80470" y="4859642"/>
            <a:ext cx="135255" cy="802640"/>
          </a:xfrm>
          <a:custGeom>
            <a:avLst/>
            <a:gdLst/>
            <a:ahLst/>
            <a:cxnLst/>
            <a:rect l="l" t="t" r="r" b="b"/>
            <a:pathLst>
              <a:path w="135254" h="802639">
                <a:moveTo>
                  <a:pt x="228" y="389356"/>
                </a:moveTo>
                <a:lnTo>
                  <a:pt x="228" y="802576"/>
                </a:lnTo>
                <a:lnTo>
                  <a:pt x="135128" y="802576"/>
                </a:lnTo>
                <a:lnTo>
                  <a:pt x="135128" y="500583"/>
                </a:lnTo>
                <a:lnTo>
                  <a:pt x="60045" y="500583"/>
                </a:lnTo>
                <a:lnTo>
                  <a:pt x="49161" y="498464"/>
                </a:lnTo>
                <a:lnTo>
                  <a:pt x="40212" y="492685"/>
                </a:lnTo>
                <a:lnTo>
                  <a:pt x="34147" y="484107"/>
                </a:lnTo>
                <a:lnTo>
                  <a:pt x="31915" y="473595"/>
                </a:lnTo>
                <a:lnTo>
                  <a:pt x="34147" y="463046"/>
                </a:lnTo>
                <a:lnTo>
                  <a:pt x="40212" y="454450"/>
                </a:lnTo>
                <a:lnTo>
                  <a:pt x="49161" y="448664"/>
                </a:lnTo>
                <a:lnTo>
                  <a:pt x="60045" y="446544"/>
                </a:lnTo>
                <a:lnTo>
                  <a:pt x="135128" y="446544"/>
                </a:lnTo>
                <a:lnTo>
                  <a:pt x="135128" y="398970"/>
                </a:lnTo>
                <a:lnTo>
                  <a:pt x="84861" y="398970"/>
                </a:lnTo>
                <a:lnTo>
                  <a:pt x="83324" y="398741"/>
                </a:lnTo>
                <a:lnTo>
                  <a:pt x="228" y="389356"/>
                </a:lnTo>
                <a:close/>
              </a:path>
              <a:path w="135254" h="802639">
                <a:moveTo>
                  <a:pt x="135128" y="446544"/>
                </a:moveTo>
                <a:lnTo>
                  <a:pt x="60045" y="446544"/>
                </a:lnTo>
                <a:lnTo>
                  <a:pt x="71062" y="448664"/>
                </a:lnTo>
                <a:lnTo>
                  <a:pt x="80019" y="454450"/>
                </a:lnTo>
                <a:lnTo>
                  <a:pt x="86038" y="463046"/>
                </a:lnTo>
                <a:lnTo>
                  <a:pt x="88239" y="473595"/>
                </a:lnTo>
                <a:lnTo>
                  <a:pt x="86038" y="484107"/>
                </a:lnTo>
                <a:lnTo>
                  <a:pt x="80019" y="492685"/>
                </a:lnTo>
                <a:lnTo>
                  <a:pt x="71062" y="498464"/>
                </a:lnTo>
                <a:lnTo>
                  <a:pt x="60045" y="500583"/>
                </a:lnTo>
                <a:lnTo>
                  <a:pt x="135128" y="500583"/>
                </a:lnTo>
                <a:lnTo>
                  <a:pt x="135128" y="446544"/>
                </a:lnTo>
                <a:close/>
              </a:path>
              <a:path w="135254" h="802639">
                <a:moveTo>
                  <a:pt x="228" y="300901"/>
                </a:moveTo>
                <a:lnTo>
                  <a:pt x="228" y="324116"/>
                </a:lnTo>
                <a:lnTo>
                  <a:pt x="91325" y="334403"/>
                </a:lnTo>
                <a:lnTo>
                  <a:pt x="104088" y="338353"/>
                </a:lnTo>
                <a:lnTo>
                  <a:pt x="113882" y="346429"/>
                </a:lnTo>
                <a:lnTo>
                  <a:pt x="119773" y="357483"/>
                </a:lnTo>
                <a:lnTo>
                  <a:pt x="120827" y="370370"/>
                </a:lnTo>
                <a:lnTo>
                  <a:pt x="117139" y="381718"/>
                </a:lnTo>
                <a:lnTo>
                  <a:pt x="109696" y="390785"/>
                </a:lnTo>
                <a:lnTo>
                  <a:pt x="99442" y="396794"/>
                </a:lnTo>
                <a:lnTo>
                  <a:pt x="87325" y="398970"/>
                </a:lnTo>
                <a:lnTo>
                  <a:pt x="135128" y="398970"/>
                </a:lnTo>
                <a:lnTo>
                  <a:pt x="135128" y="312508"/>
                </a:lnTo>
                <a:lnTo>
                  <a:pt x="84175" y="312508"/>
                </a:lnTo>
                <a:lnTo>
                  <a:pt x="228" y="300901"/>
                </a:lnTo>
                <a:close/>
              </a:path>
              <a:path w="135254" h="802639">
                <a:moveTo>
                  <a:pt x="0" y="213118"/>
                </a:moveTo>
                <a:lnTo>
                  <a:pt x="0" y="235483"/>
                </a:lnTo>
                <a:lnTo>
                  <a:pt x="92240" y="248170"/>
                </a:lnTo>
                <a:lnTo>
                  <a:pt x="104806" y="252552"/>
                </a:lnTo>
                <a:lnTo>
                  <a:pt x="114406" y="260910"/>
                </a:lnTo>
                <a:lnTo>
                  <a:pt x="120070" y="272118"/>
                </a:lnTo>
                <a:lnTo>
                  <a:pt x="120827" y="285051"/>
                </a:lnTo>
                <a:lnTo>
                  <a:pt x="116786" y="296124"/>
                </a:lnTo>
                <a:lnTo>
                  <a:pt x="109267" y="304809"/>
                </a:lnTo>
                <a:lnTo>
                  <a:pt x="99153" y="310479"/>
                </a:lnTo>
                <a:lnTo>
                  <a:pt x="87325" y="312508"/>
                </a:lnTo>
                <a:lnTo>
                  <a:pt x="135128" y="312508"/>
                </a:lnTo>
                <a:lnTo>
                  <a:pt x="135128" y="226275"/>
                </a:lnTo>
                <a:lnTo>
                  <a:pt x="85547" y="226275"/>
                </a:lnTo>
                <a:lnTo>
                  <a:pt x="83718" y="226047"/>
                </a:lnTo>
                <a:lnTo>
                  <a:pt x="81953" y="225869"/>
                </a:lnTo>
                <a:lnTo>
                  <a:pt x="0" y="213118"/>
                </a:lnTo>
                <a:close/>
              </a:path>
              <a:path w="135254" h="802639">
                <a:moveTo>
                  <a:pt x="228" y="123977"/>
                </a:moveTo>
                <a:lnTo>
                  <a:pt x="228" y="147408"/>
                </a:lnTo>
                <a:lnTo>
                  <a:pt x="92697" y="161937"/>
                </a:lnTo>
                <a:lnTo>
                  <a:pt x="105316" y="166484"/>
                </a:lnTo>
                <a:lnTo>
                  <a:pt x="114777" y="174963"/>
                </a:lnTo>
                <a:lnTo>
                  <a:pt x="120173" y="186206"/>
                </a:lnTo>
                <a:lnTo>
                  <a:pt x="120599" y="199047"/>
                </a:lnTo>
                <a:lnTo>
                  <a:pt x="116560" y="209988"/>
                </a:lnTo>
                <a:lnTo>
                  <a:pt x="109067" y="218605"/>
                </a:lnTo>
                <a:lnTo>
                  <a:pt x="99021" y="224250"/>
                </a:lnTo>
                <a:lnTo>
                  <a:pt x="87325" y="226275"/>
                </a:lnTo>
                <a:lnTo>
                  <a:pt x="135128" y="226275"/>
                </a:lnTo>
                <a:lnTo>
                  <a:pt x="135128" y="140093"/>
                </a:lnTo>
                <a:lnTo>
                  <a:pt x="85090" y="140093"/>
                </a:lnTo>
                <a:lnTo>
                  <a:pt x="82867" y="139865"/>
                </a:lnTo>
                <a:lnTo>
                  <a:pt x="80632" y="139407"/>
                </a:lnTo>
                <a:lnTo>
                  <a:pt x="228" y="123977"/>
                </a:lnTo>
                <a:close/>
              </a:path>
              <a:path w="135254" h="802639">
                <a:moveTo>
                  <a:pt x="228" y="0"/>
                </a:moveTo>
                <a:lnTo>
                  <a:pt x="228" y="57861"/>
                </a:lnTo>
                <a:lnTo>
                  <a:pt x="94018" y="75933"/>
                </a:lnTo>
                <a:lnTo>
                  <a:pt x="106390" y="80944"/>
                </a:lnTo>
                <a:lnTo>
                  <a:pt x="115490" y="89758"/>
                </a:lnTo>
                <a:lnTo>
                  <a:pt x="120442" y="101166"/>
                </a:lnTo>
                <a:lnTo>
                  <a:pt x="120370" y="113957"/>
                </a:lnTo>
                <a:lnTo>
                  <a:pt x="116110" y="124534"/>
                </a:lnTo>
                <a:lnTo>
                  <a:pt x="108610" y="132797"/>
                </a:lnTo>
                <a:lnTo>
                  <a:pt x="98728" y="138174"/>
                </a:lnTo>
                <a:lnTo>
                  <a:pt x="87325" y="140093"/>
                </a:lnTo>
                <a:lnTo>
                  <a:pt x="135128" y="140093"/>
                </a:lnTo>
                <a:lnTo>
                  <a:pt x="135128" y="25895"/>
                </a:lnTo>
                <a:lnTo>
                  <a:pt x="228" y="0"/>
                </a:lnTo>
                <a:close/>
              </a:path>
            </a:pathLst>
          </a:custGeom>
          <a:solidFill>
            <a:srgbClr val="2883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02811" y="4761801"/>
            <a:ext cx="360680" cy="900430"/>
          </a:xfrm>
          <a:custGeom>
            <a:avLst/>
            <a:gdLst/>
            <a:ahLst/>
            <a:cxnLst/>
            <a:rect l="l" t="t" r="r" b="b"/>
            <a:pathLst>
              <a:path w="360679" h="900429">
                <a:moveTo>
                  <a:pt x="360083" y="0"/>
                </a:moveTo>
                <a:lnTo>
                  <a:pt x="0" y="180073"/>
                </a:lnTo>
                <a:lnTo>
                  <a:pt x="0" y="900239"/>
                </a:lnTo>
                <a:lnTo>
                  <a:pt x="360083" y="900239"/>
                </a:lnTo>
                <a:lnTo>
                  <a:pt x="360083" y="0"/>
                </a:lnTo>
                <a:close/>
              </a:path>
            </a:pathLst>
          </a:custGeom>
          <a:solidFill>
            <a:srgbClr val="2883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85437" y="4761801"/>
            <a:ext cx="450215" cy="900430"/>
          </a:xfrm>
          <a:custGeom>
            <a:avLst/>
            <a:gdLst/>
            <a:ahLst/>
            <a:cxnLst/>
            <a:rect l="l" t="t" r="r" b="b"/>
            <a:pathLst>
              <a:path w="450214" h="900429">
                <a:moveTo>
                  <a:pt x="0" y="432257"/>
                </a:moveTo>
                <a:lnTo>
                  <a:pt x="0" y="900252"/>
                </a:lnTo>
                <a:lnTo>
                  <a:pt x="450100" y="900252"/>
                </a:lnTo>
                <a:lnTo>
                  <a:pt x="450100" y="585279"/>
                </a:lnTo>
                <a:lnTo>
                  <a:pt x="375069" y="585279"/>
                </a:lnTo>
                <a:lnTo>
                  <a:pt x="364158" y="583046"/>
                </a:lnTo>
                <a:lnTo>
                  <a:pt x="355212" y="576981"/>
                </a:lnTo>
                <a:lnTo>
                  <a:pt x="349162" y="568032"/>
                </a:lnTo>
                <a:lnTo>
                  <a:pt x="346938" y="557148"/>
                </a:lnTo>
                <a:lnTo>
                  <a:pt x="349162" y="546228"/>
                </a:lnTo>
                <a:lnTo>
                  <a:pt x="355212" y="537260"/>
                </a:lnTo>
                <a:lnTo>
                  <a:pt x="364158" y="531188"/>
                </a:lnTo>
                <a:lnTo>
                  <a:pt x="375069" y="528954"/>
                </a:lnTo>
                <a:lnTo>
                  <a:pt x="450100" y="528954"/>
                </a:lnTo>
                <a:lnTo>
                  <a:pt x="450100" y="479145"/>
                </a:lnTo>
                <a:lnTo>
                  <a:pt x="400977" y="479145"/>
                </a:lnTo>
                <a:lnTo>
                  <a:pt x="399656" y="478916"/>
                </a:lnTo>
                <a:lnTo>
                  <a:pt x="398284" y="478916"/>
                </a:lnTo>
                <a:lnTo>
                  <a:pt x="0" y="432257"/>
                </a:lnTo>
                <a:close/>
              </a:path>
              <a:path w="450214" h="900429">
                <a:moveTo>
                  <a:pt x="450100" y="528954"/>
                </a:moveTo>
                <a:lnTo>
                  <a:pt x="375069" y="528954"/>
                </a:lnTo>
                <a:lnTo>
                  <a:pt x="386049" y="531188"/>
                </a:lnTo>
                <a:lnTo>
                  <a:pt x="394987" y="537260"/>
                </a:lnTo>
                <a:lnTo>
                  <a:pt x="400999" y="546228"/>
                </a:lnTo>
                <a:lnTo>
                  <a:pt x="403199" y="557148"/>
                </a:lnTo>
                <a:lnTo>
                  <a:pt x="400999" y="568032"/>
                </a:lnTo>
                <a:lnTo>
                  <a:pt x="394987" y="576981"/>
                </a:lnTo>
                <a:lnTo>
                  <a:pt x="386049" y="583046"/>
                </a:lnTo>
                <a:lnTo>
                  <a:pt x="375069" y="585279"/>
                </a:lnTo>
                <a:lnTo>
                  <a:pt x="450100" y="585279"/>
                </a:lnTo>
                <a:lnTo>
                  <a:pt x="450100" y="528954"/>
                </a:lnTo>
                <a:close/>
              </a:path>
              <a:path w="450214" h="900429">
                <a:moveTo>
                  <a:pt x="229966" y="364324"/>
                </a:moveTo>
                <a:lnTo>
                  <a:pt x="2463" y="364324"/>
                </a:lnTo>
                <a:lnTo>
                  <a:pt x="3835" y="364553"/>
                </a:lnTo>
                <a:lnTo>
                  <a:pt x="406349" y="411733"/>
                </a:lnTo>
                <a:lnTo>
                  <a:pt x="419089" y="415925"/>
                </a:lnTo>
                <a:lnTo>
                  <a:pt x="428880" y="424370"/>
                </a:lnTo>
                <a:lnTo>
                  <a:pt x="434768" y="435872"/>
                </a:lnTo>
                <a:lnTo>
                  <a:pt x="435800" y="449237"/>
                </a:lnTo>
                <a:lnTo>
                  <a:pt x="432107" y="461170"/>
                </a:lnTo>
                <a:lnTo>
                  <a:pt x="424670" y="470644"/>
                </a:lnTo>
                <a:lnTo>
                  <a:pt x="414435" y="476892"/>
                </a:lnTo>
                <a:lnTo>
                  <a:pt x="402348" y="479145"/>
                </a:lnTo>
                <a:lnTo>
                  <a:pt x="450100" y="479145"/>
                </a:lnTo>
                <a:lnTo>
                  <a:pt x="450100" y="389140"/>
                </a:lnTo>
                <a:lnTo>
                  <a:pt x="400748" y="389140"/>
                </a:lnTo>
                <a:lnTo>
                  <a:pt x="399199" y="388912"/>
                </a:lnTo>
                <a:lnTo>
                  <a:pt x="397421" y="388683"/>
                </a:lnTo>
                <a:lnTo>
                  <a:pt x="229966" y="364324"/>
                </a:lnTo>
                <a:close/>
              </a:path>
              <a:path w="450214" h="900429">
                <a:moveTo>
                  <a:pt x="178655" y="263169"/>
                </a:moveTo>
                <a:lnTo>
                  <a:pt x="3149" y="263169"/>
                </a:lnTo>
                <a:lnTo>
                  <a:pt x="407035" y="321894"/>
                </a:lnTo>
                <a:lnTo>
                  <a:pt x="419688" y="326423"/>
                </a:lnTo>
                <a:lnTo>
                  <a:pt x="429263" y="335165"/>
                </a:lnTo>
                <a:lnTo>
                  <a:pt x="434870" y="346879"/>
                </a:lnTo>
                <a:lnTo>
                  <a:pt x="435622" y="360324"/>
                </a:lnTo>
                <a:lnTo>
                  <a:pt x="431713" y="371893"/>
                </a:lnTo>
                <a:lnTo>
                  <a:pt x="424262" y="381014"/>
                </a:lnTo>
                <a:lnTo>
                  <a:pt x="414173" y="386993"/>
                </a:lnTo>
                <a:lnTo>
                  <a:pt x="402348" y="389140"/>
                </a:lnTo>
                <a:lnTo>
                  <a:pt x="450100" y="389140"/>
                </a:lnTo>
                <a:lnTo>
                  <a:pt x="450100" y="299135"/>
                </a:lnTo>
                <a:lnTo>
                  <a:pt x="400519" y="299135"/>
                </a:lnTo>
                <a:lnTo>
                  <a:pt x="396976" y="298678"/>
                </a:lnTo>
                <a:lnTo>
                  <a:pt x="178655" y="263169"/>
                </a:lnTo>
                <a:close/>
              </a:path>
              <a:path w="450214" h="900429">
                <a:moveTo>
                  <a:pt x="0" y="330873"/>
                </a:moveTo>
                <a:lnTo>
                  <a:pt x="0" y="365010"/>
                </a:lnTo>
                <a:lnTo>
                  <a:pt x="1371" y="364782"/>
                </a:lnTo>
                <a:lnTo>
                  <a:pt x="2463" y="364324"/>
                </a:lnTo>
                <a:lnTo>
                  <a:pt x="229966" y="364324"/>
                </a:lnTo>
                <a:lnTo>
                  <a:pt x="0" y="330873"/>
                </a:lnTo>
                <a:close/>
              </a:path>
              <a:path w="450214" h="900429">
                <a:moveTo>
                  <a:pt x="184496" y="166242"/>
                </a:moveTo>
                <a:lnTo>
                  <a:pt x="3606" y="166242"/>
                </a:lnTo>
                <a:lnTo>
                  <a:pt x="5372" y="166471"/>
                </a:lnTo>
                <a:lnTo>
                  <a:pt x="407670" y="232117"/>
                </a:lnTo>
                <a:lnTo>
                  <a:pt x="420310" y="236802"/>
                </a:lnTo>
                <a:lnTo>
                  <a:pt x="429771" y="245649"/>
                </a:lnTo>
                <a:lnTo>
                  <a:pt x="435169" y="257392"/>
                </a:lnTo>
                <a:lnTo>
                  <a:pt x="435622" y="270763"/>
                </a:lnTo>
                <a:lnTo>
                  <a:pt x="431584" y="282172"/>
                </a:lnTo>
                <a:lnTo>
                  <a:pt x="424091" y="291150"/>
                </a:lnTo>
                <a:lnTo>
                  <a:pt x="414045" y="297027"/>
                </a:lnTo>
                <a:lnTo>
                  <a:pt x="402348" y="299135"/>
                </a:lnTo>
                <a:lnTo>
                  <a:pt x="450100" y="299135"/>
                </a:lnTo>
                <a:lnTo>
                  <a:pt x="450100" y="209130"/>
                </a:lnTo>
                <a:lnTo>
                  <a:pt x="400291" y="209130"/>
                </a:lnTo>
                <a:lnTo>
                  <a:pt x="397827" y="208902"/>
                </a:lnTo>
                <a:lnTo>
                  <a:pt x="184496" y="166242"/>
                </a:lnTo>
                <a:close/>
              </a:path>
              <a:path w="450214" h="900429">
                <a:moveTo>
                  <a:pt x="0" y="234111"/>
                </a:moveTo>
                <a:lnTo>
                  <a:pt x="0" y="263855"/>
                </a:lnTo>
                <a:lnTo>
                  <a:pt x="1600" y="263626"/>
                </a:lnTo>
                <a:lnTo>
                  <a:pt x="3149" y="263169"/>
                </a:lnTo>
                <a:lnTo>
                  <a:pt x="178655" y="263169"/>
                </a:lnTo>
                <a:lnTo>
                  <a:pt x="0" y="234111"/>
                </a:lnTo>
                <a:close/>
              </a:path>
              <a:path w="450214" h="900429">
                <a:moveTo>
                  <a:pt x="306096" y="61252"/>
                </a:moveTo>
                <a:lnTo>
                  <a:pt x="4521" y="61252"/>
                </a:lnTo>
                <a:lnTo>
                  <a:pt x="409041" y="142100"/>
                </a:lnTo>
                <a:lnTo>
                  <a:pt x="421404" y="147334"/>
                </a:lnTo>
                <a:lnTo>
                  <a:pt x="430490" y="156532"/>
                </a:lnTo>
                <a:lnTo>
                  <a:pt x="435439" y="168451"/>
                </a:lnTo>
                <a:lnTo>
                  <a:pt x="435394" y="181851"/>
                </a:lnTo>
                <a:lnTo>
                  <a:pt x="431134" y="192891"/>
                </a:lnTo>
                <a:lnTo>
                  <a:pt x="423633" y="201515"/>
                </a:lnTo>
                <a:lnTo>
                  <a:pt x="413752" y="207127"/>
                </a:lnTo>
                <a:lnTo>
                  <a:pt x="402348" y="209130"/>
                </a:lnTo>
                <a:lnTo>
                  <a:pt x="450100" y="209130"/>
                </a:lnTo>
                <a:lnTo>
                  <a:pt x="450100" y="90068"/>
                </a:lnTo>
                <a:lnTo>
                  <a:pt x="306096" y="61252"/>
                </a:lnTo>
                <a:close/>
              </a:path>
              <a:path w="450214" h="900429">
                <a:moveTo>
                  <a:pt x="0" y="129349"/>
                </a:moveTo>
                <a:lnTo>
                  <a:pt x="0" y="166636"/>
                </a:lnTo>
                <a:lnTo>
                  <a:pt x="1828" y="166636"/>
                </a:lnTo>
                <a:lnTo>
                  <a:pt x="3606" y="166242"/>
                </a:lnTo>
                <a:lnTo>
                  <a:pt x="184496" y="166242"/>
                </a:lnTo>
                <a:lnTo>
                  <a:pt x="0" y="129349"/>
                </a:lnTo>
                <a:close/>
              </a:path>
              <a:path w="450214" h="900429">
                <a:moveTo>
                  <a:pt x="0" y="0"/>
                </a:moveTo>
                <a:lnTo>
                  <a:pt x="0" y="61709"/>
                </a:lnTo>
                <a:lnTo>
                  <a:pt x="2235" y="61709"/>
                </a:lnTo>
                <a:lnTo>
                  <a:pt x="4521" y="61252"/>
                </a:lnTo>
                <a:lnTo>
                  <a:pt x="306096" y="61252"/>
                </a:lnTo>
                <a:lnTo>
                  <a:pt x="0" y="0"/>
                </a:lnTo>
                <a:close/>
              </a:path>
            </a:pathLst>
          </a:custGeom>
          <a:solidFill>
            <a:srgbClr val="2883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69144" y="2888284"/>
            <a:ext cx="3493655" cy="27739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9300" y="4599155"/>
            <a:ext cx="5612765" cy="2109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15976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computing,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name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suggests,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refers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provision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power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internet.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Let’s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 favorite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IaaS-PaaS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segment.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5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IaaS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called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Elastic Compute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(EC2)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IaaS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known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(GCE)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IaaS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robust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under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names.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2000" y="6997662"/>
          <a:ext cx="5799455" cy="1926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5345"/>
                <a:gridCol w="1948205"/>
                <a:gridCol w="1925345"/>
              </a:tblGrid>
              <a:tr h="27520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2C99CF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Amazon </a:t>
                      </a:r>
                      <a:r>
                        <a:rPr dirty="0" sz="1000" spc="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Elastic </a:t>
                      </a:r>
                      <a:r>
                        <a:rPr dirty="0" sz="10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r>
                        <a:rPr dirty="0" sz="1000" spc="-114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2C99CF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Google </a:t>
                      </a:r>
                      <a:r>
                        <a:rPr dirty="0" sz="10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r>
                        <a:rPr dirty="0" sz="1000" spc="-10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Engine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2C99CF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Virtual Machines</a:t>
                      </a:r>
                      <a:r>
                        <a:rPr dirty="0" sz="1000" spc="-13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VMs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Instances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Virtual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Machines,</a:t>
                      </a:r>
                      <a:r>
                        <a:rPr dirty="0" sz="1000" spc="-9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Instances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VM</a:t>
                      </a:r>
                      <a:r>
                        <a:rPr dirty="0" sz="1000" spc="-9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template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Amazon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Machine</a:t>
                      </a:r>
                      <a:r>
                        <a:rPr dirty="0" sz="1000" spc="-9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Image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Image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275208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Temporary</a:t>
                      </a:r>
                      <a:r>
                        <a:rPr dirty="0" sz="1000" spc="-9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VMs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Spot</a:t>
                      </a:r>
                      <a:r>
                        <a:rPr dirty="0" sz="1000" spc="-12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Instances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Preemptible</a:t>
                      </a:r>
                      <a:r>
                        <a:rPr dirty="0" sz="1000" spc="-10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VMs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Firewall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r>
                        <a:rPr dirty="0" sz="1000" spc="-10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Groups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800" spc="-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Google </a:t>
                      </a:r>
                      <a:r>
                        <a:rPr dirty="0" sz="8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Compute </a:t>
                      </a:r>
                      <a:r>
                        <a:rPr dirty="0" sz="800" spc="-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Engine </a:t>
                      </a:r>
                      <a:r>
                        <a:rPr dirty="0" sz="8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Firewall</a:t>
                      </a:r>
                      <a:r>
                        <a:rPr dirty="0" sz="800" spc="-12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Rules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Scale-out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1000" spc="-8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Autoscaler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  <a:tr h="27520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Local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attached</a:t>
                      </a:r>
                      <a:r>
                        <a:rPr dirty="0" sz="1000" spc="-13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disk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Ephemeral</a:t>
                      </a:r>
                      <a:r>
                        <a:rPr dirty="0" sz="1000" spc="-1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disk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000" spc="-114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SSD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5803900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100"/>
                </a:moveTo>
                <a:lnTo>
                  <a:pt x="0" y="546100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1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2000" y="4220984"/>
            <a:ext cx="5798820" cy="307975"/>
          </a:xfrm>
          <a:custGeom>
            <a:avLst/>
            <a:gdLst/>
            <a:ahLst/>
            <a:cxnLst/>
            <a:rect l="l" t="t" r="r" b="b"/>
            <a:pathLst>
              <a:path w="5798820" h="307975">
                <a:moveTo>
                  <a:pt x="5798781" y="307835"/>
                </a:moveTo>
                <a:lnTo>
                  <a:pt x="0" y="307835"/>
                </a:lnTo>
                <a:lnTo>
                  <a:pt x="0" y="0"/>
                </a:lnTo>
                <a:lnTo>
                  <a:pt x="5798781" y="0"/>
                </a:lnTo>
                <a:lnTo>
                  <a:pt x="5798781" y="307835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2000" y="4534204"/>
            <a:ext cx="5798820" cy="723900"/>
          </a:xfrm>
          <a:custGeom>
            <a:avLst/>
            <a:gdLst/>
            <a:ahLst/>
            <a:cxnLst/>
            <a:rect l="l" t="t" r="r" b="b"/>
            <a:pathLst>
              <a:path w="5798820" h="723900">
                <a:moveTo>
                  <a:pt x="5798781" y="723595"/>
                </a:moveTo>
                <a:lnTo>
                  <a:pt x="0" y="723595"/>
                </a:lnTo>
                <a:lnTo>
                  <a:pt x="0" y="0"/>
                </a:lnTo>
                <a:lnTo>
                  <a:pt x="5798781" y="0"/>
                </a:lnTo>
                <a:lnTo>
                  <a:pt x="5798781" y="72359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000" y="6885520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099"/>
                </a:moveTo>
                <a:lnTo>
                  <a:pt x="0" y="546099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099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7967129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100"/>
                </a:moveTo>
                <a:lnTo>
                  <a:pt x="0" y="546100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1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2000" y="5257800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100"/>
                </a:moveTo>
                <a:lnTo>
                  <a:pt x="0" y="546100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1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2000" y="6350000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100"/>
                </a:moveTo>
                <a:lnTo>
                  <a:pt x="0" y="546100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1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2000" y="7423225"/>
            <a:ext cx="5798820" cy="546100"/>
          </a:xfrm>
          <a:custGeom>
            <a:avLst/>
            <a:gdLst/>
            <a:ahLst/>
            <a:cxnLst/>
            <a:rect l="l" t="t" r="r" b="b"/>
            <a:pathLst>
              <a:path w="5798820" h="546100">
                <a:moveTo>
                  <a:pt x="5798781" y="546100"/>
                </a:moveTo>
                <a:lnTo>
                  <a:pt x="0" y="546100"/>
                </a:lnTo>
                <a:lnTo>
                  <a:pt x="0" y="0"/>
                </a:lnTo>
                <a:lnTo>
                  <a:pt x="5798781" y="0"/>
                </a:lnTo>
                <a:lnTo>
                  <a:pt x="5798781" y="5461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5134" y="1456676"/>
            <a:ext cx="5641975" cy="7600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Virtual machines</a:t>
            </a:r>
            <a:r>
              <a:rPr dirty="0" sz="1850" spc="-1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(VMs)</a:t>
            </a:r>
            <a:endParaRPr sz="1850">
              <a:latin typeface="Arial"/>
              <a:cs typeface="Arial"/>
            </a:endParaRPr>
          </a:p>
          <a:p>
            <a:pPr algn="just" marL="16510" marR="146050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EC2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terminate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VMs/instances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required. Users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complete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control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instance.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several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types.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Instance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types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6510" marR="10795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EC2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types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each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deﬁned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CPU,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RAM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assigned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it. 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customised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instances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conﬁgure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231F20"/>
                </a:solidFill>
                <a:latin typeface="Arial"/>
                <a:cs typeface="Arial"/>
              </a:rPr>
              <a:t>ﬁt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workload.</a:t>
            </a:r>
            <a:endParaRPr sz="1200">
              <a:latin typeface="Arial"/>
              <a:cs typeface="Arial"/>
            </a:endParaRPr>
          </a:p>
          <a:p>
            <a:pPr marL="105410" marR="5080" indent="-88900">
              <a:lnSpc>
                <a:spcPct val="176200"/>
              </a:lnSpc>
              <a:spcBef>
                <a:spcPts val="185"/>
              </a:spcBef>
            </a:pP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Let’s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look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202020"/>
                </a:solidFill>
                <a:latin typeface="Arial"/>
                <a:cs typeface="Arial"/>
              </a:rPr>
              <a:t>at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5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202020"/>
                </a:solidFill>
                <a:latin typeface="Arial"/>
                <a:cs typeface="Arial"/>
              </a:rPr>
              <a:t>common</a:t>
            </a:r>
            <a:r>
              <a:rPr dirty="0" sz="15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instance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types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offered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by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202020"/>
                </a:solidFill>
                <a:latin typeface="Arial"/>
                <a:cs typeface="Arial"/>
              </a:rPr>
              <a:t>both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services:  </a:t>
            </a:r>
            <a:r>
              <a:rPr dirty="0" sz="1500" spc="15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5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735"/>
              </a:spcBef>
            </a:pP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Shared</a:t>
            </a:r>
            <a:r>
              <a:rPr dirty="0" sz="1500" spc="-13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Core</a:t>
            </a:r>
            <a:endParaRPr sz="1500">
              <a:latin typeface="Arial"/>
              <a:cs typeface="Arial"/>
            </a:endParaRPr>
          </a:p>
          <a:p>
            <a:pPr marL="194310" marR="203835">
              <a:lnSpc>
                <a:spcPts val="15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tasks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don’t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require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many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stay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online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longer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durations.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894"/>
              </a:spcBef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Standard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ﬁne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balance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compute,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memory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1060"/>
              </a:spcBef>
            </a:pP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High</a:t>
            </a:r>
            <a:r>
              <a:rPr dirty="0" sz="1500" spc="-1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Memory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tasks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memory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relative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CPU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1060"/>
              </a:spcBef>
            </a:pP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High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202020"/>
                </a:solidFill>
                <a:latin typeface="Arial"/>
                <a:cs typeface="Arial"/>
              </a:rPr>
              <a:t>CPU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tasks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require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CPUs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relative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memory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975"/>
              </a:spcBef>
            </a:pPr>
            <a:r>
              <a:rPr dirty="0" sz="1500" spc="-85">
                <a:solidFill>
                  <a:srgbClr val="202020"/>
                </a:solidFill>
                <a:latin typeface="Arial"/>
                <a:cs typeface="Arial"/>
              </a:rPr>
              <a:t>GPU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discrete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GPU’s.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doesn’t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type.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990"/>
              </a:spcBef>
            </a:pPr>
            <a:r>
              <a:rPr dirty="0" sz="1500" spc="-80">
                <a:solidFill>
                  <a:srgbClr val="202020"/>
                </a:solidFill>
                <a:latin typeface="Arial"/>
                <a:cs typeface="Arial"/>
              </a:rPr>
              <a:t>SSD</a:t>
            </a:r>
            <a:r>
              <a:rPr dirty="0" sz="1500" spc="-13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SSD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local storage</a:t>
            </a:r>
            <a:endParaRPr sz="12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  <a:spcBef>
                <a:spcPts val="1040"/>
              </a:spcBef>
            </a:pP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Dense</a:t>
            </a:r>
            <a:r>
              <a:rPr dirty="0" sz="1500" spc="-1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19431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greater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HDD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storage.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Available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367030">
              <a:lnSpc>
                <a:spcPct val="104200"/>
              </a:lnSpc>
            </a:pP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families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types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doesn’t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two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specialised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families: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GPUs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Large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magnetic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storage.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30443"/>
            <a:ext cx="2451735" cy="1731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4290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Operating </a:t>
            </a:r>
            <a:r>
              <a:rPr dirty="0" sz="1850" spc="45">
                <a:solidFill>
                  <a:srgbClr val="2C99CF"/>
                </a:solidFill>
                <a:latin typeface="Arial"/>
                <a:cs typeface="Arial"/>
              </a:rPr>
              <a:t>system</a:t>
            </a:r>
            <a:r>
              <a:rPr dirty="0" sz="1850" spc="-16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sup- 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port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variety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operating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systems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charge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licence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fees.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lists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OS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separately,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lists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combined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OS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plus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instance.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3368649"/>
            <a:ext cx="2624455" cy="142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Firewall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programmable  ﬁrewalls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software-deﬁned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networking.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can conﬁgure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ﬁrewall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protect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machines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applications.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4997742"/>
            <a:ext cx="2632710" cy="294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Scale-out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Auto scaling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brings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elasticity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deployments.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auto-scaling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down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response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conditions set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Plan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Policy.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pre-deﬁned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templates.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auto-scaling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set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motion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three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ways:  Manually,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scheduled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start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dynamically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Alarm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(Cloudwatch/SQS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queue).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dynamic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auto-scaling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8150821"/>
            <a:ext cx="2473960" cy="850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Local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attached</a:t>
            </a:r>
            <a:r>
              <a:rPr dirty="0" sz="1850" spc="-22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storage</a:t>
            </a:r>
            <a:endParaRPr sz="1850">
              <a:latin typeface="Arial"/>
              <a:cs typeface="Arial"/>
            </a:endParaRPr>
          </a:p>
          <a:p>
            <a:pPr marL="12700" marR="332740">
              <a:lnSpc>
                <a:spcPct val="104200"/>
              </a:lnSpc>
              <a:spcBef>
                <a:spcPts val="1370"/>
              </a:spcBef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EC2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commission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disks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VM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2783" y="1463093"/>
            <a:ext cx="2635885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instead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connected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enjoy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faster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transfer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rates.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number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size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disks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offered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ﬁxed 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adjustable.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SSD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place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 storage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incurs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extra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cost.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2758" y="2826829"/>
            <a:ext cx="2628900" cy="2374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Virtual machine</a:t>
            </a:r>
            <a:r>
              <a:rPr dirty="0" sz="1850" spc="-20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60">
                <a:solidFill>
                  <a:srgbClr val="2C99CF"/>
                </a:solidFill>
                <a:latin typeface="Arial"/>
                <a:cs typeface="Arial"/>
              </a:rPr>
              <a:t>import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import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images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created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actual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import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easier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where-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requires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conversion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compatible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format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upload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import.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import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ensures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  run 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on-premise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usable  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repeated.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2758" y="5408409"/>
            <a:ext cx="2600325" cy="1803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Pricing</a:t>
            </a:r>
            <a:r>
              <a:rPr dirty="0" sz="1850" spc="-14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model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EC2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GCE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very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pricing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length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them.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each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type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per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hour,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minute.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2758" y="7388278"/>
            <a:ext cx="2633980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0541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duration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usage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it.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barter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flexibility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lower price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Reserved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(RIs). RIs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asking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commit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certain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number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1-3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years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pay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upfront.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proportional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179" y="1472694"/>
            <a:ext cx="214058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term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upfront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payment.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179" y="2044194"/>
            <a:ext cx="2600960" cy="2109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discounts work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automatically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without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upfront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payments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endParaRPr sz="1200">
              <a:latin typeface="Arial"/>
              <a:cs typeface="Arial"/>
            </a:endParaRPr>
          </a:p>
          <a:p>
            <a:pPr marL="12700" marR="60325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long-term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commitments.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applies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proportional 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length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usage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runs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speciﬁed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duration.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calls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Sustained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savings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sometimes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almost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30% </a:t>
            </a:r>
            <a:r>
              <a:rPr dirty="0" sz="1200" spc="40">
                <a:solidFill>
                  <a:srgbClr val="231F20"/>
                </a:solidFill>
                <a:latin typeface="Arial"/>
                <a:cs typeface="Arial"/>
              </a:rPr>
              <a:t>off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on-demand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rate.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wonder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winning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war!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179" y="4330194"/>
            <a:ext cx="251396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Apart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basic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services,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greater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abstraction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Platform-as-Service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(PaaS)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services,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7063" y="1472694"/>
            <a:ext cx="2633980" cy="3442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AWS’s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Elastic Beanstalk and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GCP’s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Engine.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Elastic Beanstalk 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(EBS)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(GAE)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slightly different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approaches.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auto-scaling, load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balancing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moni-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toring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EBS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requires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kind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system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administration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raw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require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GAE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fully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admin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tasks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provider.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EBS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gives  greater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control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flexibility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devel-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opers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whereas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GAE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easier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 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quickly. 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GAE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frees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routine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tasks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them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focus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developing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features.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5006" y="5851664"/>
            <a:ext cx="5743575" cy="2696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</a:pPr>
            <a:r>
              <a:rPr dirty="0" sz="2200" spc="5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50" i="1">
                <a:solidFill>
                  <a:srgbClr val="2C99CF"/>
                </a:solidFill>
                <a:latin typeface="Calibri"/>
                <a:cs typeface="Calibri"/>
              </a:rPr>
              <a:t>choice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particular </a:t>
            </a:r>
            <a:r>
              <a:rPr dirty="0" sz="2200" spc="55" i="1">
                <a:solidFill>
                  <a:srgbClr val="2C99CF"/>
                </a:solidFill>
                <a:latin typeface="Calibri"/>
                <a:cs typeface="Calibri"/>
              </a:rPr>
              <a:t>IaaS/PaaS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hinge</a:t>
            </a:r>
            <a:r>
              <a:rPr dirty="0" sz="2200" spc="-9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on 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requirements of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200" spc="65" i="1">
                <a:solidFill>
                  <a:srgbClr val="2C99CF"/>
                </a:solidFill>
                <a:latin typeface="Calibri"/>
                <a:cs typeface="Calibri"/>
              </a:rPr>
              <a:t>speciﬁc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workload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and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 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preference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developer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team</a:t>
            </a:r>
            <a:r>
              <a:rPr dirty="0" sz="2200" spc="-4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algn="ctr" marL="42545" marR="33655" indent="-1905">
              <a:lnSpc>
                <a:spcPct val="100000"/>
              </a:lnSpc>
            </a:pP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greater/lesser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control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over the underlying 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infrastructure. Take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case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200" spc="20" i="1">
                <a:solidFill>
                  <a:srgbClr val="2C99CF"/>
                </a:solidFill>
                <a:latin typeface="Calibri"/>
                <a:cs typeface="Calibri"/>
              </a:rPr>
              <a:t>Snapchat,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they 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needed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their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product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be </a:t>
            </a:r>
            <a:r>
              <a:rPr dirty="0" sz="2200" spc="20" i="1">
                <a:solidFill>
                  <a:srgbClr val="2C99CF"/>
                </a:solidFill>
                <a:latin typeface="Calibri"/>
                <a:cs typeface="Calibri"/>
              </a:rPr>
              <a:t>launched quickly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and  </a:t>
            </a:r>
            <a:r>
              <a:rPr dirty="0" sz="2200" spc="70" i="1">
                <a:solidFill>
                  <a:srgbClr val="2C99CF"/>
                </a:solidFill>
                <a:latin typeface="Calibri"/>
                <a:cs typeface="Calibri"/>
              </a:rPr>
              <a:t>choose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fully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managed </a:t>
            </a:r>
            <a:r>
              <a:rPr dirty="0" sz="2200" spc="25" i="1">
                <a:solidFill>
                  <a:srgbClr val="2C99CF"/>
                </a:solidFill>
                <a:latin typeface="Calibri"/>
                <a:cs typeface="Calibri"/>
              </a:rPr>
              <a:t>service, </a:t>
            </a:r>
            <a:r>
              <a:rPr dirty="0" sz="2200" spc="50" i="1">
                <a:solidFill>
                  <a:srgbClr val="2C99CF"/>
                </a:solidFill>
                <a:latin typeface="Calibri"/>
                <a:cs typeface="Calibri"/>
              </a:rPr>
              <a:t>GAE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fulﬁll </a:t>
            </a:r>
            <a:r>
              <a:rPr dirty="0" sz="2200" spc="35" i="1">
                <a:solidFill>
                  <a:srgbClr val="2C99CF"/>
                </a:solidFill>
                <a:latin typeface="Calibri"/>
                <a:cs typeface="Calibri"/>
              </a:rPr>
              <a:t>this 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objective.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14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893" y="2062619"/>
            <a:ext cx="4685030" cy="2031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4000" spc="-55">
                <a:solidFill>
                  <a:srgbClr val="F5F4F4"/>
                </a:solidFill>
                <a:latin typeface="Arial"/>
                <a:cs typeface="Arial"/>
              </a:rPr>
              <a:t>Don’t </a:t>
            </a:r>
            <a:r>
              <a:rPr dirty="0" sz="4000" spc="-110">
                <a:solidFill>
                  <a:srgbClr val="F5F4F4"/>
                </a:solidFill>
                <a:latin typeface="Arial"/>
                <a:cs typeface="Arial"/>
              </a:rPr>
              <a:t>Grab </a:t>
            </a:r>
            <a:r>
              <a:rPr dirty="0" sz="4000" spc="-75">
                <a:solidFill>
                  <a:srgbClr val="F5F4F4"/>
                </a:solidFill>
                <a:latin typeface="Arial"/>
                <a:cs typeface="Arial"/>
              </a:rPr>
              <a:t>a</a:t>
            </a:r>
            <a:r>
              <a:rPr dirty="0" sz="4000" spc="-32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4000" spc="-30">
                <a:solidFill>
                  <a:srgbClr val="F5F4F4"/>
                </a:solidFill>
                <a:latin typeface="Arial"/>
                <a:cs typeface="Arial"/>
              </a:rPr>
              <a:t>Passing  </a:t>
            </a:r>
            <a:r>
              <a:rPr dirty="0" sz="4000" spc="-65">
                <a:solidFill>
                  <a:srgbClr val="F5F4F4"/>
                </a:solidFill>
                <a:latin typeface="Arial"/>
                <a:cs typeface="Arial"/>
              </a:rPr>
              <a:t>Cloud </a:t>
            </a:r>
            <a:r>
              <a:rPr dirty="0" sz="2800" spc="20">
                <a:solidFill>
                  <a:srgbClr val="F5F4F4"/>
                </a:solidFill>
                <a:latin typeface="Arial"/>
                <a:cs typeface="Arial"/>
              </a:rPr>
              <a:t>(to </a:t>
            </a:r>
            <a:r>
              <a:rPr dirty="0" sz="2800" spc="25">
                <a:solidFill>
                  <a:srgbClr val="F5F4F4"/>
                </a:solidFill>
                <a:latin typeface="Arial"/>
                <a:cs typeface="Arial"/>
              </a:rPr>
              <a:t>stash </a:t>
            </a:r>
            <a:r>
              <a:rPr dirty="0" sz="2800" spc="-10">
                <a:solidFill>
                  <a:srgbClr val="F5F4F4"/>
                </a:solidFill>
                <a:latin typeface="Arial"/>
                <a:cs typeface="Arial"/>
              </a:rPr>
              <a:t>your</a:t>
            </a:r>
            <a:r>
              <a:rPr dirty="0" sz="2800" spc="-480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5F4F4"/>
                </a:solidFill>
                <a:latin typeface="Arial"/>
                <a:cs typeface="Arial"/>
              </a:rPr>
              <a:t>data)</a:t>
            </a:r>
            <a:endParaRPr sz="2800">
              <a:latin typeface="Arial"/>
              <a:cs typeface="Arial"/>
            </a:endParaRPr>
          </a:p>
          <a:p>
            <a:pPr marL="38100" marR="1592580">
              <a:lnSpc>
                <a:spcPct val="100000"/>
              </a:lnSpc>
              <a:spcBef>
                <a:spcPts val="1110"/>
              </a:spcBef>
            </a:pPr>
            <a:r>
              <a:rPr dirty="0" sz="2200" spc="25" i="1">
                <a:solidFill>
                  <a:srgbClr val="F5F4F4"/>
                </a:solidFill>
                <a:latin typeface="Calibri"/>
                <a:cs typeface="Calibri"/>
              </a:rPr>
              <a:t>Learn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which cloud</a:t>
            </a:r>
            <a:r>
              <a:rPr dirty="0" sz="2200" spc="-9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storage  </a:t>
            </a:r>
            <a:r>
              <a:rPr dirty="0" sz="2200" spc="35" i="1">
                <a:solidFill>
                  <a:srgbClr val="F5F4F4"/>
                </a:solidFill>
                <a:latin typeface="Calibri"/>
                <a:cs typeface="Calibri"/>
              </a:rPr>
              <a:t>solutions </a:t>
            </a: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are </a:t>
            </a:r>
            <a:r>
              <a:rPr dirty="0" sz="2200" spc="-5" i="1">
                <a:solidFill>
                  <a:srgbClr val="F5F4F4"/>
                </a:solidFill>
                <a:latin typeface="Calibri"/>
                <a:cs typeface="Calibri"/>
              </a:rPr>
              <a:t>the</a:t>
            </a:r>
            <a:r>
              <a:rPr dirty="0" sz="2200" spc="-3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best!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98668" y="4497247"/>
            <a:ext cx="733425" cy="876300"/>
          </a:xfrm>
          <a:custGeom>
            <a:avLst/>
            <a:gdLst/>
            <a:ahLst/>
            <a:cxnLst/>
            <a:rect l="l" t="t" r="r" b="b"/>
            <a:pathLst>
              <a:path w="733425" h="876300">
                <a:moveTo>
                  <a:pt x="2133" y="875995"/>
                </a:moveTo>
                <a:lnTo>
                  <a:pt x="0" y="874217"/>
                </a:lnTo>
                <a:lnTo>
                  <a:pt x="730897" y="0"/>
                </a:lnTo>
                <a:lnTo>
                  <a:pt x="733031" y="1778"/>
                </a:lnTo>
                <a:lnTo>
                  <a:pt x="2133" y="875995"/>
                </a:lnTo>
                <a:close/>
              </a:path>
            </a:pathLst>
          </a:custGeom>
          <a:ln w="12699">
            <a:solidFill>
              <a:srgbClr val="4541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61103" y="4530153"/>
            <a:ext cx="896619" cy="853440"/>
          </a:xfrm>
          <a:custGeom>
            <a:avLst/>
            <a:gdLst/>
            <a:ahLst/>
            <a:cxnLst/>
            <a:rect l="l" t="t" r="r" b="b"/>
            <a:pathLst>
              <a:path w="896620" h="853439">
                <a:moveTo>
                  <a:pt x="894435" y="852893"/>
                </a:moveTo>
                <a:lnTo>
                  <a:pt x="0" y="2019"/>
                </a:lnTo>
                <a:lnTo>
                  <a:pt x="1904" y="0"/>
                </a:lnTo>
                <a:lnTo>
                  <a:pt x="896353" y="850874"/>
                </a:lnTo>
                <a:lnTo>
                  <a:pt x="894435" y="852893"/>
                </a:lnTo>
                <a:close/>
              </a:path>
            </a:pathLst>
          </a:custGeom>
          <a:ln w="12700">
            <a:solidFill>
              <a:srgbClr val="4541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09069" y="4307141"/>
            <a:ext cx="351790" cy="1071245"/>
          </a:xfrm>
          <a:custGeom>
            <a:avLst/>
            <a:gdLst/>
            <a:ahLst/>
            <a:cxnLst/>
            <a:rect l="l" t="t" r="r" b="b"/>
            <a:pathLst>
              <a:path w="351789" h="1071245">
                <a:moveTo>
                  <a:pt x="2641" y="1070889"/>
                </a:moveTo>
                <a:lnTo>
                  <a:pt x="0" y="1070025"/>
                </a:lnTo>
                <a:lnTo>
                  <a:pt x="349123" y="0"/>
                </a:lnTo>
                <a:lnTo>
                  <a:pt x="351764" y="850"/>
                </a:lnTo>
                <a:lnTo>
                  <a:pt x="2641" y="1070889"/>
                </a:lnTo>
                <a:close/>
              </a:path>
            </a:pathLst>
          </a:custGeom>
          <a:ln w="12699">
            <a:solidFill>
              <a:srgbClr val="4541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17795" y="4273473"/>
            <a:ext cx="509270" cy="1109980"/>
          </a:xfrm>
          <a:custGeom>
            <a:avLst/>
            <a:gdLst/>
            <a:ahLst/>
            <a:cxnLst/>
            <a:rect l="l" t="t" r="r" b="b"/>
            <a:pathLst>
              <a:path w="509270" h="1109979">
                <a:moveTo>
                  <a:pt x="506247" y="1109687"/>
                </a:moveTo>
                <a:lnTo>
                  <a:pt x="0" y="1155"/>
                </a:lnTo>
                <a:lnTo>
                  <a:pt x="2527" y="0"/>
                </a:lnTo>
                <a:lnTo>
                  <a:pt x="508774" y="1108532"/>
                </a:lnTo>
                <a:lnTo>
                  <a:pt x="506247" y="1109687"/>
                </a:lnTo>
                <a:close/>
              </a:path>
            </a:pathLst>
          </a:custGeom>
          <a:ln w="12700">
            <a:solidFill>
              <a:srgbClr val="4541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16905" y="4164520"/>
            <a:ext cx="52069" cy="1123315"/>
          </a:xfrm>
          <a:custGeom>
            <a:avLst/>
            <a:gdLst/>
            <a:ahLst/>
            <a:cxnLst/>
            <a:rect l="l" t="t" r="r" b="b"/>
            <a:pathLst>
              <a:path w="52070" h="1123314">
                <a:moveTo>
                  <a:pt x="52070" y="1123022"/>
                </a:moveTo>
                <a:lnTo>
                  <a:pt x="49301" y="1123149"/>
                </a:lnTo>
                <a:lnTo>
                  <a:pt x="0" y="114"/>
                </a:lnTo>
                <a:lnTo>
                  <a:pt x="2768" y="0"/>
                </a:lnTo>
                <a:lnTo>
                  <a:pt x="52070" y="1123022"/>
                </a:lnTo>
                <a:close/>
              </a:path>
            </a:pathLst>
          </a:custGeom>
          <a:ln w="12700">
            <a:solidFill>
              <a:srgbClr val="4541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63123" y="3622331"/>
            <a:ext cx="1873935" cy="950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61434" y="3585629"/>
            <a:ext cx="1874520" cy="949960"/>
          </a:xfrm>
          <a:custGeom>
            <a:avLst/>
            <a:gdLst/>
            <a:ahLst/>
            <a:cxnLst/>
            <a:rect l="l" t="t" r="r" b="b"/>
            <a:pathLst>
              <a:path w="1874520" h="949960">
                <a:moveTo>
                  <a:pt x="922642" y="0"/>
                </a:moveTo>
                <a:lnTo>
                  <a:pt x="874345" y="2351"/>
                </a:lnTo>
                <a:lnTo>
                  <a:pt x="826736" y="7068"/>
                </a:lnTo>
                <a:lnTo>
                  <a:pt x="779874" y="14093"/>
                </a:lnTo>
                <a:lnTo>
                  <a:pt x="733813" y="23363"/>
                </a:lnTo>
                <a:lnTo>
                  <a:pt x="688612" y="34818"/>
                </a:lnTo>
                <a:lnTo>
                  <a:pt x="644326" y="48399"/>
                </a:lnTo>
                <a:lnTo>
                  <a:pt x="601013" y="64045"/>
                </a:lnTo>
                <a:lnTo>
                  <a:pt x="558728" y="81696"/>
                </a:lnTo>
                <a:lnTo>
                  <a:pt x="517530" y="101291"/>
                </a:lnTo>
                <a:lnTo>
                  <a:pt x="477473" y="122770"/>
                </a:lnTo>
                <a:lnTo>
                  <a:pt x="438616" y="146073"/>
                </a:lnTo>
                <a:lnTo>
                  <a:pt x="401015" y="171139"/>
                </a:lnTo>
                <a:lnTo>
                  <a:pt x="364726" y="197908"/>
                </a:lnTo>
                <a:lnTo>
                  <a:pt x="329806" y="226320"/>
                </a:lnTo>
                <a:lnTo>
                  <a:pt x="296312" y="256314"/>
                </a:lnTo>
                <a:lnTo>
                  <a:pt x="264301" y="287831"/>
                </a:lnTo>
                <a:lnTo>
                  <a:pt x="233829" y="320809"/>
                </a:lnTo>
                <a:lnTo>
                  <a:pt x="204952" y="355188"/>
                </a:lnTo>
                <a:lnTo>
                  <a:pt x="177729" y="390909"/>
                </a:lnTo>
                <a:lnTo>
                  <a:pt x="152214" y="427910"/>
                </a:lnTo>
                <a:lnTo>
                  <a:pt x="128466" y="466132"/>
                </a:lnTo>
                <a:lnTo>
                  <a:pt x="106540" y="505514"/>
                </a:lnTo>
                <a:lnTo>
                  <a:pt x="86494" y="545996"/>
                </a:lnTo>
                <a:lnTo>
                  <a:pt x="68383" y="587518"/>
                </a:lnTo>
                <a:lnTo>
                  <a:pt x="52266" y="630018"/>
                </a:lnTo>
                <a:lnTo>
                  <a:pt x="38197" y="673437"/>
                </a:lnTo>
                <a:lnTo>
                  <a:pt x="26235" y="717715"/>
                </a:lnTo>
                <a:lnTo>
                  <a:pt x="16436" y="762791"/>
                </a:lnTo>
                <a:lnTo>
                  <a:pt x="8856" y="808605"/>
                </a:lnTo>
                <a:lnTo>
                  <a:pt x="3552" y="855096"/>
                </a:lnTo>
                <a:lnTo>
                  <a:pt x="581" y="902205"/>
                </a:lnTo>
                <a:lnTo>
                  <a:pt x="0" y="949871"/>
                </a:lnTo>
                <a:lnTo>
                  <a:pt x="2273" y="948994"/>
                </a:lnTo>
                <a:lnTo>
                  <a:pt x="121778" y="780704"/>
                </a:lnTo>
                <a:lnTo>
                  <a:pt x="213313" y="709290"/>
                </a:lnTo>
                <a:lnTo>
                  <a:pt x="601133" y="709290"/>
                </a:lnTo>
                <a:lnTo>
                  <a:pt x="643278" y="671205"/>
                </a:lnTo>
                <a:lnTo>
                  <a:pt x="740424" y="624070"/>
                </a:lnTo>
                <a:lnTo>
                  <a:pt x="1826220" y="624070"/>
                </a:lnTo>
                <a:lnTo>
                  <a:pt x="1812729" y="586532"/>
                </a:lnTo>
                <a:lnTo>
                  <a:pt x="1795360" y="544898"/>
                </a:lnTo>
                <a:lnTo>
                  <a:pt x="1776013" y="504343"/>
                </a:lnTo>
                <a:lnTo>
                  <a:pt x="1754748" y="464924"/>
                </a:lnTo>
                <a:lnTo>
                  <a:pt x="1731625" y="426698"/>
                </a:lnTo>
                <a:lnTo>
                  <a:pt x="1706704" y="389721"/>
                </a:lnTo>
                <a:lnTo>
                  <a:pt x="1680044" y="354051"/>
                </a:lnTo>
                <a:lnTo>
                  <a:pt x="1651705" y="319744"/>
                </a:lnTo>
                <a:lnTo>
                  <a:pt x="1621746" y="286856"/>
                </a:lnTo>
                <a:lnTo>
                  <a:pt x="1590228" y="255446"/>
                </a:lnTo>
                <a:lnTo>
                  <a:pt x="1557211" y="225568"/>
                </a:lnTo>
                <a:lnTo>
                  <a:pt x="1522754" y="197281"/>
                </a:lnTo>
                <a:lnTo>
                  <a:pt x="1486916" y="170641"/>
                </a:lnTo>
                <a:lnTo>
                  <a:pt x="1449759" y="145704"/>
                </a:lnTo>
                <a:lnTo>
                  <a:pt x="1411341" y="122527"/>
                </a:lnTo>
                <a:lnTo>
                  <a:pt x="1371722" y="101168"/>
                </a:lnTo>
                <a:lnTo>
                  <a:pt x="1330962" y="81682"/>
                </a:lnTo>
                <a:lnTo>
                  <a:pt x="1289121" y="64127"/>
                </a:lnTo>
                <a:lnTo>
                  <a:pt x="1246258" y="48560"/>
                </a:lnTo>
                <a:lnTo>
                  <a:pt x="1202434" y="35036"/>
                </a:lnTo>
                <a:lnTo>
                  <a:pt x="1157708" y="23613"/>
                </a:lnTo>
                <a:lnTo>
                  <a:pt x="1112140" y="14348"/>
                </a:lnTo>
                <a:lnTo>
                  <a:pt x="1065789" y="7298"/>
                </a:lnTo>
                <a:lnTo>
                  <a:pt x="1018716" y="2518"/>
                </a:lnTo>
                <a:lnTo>
                  <a:pt x="970981" y="67"/>
                </a:lnTo>
                <a:lnTo>
                  <a:pt x="922642" y="0"/>
                </a:lnTo>
                <a:close/>
              </a:path>
              <a:path w="1874520" h="949960">
                <a:moveTo>
                  <a:pt x="1842452" y="677468"/>
                </a:moveTo>
                <a:lnTo>
                  <a:pt x="1716966" y="677468"/>
                </a:lnTo>
                <a:lnTo>
                  <a:pt x="1793950" y="745951"/>
                </a:lnTo>
                <a:lnTo>
                  <a:pt x="1870494" y="912571"/>
                </a:lnTo>
                <a:lnTo>
                  <a:pt x="1873910" y="903427"/>
                </a:lnTo>
                <a:lnTo>
                  <a:pt x="1872060" y="855826"/>
                </a:lnTo>
                <a:lnTo>
                  <a:pt x="1867813" y="808908"/>
                </a:lnTo>
                <a:lnTo>
                  <a:pt x="1861230" y="762728"/>
                </a:lnTo>
                <a:lnTo>
                  <a:pt x="1852370" y="717344"/>
                </a:lnTo>
                <a:lnTo>
                  <a:pt x="1842452" y="677468"/>
                </a:lnTo>
                <a:close/>
              </a:path>
              <a:path w="1874520" h="949960">
                <a:moveTo>
                  <a:pt x="601133" y="709290"/>
                </a:moveTo>
                <a:lnTo>
                  <a:pt x="213313" y="709290"/>
                </a:lnTo>
                <a:lnTo>
                  <a:pt x="323411" y="720964"/>
                </a:lnTo>
                <a:lnTo>
                  <a:pt x="498602" y="801941"/>
                </a:lnTo>
                <a:lnTo>
                  <a:pt x="601133" y="709290"/>
                </a:lnTo>
                <a:close/>
              </a:path>
              <a:path w="1874520" h="949960">
                <a:moveTo>
                  <a:pt x="1828042" y="629138"/>
                </a:moveTo>
                <a:lnTo>
                  <a:pt x="1179655" y="629138"/>
                </a:lnTo>
                <a:lnTo>
                  <a:pt x="1260725" y="670536"/>
                </a:lnTo>
                <a:lnTo>
                  <a:pt x="1376387" y="788314"/>
                </a:lnTo>
                <a:lnTo>
                  <a:pt x="1593220" y="695472"/>
                </a:lnTo>
                <a:lnTo>
                  <a:pt x="1716966" y="677468"/>
                </a:lnTo>
                <a:lnTo>
                  <a:pt x="1842452" y="677468"/>
                </a:lnTo>
                <a:lnTo>
                  <a:pt x="1841294" y="672812"/>
                </a:lnTo>
                <a:lnTo>
                  <a:pt x="1828042" y="629138"/>
                </a:lnTo>
                <a:close/>
              </a:path>
              <a:path w="1874520" h="949960">
                <a:moveTo>
                  <a:pt x="1826220" y="624070"/>
                </a:moveTo>
                <a:lnTo>
                  <a:pt x="740424" y="624070"/>
                </a:lnTo>
                <a:lnTo>
                  <a:pt x="834067" y="657332"/>
                </a:lnTo>
                <a:lnTo>
                  <a:pt x="968235" y="767791"/>
                </a:lnTo>
                <a:lnTo>
                  <a:pt x="1094913" y="662198"/>
                </a:lnTo>
                <a:lnTo>
                  <a:pt x="1179655" y="629138"/>
                </a:lnTo>
                <a:lnTo>
                  <a:pt x="1828042" y="629138"/>
                </a:lnTo>
                <a:lnTo>
                  <a:pt x="1826220" y="624070"/>
                </a:lnTo>
                <a:close/>
              </a:path>
            </a:pathLst>
          </a:custGeom>
          <a:solidFill>
            <a:srgbClr val="F2B4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84076" y="3585629"/>
            <a:ext cx="951865" cy="913130"/>
          </a:xfrm>
          <a:custGeom>
            <a:avLst/>
            <a:gdLst/>
            <a:ahLst/>
            <a:cxnLst/>
            <a:rect l="l" t="t" r="r" b="b"/>
            <a:pathLst>
              <a:path w="951864" h="913129">
                <a:moveTo>
                  <a:pt x="919822" y="677468"/>
                </a:moveTo>
                <a:lnTo>
                  <a:pt x="794324" y="677468"/>
                </a:lnTo>
                <a:lnTo>
                  <a:pt x="871308" y="745951"/>
                </a:lnTo>
                <a:lnTo>
                  <a:pt x="947851" y="912571"/>
                </a:lnTo>
                <a:lnTo>
                  <a:pt x="951280" y="903427"/>
                </a:lnTo>
                <a:lnTo>
                  <a:pt x="949430" y="855826"/>
                </a:lnTo>
                <a:lnTo>
                  <a:pt x="945183" y="808908"/>
                </a:lnTo>
                <a:lnTo>
                  <a:pt x="938600" y="762728"/>
                </a:lnTo>
                <a:lnTo>
                  <a:pt x="929741" y="717344"/>
                </a:lnTo>
                <a:lnTo>
                  <a:pt x="919822" y="677468"/>
                </a:lnTo>
                <a:close/>
              </a:path>
              <a:path w="951864" h="913129">
                <a:moveTo>
                  <a:pt x="0" y="0"/>
                </a:moveTo>
                <a:lnTo>
                  <a:pt x="34008" y="23613"/>
                </a:lnTo>
                <a:lnTo>
                  <a:pt x="120554" y="98888"/>
                </a:lnTo>
                <a:lnTo>
                  <a:pt x="236729" y="232743"/>
                </a:lnTo>
                <a:lnTo>
                  <a:pt x="359486" y="431977"/>
                </a:lnTo>
                <a:lnTo>
                  <a:pt x="406671" y="527999"/>
                </a:lnTo>
                <a:lnTo>
                  <a:pt x="432219" y="597125"/>
                </a:lnTo>
                <a:lnTo>
                  <a:pt x="444968" y="672812"/>
                </a:lnTo>
                <a:lnTo>
                  <a:pt x="453745" y="788314"/>
                </a:lnTo>
                <a:lnTo>
                  <a:pt x="670577" y="695472"/>
                </a:lnTo>
                <a:lnTo>
                  <a:pt x="794324" y="677468"/>
                </a:lnTo>
                <a:lnTo>
                  <a:pt x="919822" y="677468"/>
                </a:lnTo>
                <a:lnTo>
                  <a:pt x="918649" y="672761"/>
                </a:lnTo>
                <a:lnTo>
                  <a:pt x="905430" y="629189"/>
                </a:lnTo>
                <a:lnTo>
                  <a:pt x="890099" y="586532"/>
                </a:lnTo>
                <a:lnTo>
                  <a:pt x="872730" y="544898"/>
                </a:lnTo>
                <a:lnTo>
                  <a:pt x="853383" y="504343"/>
                </a:lnTo>
                <a:lnTo>
                  <a:pt x="832118" y="464924"/>
                </a:lnTo>
                <a:lnTo>
                  <a:pt x="808995" y="426698"/>
                </a:lnTo>
                <a:lnTo>
                  <a:pt x="784074" y="389721"/>
                </a:lnTo>
                <a:lnTo>
                  <a:pt x="757413" y="354051"/>
                </a:lnTo>
                <a:lnTo>
                  <a:pt x="729074" y="319744"/>
                </a:lnTo>
                <a:lnTo>
                  <a:pt x="699115" y="286856"/>
                </a:lnTo>
                <a:lnTo>
                  <a:pt x="667597" y="255446"/>
                </a:lnTo>
                <a:lnTo>
                  <a:pt x="634580" y="225568"/>
                </a:lnTo>
                <a:lnTo>
                  <a:pt x="600122" y="197281"/>
                </a:lnTo>
                <a:lnTo>
                  <a:pt x="564284" y="170641"/>
                </a:lnTo>
                <a:lnTo>
                  <a:pt x="527126" y="145704"/>
                </a:lnTo>
                <a:lnTo>
                  <a:pt x="488707" y="122527"/>
                </a:lnTo>
                <a:lnTo>
                  <a:pt x="449088" y="101168"/>
                </a:lnTo>
                <a:lnTo>
                  <a:pt x="408328" y="81682"/>
                </a:lnTo>
                <a:lnTo>
                  <a:pt x="366486" y="64127"/>
                </a:lnTo>
                <a:lnTo>
                  <a:pt x="323623" y="48560"/>
                </a:lnTo>
                <a:lnTo>
                  <a:pt x="279798" y="35036"/>
                </a:lnTo>
                <a:lnTo>
                  <a:pt x="235071" y="23613"/>
                </a:lnTo>
                <a:lnTo>
                  <a:pt x="189502" y="14348"/>
                </a:lnTo>
                <a:lnTo>
                  <a:pt x="143150" y="7298"/>
                </a:lnTo>
                <a:lnTo>
                  <a:pt x="96076" y="2518"/>
                </a:lnTo>
                <a:lnTo>
                  <a:pt x="48339" y="67"/>
                </a:lnTo>
                <a:lnTo>
                  <a:pt x="0" y="0"/>
                </a:lnTo>
                <a:close/>
              </a:path>
            </a:pathLst>
          </a:custGeom>
          <a:solidFill>
            <a:srgbClr val="F2B4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66031" y="3587369"/>
            <a:ext cx="864235" cy="947419"/>
          </a:xfrm>
          <a:custGeom>
            <a:avLst/>
            <a:gdLst/>
            <a:ahLst/>
            <a:cxnLst/>
            <a:rect l="l" t="t" r="r" b="b"/>
            <a:pathLst>
              <a:path w="864235" h="947420">
                <a:moveTo>
                  <a:pt x="864235" y="0"/>
                </a:moveTo>
                <a:lnTo>
                  <a:pt x="814684" y="4546"/>
                </a:lnTo>
                <a:lnTo>
                  <a:pt x="766236" y="11333"/>
                </a:lnTo>
                <a:lnTo>
                  <a:pt x="718924" y="20309"/>
                </a:lnTo>
                <a:lnTo>
                  <a:pt x="672786" y="31421"/>
                </a:lnTo>
                <a:lnTo>
                  <a:pt x="627855" y="44617"/>
                </a:lnTo>
                <a:lnTo>
                  <a:pt x="584168" y="59844"/>
                </a:lnTo>
                <a:lnTo>
                  <a:pt x="541760" y="77049"/>
                </a:lnTo>
                <a:lnTo>
                  <a:pt x="500667" y="96181"/>
                </a:lnTo>
                <a:lnTo>
                  <a:pt x="460924" y="117187"/>
                </a:lnTo>
                <a:lnTo>
                  <a:pt x="422566" y="140014"/>
                </a:lnTo>
                <a:lnTo>
                  <a:pt x="385630" y="164610"/>
                </a:lnTo>
                <a:lnTo>
                  <a:pt x="350150" y="190921"/>
                </a:lnTo>
                <a:lnTo>
                  <a:pt x="316163" y="218897"/>
                </a:lnTo>
                <a:lnTo>
                  <a:pt x="283703" y="248484"/>
                </a:lnTo>
                <a:lnTo>
                  <a:pt x="252806" y="279630"/>
                </a:lnTo>
                <a:lnTo>
                  <a:pt x="223508" y="312283"/>
                </a:lnTo>
                <a:lnTo>
                  <a:pt x="195843" y="346389"/>
                </a:lnTo>
                <a:lnTo>
                  <a:pt x="169849" y="381896"/>
                </a:lnTo>
                <a:lnTo>
                  <a:pt x="145559" y="418753"/>
                </a:lnTo>
                <a:lnTo>
                  <a:pt x="123010" y="456906"/>
                </a:lnTo>
                <a:lnTo>
                  <a:pt x="102237" y="496302"/>
                </a:lnTo>
                <a:lnTo>
                  <a:pt x="83276" y="536891"/>
                </a:lnTo>
                <a:lnTo>
                  <a:pt x="66161" y="578618"/>
                </a:lnTo>
                <a:lnTo>
                  <a:pt x="50929" y="621431"/>
                </a:lnTo>
                <a:lnTo>
                  <a:pt x="37616" y="665279"/>
                </a:lnTo>
                <a:lnTo>
                  <a:pt x="26255" y="710108"/>
                </a:lnTo>
                <a:lnTo>
                  <a:pt x="16884" y="755867"/>
                </a:lnTo>
                <a:lnTo>
                  <a:pt x="9537" y="802501"/>
                </a:lnTo>
                <a:lnTo>
                  <a:pt x="4251" y="849960"/>
                </a:lnTo>
                <a:lnTo>
                  <a:pt x="1060" y="898191"/>
                </a:lnTo>
                <a:lnTo>
                  <a:pt x="0" y="947140"/>
                </a:lnTo>
                <a:lnTo>
                  <a:pt x="79541" y="808634"/>
                </a:lnTo>
                <a:lnTo>
                  <a:pt x="156941" y="746631"/>
                </a:lnTo>
                <a:lnTo>
                  <a:pt x="488089" y="746631"/>
                </a:lnTo>
                <a:lnTo>
                  <a:pt x="487668" y="697640"/>
                </a:lnTo>
                <a:lnTo>
                  <a:pt x="493953" y="630594"/>
                </a:lnTo>
                <a:lnTo>
                  <a:pt x="513269" y="562903"/>
                </a:lnTo>
                <a:lnTo>
                  <a:pt x="551522" y="463473"/>
                </a:lnTo>
                <a:lnTo>
                  <a:pt x="654653" y="253783"/>
                </a:lnTo>
                <a:lnTo>
                  <a:pt x="756118" y="109716"/>
                </a:lnTo>
                <a:lnTo>
                  <a:pt x="833463" y="26660"/>
                </a:lnTo>
                <a:lnTo>
                  <a:pt x="864235" y="0"/>
                </a:lnTo>
                <a:close/>
              </a:path>
              <a:path w="864235" h="947420">
                <a:moveTo>
                  <a:pt x="488089" y="746631"/>
                </a:moveTo>
                <a:lnTo>
                  <a:pt x="156941" y="746631"/>
                </a:lnTo>
                <a:lnTo>
                  <a:pt x="277997" y="746881"/>
                </a:lnTo>
                <a:lnTo>
                  <a:pt x="488505" y="795134"/>
                </a:lnTo>
                <a:lnTo>
                  <a:pt x="488089" y="746631"/>
                </a:lnTo>
                <a:close/>
              </a:path>
            </a:pathLst>
          </a:custGeom>
          <a:solidFill>
            <a:srgbClr val="EAA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58092" y="3587140"/>
            <a:ext cx="480695" cy="785495"/>
          </a:xfrm>
          <a:custGeom>
            <a:avLst/>
            <a:gdLst/>
            <a:ahLst/>
            <a:cxnLst/>
            <a:rect l="l" t="t" r="r" b="b"/>
            <a:pathLst>
              <a:path w="480695" h="785495">
                <a:moveTo>
                  <a:pt x="464945" y="638097"/>
                </a:moveTo>
                <a:lnTo>
                  <a:pt x="281805" y="638097"/>
                </a:lnTo>
                <a:lnTo>
                  <a:pt x="363542" y="676429"/>
                </a:lnTo>
                <a:lnTo>
                  <a:pt x="480402" y="784999"/>
                </a:lnTo>
                <a:lnTo>
                  <a:pt x="464945" y="638097"/>
                </a:lnTo>
                <a:close/>
              </a:path>
              <a:path w="480695" h="785495">
                <a:moveTo>
                  <a:pt x="27736" y="0"/>
                </a:moveTo>
                <a:lnTo>
                  <a:pt x="0" y="1282"/>
                </a:lnTo>
                <a:lnTo>
                  <a:pt x="69672" y="764438"/>
                </a:lnTo>
                <a:lnTo>
                  <a:pt x="196683" y="668076"/>
                </a:lnTo>
                <a:lnTo>
                  <a:pt x="281805" y="638097"/>
                </a:lnTo>
                <a:lnTo>
                  <a:pt x="464945" y="638097"/>
                </a:lnTo>
                <a:lnTo>
                  <a:pt x="448126" y="478254"/>
                </a:lnTo>
                <a:lnTo>
                  <a:pt x="390215" y="294235"/>
                </a:lnTo>
                <a:lnTo>
                  <a:pt x="264231" y="159348"/>
                </a:lnTo>
                <a:lnTo>
                  <a:pt x="27736" y="0"/>
                </a:lnTo>
                <a:close/>
              </a:path>
            </a:pathLst>
          </a:custGeom>
          <a:solidFill>
            <a:srgbClr val="EAA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9300" y="4714524"/>
            <a:ext cx="2557145" cy="3057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81915">
              <a:lnSpc>
                <a:spcPct val="104800"/>
              </a:lnSpc>
            </a:pP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vs.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Cloud:</a:t>
            </a:r>
            <a:r>
              <a:rPr dirty="0" sz="1850" spc="-20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35">
                <a:solidFill>
                  <a:srgbClr val="2C99CF"/>
                </a:solidFill>
                <a:latin typeface="Arial"/>
                <a:cs typeface="Arial"/>
              </a:rPr>
              <a:t>Where 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 </a:t>
            </a:r>
            <a:r>
              <a:rPr dirty="0" sz="1850" spc="-35">
                <a:solidFill>
                  <a:srgbClr val="2C99CF"/>
                </a:solidFill>
                <a:latin typeface="Arial"/>
                <a:cs typeface="Arial"/>
              </a:rPr>
              <a:t>Keep </a:t>
            </a:r>
            <a:r>
              <a:rPr dirty="0" sz="1850" spc="-25">
                <a:solidFill>
                  <a:srgbClr val="2C99CF"/>
                </a:solidFill>
                <a:latin typeface="Arial"/>
                <a:cs typeface="Arial"/>
              </a:rPr>
              <a:t>Your</a:t>
            </a:r>
            <a:r>
              <a:rPr dirty="0" sz="1850" spc="-2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Valuables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currency;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live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digitised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world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generates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Zettabytes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each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year.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world’s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biggest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sitting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vast 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gold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mines.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struggling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safely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increasing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way. They have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commit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building,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maintaining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upgrading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infrastructure.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Here,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2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rescue!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050" y="6623585"/>
            <a:ext cx="2588895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akin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leasing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bank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vault.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maintain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costs.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Additionally,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moving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automatically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ensures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redundancy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security.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4465" y="8315502"/>
            <a:ext cx="4644390" cy="685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39115" marR="5080" indent="-527050">
              <a:lnSpc>
                <a:spcPct val="100000"/>
              </a:lnSpc>
            </a:pPr>
            <a:r>
              <a:rPr dirty="0" sz="2200" spc="-85" i="1">
                <a:solidFill>
                  <a:srgbClr val="2C99CF"/>
                </a:solidFill>
                <a:latin typeface="Calibri"/>
                <a:cs typeface="Calibri"/>
              </a:rPr>
              <a:t>Why, </a:t>
            </a:r>
            <a:r>
              <a:rPr dirty="0" sz="2200" spc="25" i="1">
                <a:solidFill>
                  <a:srgbClr val="2C99CF"/>
                </a:solidFill>
                <a:latin typeface="Calibri"/>
                <a:cs typeface="Calibri"/>
              </a:rPr>
              <a:t>enterprises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are </a:t>
            </a:r>
            <a:r>
              <a:rPr dirty="0" sz="2200" spc="20" i="1">
                <a:solidFill>
                  <a:srgbClr val="2C99CF"/>
                </a:solidFill>
                <a:latin typeface="Calibri"/>
                <a:cs typeface="Calibri"/>
              </a:rPr>
              <a:t>moving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on-cloud 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storage </a:t>
            </a:r>
            <a:r>
              <a:rPr dirty="0" sz="2200" spc="35" i="1">
                <a:solidFill>
                  <a:srgbClr val="2C99CF"/>
                </a:solidFill>
                <a:latin typeface="Calibri"/>
                <a:cs typeface="Calibri"/>
              </a:rPr>
              <a:t>solutions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is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-40" i="1">
                <a:solidFill>
                  <a:srgbClr val="2C99CF"/>
                </a:solidFill>
                <a:latin typeface="Calibri"/>
                <a:cs typeface="Calibri"/>
              </a:rPr>
              <a:t>no-brainer!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7756" y="5203621"/>
            <a:ext cx="1214120" cy="631190"/>
          </a:xfrm>
          <a:custGeom>
            <a:avLst/>
            <a:gdLst/>
            <a:ahLst/>
            <a:cxnLst/>
            <a:rect l="l" t="t" r="r" b="b"/>
            <a:pathLst>
              <a:path w="1214120" h="631189">
                <a:moveTo>
                  <a:pt x="135153" y="341122"/>
                </a:moveTo>
                <a:lnTo>
                  <a:pt x="92431" y="348011"/>
                </a:lnTo>
                <a:lnTo>
                  <a:pt x="55330" y="367197"/>
                </a:lnTo>
                <a:lnTo>
                  <a:pt x="26074" y="396455"/>
                </a:lnTo>
                <a:lnTo>
                  <a:pt x="6889" y="433560"/>
                </a:lnTo>
                <a:lnTo>
                  <a:pt x="0" y="476288"/>
                </a:lnTo>
                <a:lnTo>
                  <a:pt x="0" y="480161"/>
                </a:lnTo>
                <a:lnTo>
                  <a:pt x="203" y="483984"/>
                </a:lnTo>
                <a:lnTo>
                  <a:pt x="520" y="487781"/>
                </a:lnTo>
                <a:lnTo>
                  <a:pt x="190" y="491591"/>
                </a:lnTo>
                <a:lnTo>
                  <a:pt x="0" y="495439"/>
                </a:lnTo>
                <a:lnTo>
                  <a:pt x="0" y="499338"/>
                </a:lnTo>
                <a:lnTo>
                  <a:pt x="10027" y="550488"/>
                </a:lnTo>
                <a:lnTo>
                  <a:pt x="37374" y="592253"/>
                </a:lnTo>
                <a:lnTo>
                  <a:pt x="77940" y="620409"/>
                </a:lnTo>
                <a:lnTo>
                  <a:pt x="127622" y="630732"/>
                </a:lnTo>
                <a:lnTo>
                  <a:pt x="1086408" y="630732"/>
                </a:lnTo>
                <a:lnTo>
                  <a:pt x="1136087" y="620409"/>
                </a:lnTo>
                <a:lnTo>
                  <a:pt x="1176658" y="592253"/>
                </a:lnTo>
                <a:lnTo>
                  <a:pt x="1204012" y="550488"/>
                </a:lnTo>
                <a:lnTo>
                  <a:pt x="1214043" y="499338"/>
                </a:lnTo>
                <a:lnTo>
                  <a:pt x="1207459" y="457582"/>
                </a:lnTo>
                <a:lnTo>
                  <a:pt x="1189134" y="421371"/>
                </a:lnTo>
                <a:lnTo>
                  <a:pt x="1161210" y="392902"/>
                </a:lnTo>
                <a:lnTo>
                  <a:pt x="1125829" y="374370"/>
                </a:lnTo>
                <a:lnTo>
                  <a:pt x="1110316" y="367957"/>
                </a:lnTo>
                <a:lnTo>
                  <a:pt x="216001" y="367957"/>
                </a:lnTo>
                <a:lnTo>
                  <a:pt x="198116" y="356654"/>
                </a:lnTo>
                <a:lnTo>
                  <a:pt x="178487" y="348219"/>
                </a:lnTo>
                <a:lnTo>
                  <a:pt x="157403" y="342945"/>
                </a:lnTo>
                <a:lnTo>
                  <a:pt x="135153" y="341122"/>
                </a:lnTo>
                <a:close/>
              </a:path>
              <a:path w="1214120" h="631189">
                <a:moveTo>
                  <a:pt x="360413" y="244576"/>
                </a:moveTo>
                <a:lnTo>
                  <a:pt x="310409" y="254132"/>
                </a:lnTo>
                <a:lnTo>
                  <a:pt x="268849" y="280339"/>
                </a:lnTo>
                <a:lnTo>
                  <a:pt x="239419" y="319510"/>
                </a:lnTo>
                <a:lnTo>
                  <a:pt x="225806" y="367957"/>
                </a:lnTo>
                <a:lnTo>
                  <a:pt x="1002715" y="367957"/>
                </a:lnTo>
                <a:lnTo>
                  <a:pt x="1008795" y="346858"/>
                </a:lnTo>
                <a:lnTo>
                  <a:pt x="1013242" y="325116"/>
                </a:lnTo>
                <a:lnTo>
                  <a:pt x="1015972" y="302798"/>
                </a:lnTo>
                <a:lnTo>
                  <a:pt x="1016684" y="285305"/>
                </a:lnTo>
                <a:lnTo>
                  <a:pt x="457085" y="285305"/>
                </a:lnTo>
                <a:lnTo>
                  <a:pt x="436958" y="268343"/>
                </a:lnTo>
                <a:lnTo>
                  <a:pt x="413759" y="255520"/>
                </a:lnTo>
                <a:lnTo>
                  <a:pt x="388055" y="247407"/>
                </a:lnTo>
                <a:lnTo>
                  <a:pt x="360413" y="244576"/>
                </a:lnTo>
                <a:close/>
              </a:path>
              <a:path w="1214120" h="631189">
                <a:moveTo>
                  <a:pt x="1066012" y="360413"/>
                </a:moveTo>
                <a:lnTo>
                  <a:pt x="1054439" y="360908"/>
                </a:lnTo>
                <a:lnTo>
                  <a:pt x="1043138" y="362361"/>
                </a:lnTo>
                <a:lnTo>
                  <a:pt x="1032149" y="364726"/>
                </a:lnTo>
                <a:lnTo>
                  <a:pt x="1021511" y="367957"/>
                </a:lnTo>
                <a:lnTo>
                  <a:pt x="1110316" y="367957"/>
                </a:lnTo>
                <a:lnTo>
                  <a:pt x="1097216" y="364048"/>
                </a:lnTo>
                <a:lnTo>
                  <a:pt x="1081888" y="361340"/>
                </a:lnTo>
                <a:lnTo>
                  <a:pt x="1066012" y="360413"/>
                </a:lnTo>
                <a:close/>
              </a:path>
              <a:path w="1214120" h="631189">
                <a:moveTo>
                  <a:pt x="736942" y="0"/>
                </a:moveTo>
                <a:lnTo>
                  <a:pt x="691526" y="3664"/>
                </a:lnTo>
                <a:lnTo>
                  <a:pt x="648443" y="14274"/>
                </a:lnTo>
                <a:lnTo>
                  <a:pt x="608269" y="31252"/>
                </a:lnTo>
                <a:lnTo>
                  <a:pt x="571581" y="54022"/>
                </a:lnTo>
                <a:lnTo>
                  <a:pt x="538956" y="82007"/>
                </a:lnTo>
                <a:lnTo>
                  <a:pt x="510969" y="114630"/>
                </a:lnTo>
                <a:lnTo>
                  <a:pt x="488199" y="151314"/>
                </a:lnTo>
                <a:lnTo>
                  <a:pt x="471220" y="191484"/>
                </a:lnTo>
                <a:lnTo>
                  <a:pt x="460610" y="234562"/>
                </a:lnTo>
                <a:lnTo>
                  <a:pt x="456946" y="279971"/>
                </a:lnTo>
                <a:lnTo>
                  <a:pt x="457085" y="285305"/>
                </a:lnTo>
                <a:lnTo>
                  <a:pt x="1016684" y="285305"/>
                </a:lnTo>
                <a:lnTo>
                  <a:pt x="1016901" y="279971"/>
                </a:lnTo>
                <a:lnTo>
                  <a:pt x="1013237" y="234562"/>
                </a:lnTo>
                <a:lnTo>
                  <a:pt x="1002628" y="191484"/>
                </a:lnTo>
                <a:lnTo>
                  <a:pt x="985651" y="151314"/>
                </a:lnTo>
                <a:lnTo>
                  <a:pt x="962883" y="114630"/>
                </a:lnTo>
                <a:lnTo>
                  <a:pt x="934900" y="82007"/>
                </a:lnTo>
                <a:lnTo>
                  <a:pt x="902279" y="54022"/>
                </a:lnTo>
                <a:lnTo>
                  <a:pt x="865596" y="31252"/>
                </a:lnTo>
                <a:lnTo>
                  <a:pt x="825428" y="14274"/>
                </a:lnTo>
                <a:lnTo>
                  <a:pt x="782351" y="3664"/>
                </a:lnTo>
                <a:lnTo>
                  <a:pt x="736942" y="0"/>
                </a:lnTo>
                <a:close/>
              </a:path>
            </a:pathLst>
          </a:custGeom>
          <a:solidFill>
            <a:srgbClr val="3DBC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17809" y="5291048"/>
            <a:ext cx="1873885" cy="974090"/>
          </a:xfrm>
          <a:custGeom>
            <a:avLst/>
            <a:gdLst/>
            <a:ahLst/>
            <a:cxnLst/>
            <a:rect l="l" t="t" r="r" b="b"/>
            <a:pathLst>
              <a:path w="1873885" h="974089">
                <a:moveTo>
                  <a:pt x="208610" y="526503"/>
                </a:moveTo>
                <a:lnTo>
                  <a:pt x="160773" y="532012"/>
                </a:lnTo>
                <a:lnTo>
                  <a:pt x="116862" y="547704"/>
                </a:lnTo>
                <a:lnTo>
                  <a:pt x="78128" y="572328"/>
                </a:lnTo>
                <a:lnTo>
                  <a:pt x="45824" y="604632"/>
                </a:lnTo>
                <a:lnTo>
                  <a:pt x="21200" y="643366"/>
                </a:lnTo>
                <a:lnTo>
                  <a:pt x="5508" y="687277"/>
                </a:lnTo>
                <a:lnTo>
                  <a:pt x="0" y="735114"/>
                </a:lnTo>
                <a:lnTo>
                  <a:pt x="0" y="741095"/>
                </a:lnTo>
                <a:lnTo>
                  <a:pt x="317" y="747001"/>
                </a:lnTo>
                <a:lnTo>
                  <a:pt x="800" y="752855"/>
                </a:lnTo>
                <a:lnTo>
                  <a:pt x="304" y="758748"/>
                </a:lnTo>
                <a:lnTo>
                  <a:pt x="0" y="764692"/>
                </a:lnTo>
                <a:lnTo>
                  <a:pt x="0" y="770712"/>
                </a:lnTo>
                <a:lnTo>
                  <a:pt x="5201" y="817215"/>
                </a:lnTo>
                <a:lnTo>
                  <a:pt x="20018" y="859901"/>
                </a:lnTo>
                <a:lnTo>
                  <a:pt x="43270" y="897555"/>
                </a:lnTo>
                <a:lnTo>
                  <a:pt x="73774" y="928958"/>
                </a:lnTo>
                <a:lnTo>
                  <a:pt x="110350" y="952896"/>
                </a:lnTo>
                <a:lnTo>
                  <a:pt x="151815" y="968150"/>
                </a:lnTo>
                <a:lnTo>
                  <a:pt x="196989" y="973505"/>
                </a:lnTo>
                <a:lnTo>
                  <a:pt x="1676793" y="973505"/>
                </a:lnTo>
                <a:lnTo>
                  <a:pt x="1721963" y="968150"/>
                </a:lnTo>
                <a:lnTo>
                  <a:pt x="1763427" y="952896"/>
                </a:lnTo>
                <a:lnTo>
                  <a:pt x="1800003" y="928958"/>
                </a:lnTo>
                <a:lnTo>
                  <a:pt x="1830509" y="897555"/>
                </a:lnTo>
                <a:lnTo>
                  <a:pt x="1853762" y="859901"/>
                </a:lnTo>
                <a:lnTo>
                  <a:pt x="1868581" y="817215"/>
                </a:lnTo>
                <a:lnTo>
                  <a:pt x="1873783" y="770712"/>
                </a:lnTo>
                <a:lnTo>
                  <a:pt x="1867209" y="718575"/>
                </a:lnTo>
                <a:lnTo>
                  <a:pt x="1848614" y="671482"/>
                </a:lnTo>
                <a:lnTo>
                  <a:pt x="1819692" y="631169"/>
                </a:lnTo>
                <a:lnTo>
                  <a:pt x="1782136" y="599371"/>
                </a:lnTo>
                <a:lnTo>
                  <a:pt x="1737639" y="577824"/>
                </a:lnTo>
                <a:lnTo>
                  <a:pt x="1713657" y="567918"/>
                </a:lnTo>
                <a:lnTo>
                  <a:pt x="333387" y="567918"/>
                </a:lnTo>
                <a:lnTo>
                  <a:pt x="305784" y="550474"/>
                </a:lnTo>
                <a:lnTo>
                  <a:pt x="275489" y="537457"/>
                </a:lnTo>
                <a:lnTo>
                  <a:pt x="242949" y="529317"/>
                </a:lnTo>
                <a:lnTo>
                  <a:pt x="208610" y="526503"/>
                </a:lnTo>
                <a:close/>
              </a:path>
              <a:path w="1873885" h="974089">
                <a:moveTo>
                  <a:pt x="556285" y="377494"/>
                </a:moveTo>
                <a:lnTo>
                  <a:pt x="510914" y="382444"/>
                </a:lnTo>
                <a:lnTo>
                  <a:pt x="469004" y="396583"/>
                </a:lnTo>
                <a:lnTo>
                  <a:pt x="431617" y="418848"/>
                </a:lnTo>
                <a:lnTo>
                  <a:pt x="399814" y="448178"/>
                </a:lnTo>
                <a:lnTo>
                  <a:pt x="374655" y="483508"/>
                </a:lnTo>
                <a:lnTo>
                  <a:pt x="357201" y="523776"/>
                </a:lnTo>
                <a:lnTo>
                  <a:pt x="348513" y="567918"/>
                </a:lnTo>
                <a:lnTo>
                  <a:pt x="1547622" y="567918"/>
                </a:lnTo>
                <a:lnTo>
                  <a:pt x="1557006" y="535357"/>
                </a:lnTo>
                <a:lnTo>
                  <a:pt x="1563870" y="501805"/>
                </a:lnTo>
                <a:lnTo>
                  <a:pt x="1568083" y="467363"/>
                </a:lnTo>
                <a:lnTo>
                  <a:pt x="1569181" y="440372"/>
                </a:lnTo>
                <a:lnTo>
                  <a:pt x="705472" y="440372"/>
                </a:lnTo>
                <a:lnTo>
                  <a:pt x="674409" y="414185"/>
                </a:lnTo>
                <a:lnTo>
                  <a:pt x="638608" y="394388"/>
                </a:lnTo>
                <a:lnTo>
                  <a:pt x="598942" y="381865"/>
                </a:lnTo>
                <a:lnTo>
                  <a:pt x="556285" y="377494"/>
                </a:lnTo>
                <a:close/>
              </a:path>
              <a:path w="1873885" h="974089">
                <a:moveTo>
                  <a:pt x="1645310" y="556285"/>
                </a:moveTo>
                <a:lnTo>
                  <a:pt x="1627451" y="557047"/>
                </a:lnTo>
                <a:lnTo>
                  <a:pt x="1610012" y="559287"/>
                </a:lnTo>
                <a:lnTo>
                  <a:pt x="1593052" y="562934"/>
                </a:lnTo>
                <a:lnTo>
                  <a:pt x="1576628" y="567918"/>
                </a:lnTo>
                <a:lnTo>
                  <a:pt x="1713657" y="567918"/>
                </a:lnTo>
                <a:lnTo>
                  <a:pt x="1693470" y="561897"/>
                </a:lnTo>
                <a:lnTo>
                  <a:pt x="1669811" y="557716"/>
                </a:lnTo>
                <a:lnTo>
                  <a:pt x="1645310" y="556285"/>
                </a:lnTo>
                <a:close/>
              </a:path>
              <a:path w="1873885" h="974089">
                <a:moveTo>
                  <a:pt x="1137424" y="0"/>
                </a:moveTo>
                <a:lnTo>
                  <a:pt x="1090339" y="2536"/>
                </a:lnTo>
                <a:lnTo>
                  <a:pt x="1044721" y="9968"/>
                </a:lnTo>
                <a:lnTo>
                  <a:pt x="1000835" y="22032"/>
                </a:lnTo>
                <a:lnTo>
                  <a:pt x="958945" y="38466"/>
                </a:lnTo>
                <a:lnTo>
                  <a:pt x="919313" y="59004"/>
                </a:lnTo>
                <a:lnTo>
                  <a:pt x="882205" y="83383"/>
                </a:lnTo>
                <a:lnTo>
                  <a:pt x="847883" y="111340"/>
                </a:lnTo>
                <a:lnTo>
                  <a:pt x="816611" y="142610"/>
                </a:lnTo>
                <a:lnTo>
                  <a:pt x="788654" y="176930"/>
                </a:lnTo>
                <a:lnTo>
                  <a:pt x="764274" y="214037"/>
                </a:lnTo>
                <a:lnTo>
                  <a:pt x="743735" y="253666"/>
                </a:lnTo>
                <a:lnTo>
                  <a:pt x="727302" y="295553"/>
                </a:lnTo>
                <a:lnTo>
                  <a:pt x="715237" y="339435"/>
                </a:lnTo>
                <a:lnTo>
                  <a:pt x="707805" y="385049"/>
                </a:lnTo>
                <a:lnTo>
                  <a:pt x="705269" y="432130"/>
                </a:lnTo>
                <a:lnTo>
                  <a:pt x="705269" y="434898"/>
                </a:lnTo>
                <a:lnTo>
                  <a:pt x="705421" y="437616"/>
                </a:lnTo>
                <a:lnTo>
                  <a:pt x="705472" y="440372"/>
                </a:lnTo>
                <a:lnTo>
                  <a:pt x="1569181" y="440372"/>
                </a:lnTo>
                <a:lnTo>
                  <a:pt x="1569516" y="432130"/>
                </a:lnTo>
                <a:lnTo>
                  <a:pt x="1566981" y="385049"/>
                </a:lnTo>
                <a:lnTo>
                  <a:pt x="1559549" y="339435"/>
                </a:lnTo>
                <a:lnTo>
                  <a:pt x="1547486" y="295553"/>
                </a:lnTo>
                <a:lnTo>
                  <a:pt x="1531055" y="253666"/>
                </a:lnTo>
                <a:lnTo>
                  <a:pt x="1510519" y="214037"/>
                </a:lnTo>
                <a:lnTo>
                  <a:pt x="1486143" y="176930"/>
                </a:lnTo>
                <a:lnTo>
                  <a:pt x="1458189" y="142610"/>
                </a:lnTo>
                <a:lnTo>
                  <a:pt x="1426922" y="111340"/>
                </a:lnTo>
                <a:lnTo>
                  <a:pt x="1392605" y="83383"/>
                </a:lnTo>
                <a:lnTo>
                  <a:pt x="1355502" y="59004"/>
                </a:lnTo>
                <a:lnTo>
                  <a:pt x="1315876" y="38466"/>
                </a:lnTo>
                <a:lnTo>
                  <a:pt x="1273992" y="22032"/>
                </a:lnTo>
                <a:lnTo>
                  <a:pt x="1230113" y="9968"/>
                </a:lnTo>
                <a:lnTo>
                  <a:pt x="1184502" y="2536"/>
                </a:lnTo>
                <a:lnTo>
                  <a:pt x="1137424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24592" y="9469677"/>
            <a:ext cx="262826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0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5">
                <a:solidFill>
                  <a:srgbClr val="5D5E5E"/>
                </a:solidFill>
                <a:latin typeface="Arial"/>
                <a:cs typeface="Arial"/>
              </a:rPr>
              <a:t>20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47167"/>
            <a:ext cx="259207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Quick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deployment,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operational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burden,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zero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maintenance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headaches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Pay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costing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offered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ignore.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2407348"/>
            <a:ext cx="2571750" cy="1339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endParaRPr sz="1200">
              <a:latin typeface="Arial"/>
              <a:cs typeface="Arial"/>
            </a:endParaRPr>
          </a:p>
          <a:p>
            <a:pPr marL="12700" marR="29209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cloud-based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solutions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part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roughly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clear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frontrunners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pricing,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performance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reliability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aspects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now.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3947964"/>
            <a:ext cx="2567940" cy="1914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76200">
              <a:lnSpc>
                <a:spcPct val="104800"/>
              </a:lnSpc>
            </a:pP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Types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28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Storage 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Classes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classes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grouped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four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tiers: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Hot,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Warm, Cool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Cold.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parameters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speed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access,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cost,  frequency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durability.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269" y="6068758"/>
            <a:ext cx="2491105" cy="791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93600"/>
              </a:lnSpc>
            </a:pPr>
            <a:r>
              <a:rPr dirty="0" sz="1500" spc="-75">
                <a:solidFill>
                  <a:srgbClr val="202020"/>
                </a:solidFill>
                <a:latin typeface="Arial"/>
                <a:cs typeface="Arial"/>
              </a:rPr>
              <a:t>HOT 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—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object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frequently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accessed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175"/>
              </a:spcBef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Standard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7044740"/>
            <a:ext cx="2151380" cy="806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dirty="0" sz="1500" spc="-50">
                <a:solidFill>
                  <a:srgbClr val="202020"/>
                </a:solidFill>
                <a:latin typeface="Arial"/>
                <a:cs typeface="Arial"/>
              </a:rPr>
              <a:t>WARM 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—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frequently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accessed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non-critical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reproducible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RRS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DRA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272" y="8073440"/>
            <a:ext cx="2425700" cy="806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COOL 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—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less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frequently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rapidly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accessible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Standard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I/A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00" y="1461731"/>
            <a:ext cx="1648460" cy="425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05">
                <a:solidFill>
                  <a:srgbClr val="202020"/>
                </a:solidFill>
                <a:latin typeface="Arial"/>
                <a:cs typeface="Arial"/>
              </a:rPr>
              <a:t>COLD 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— 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archiving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7000" y="2080328"/>
            <a:ext cx="2513965" cy="1767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4925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</a:t>
            </a:r>
            <a:r>
              <a:rPr dirty="0" sz="1850" spc="-1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Storage 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services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 </a:t>
            </a:r>
            <a:r>
              <a:rPr dirty="0" sz="1850" spc="-75">
                <a:solidFill>
                  <a:srgbClr val="2C99CF"/>
                </a:solidFill>
                <a:latin typeface="Arial"/>
                <a:cs typeface="Arial"/>
              </a:rPr>
              <a:t>AWS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and  </a:t>
            </a:r>
            <a:r>
              <a:rPr dirty="0" sz="1850" spc="-125">
                <a:solidFill>
                  <a:srgbClr val="2C99CF"/>
                </a:solidFill>
                <a:latin typeface="Arial"/>
                <a:cs typeface="Arial"/>
              </a:rPr>
              <a:t>GCP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30"/>
              </a:spcBef>
            </a:pP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First, let’s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compare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‘cold  storage’ services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provided</a:t>
            </a:r>
            <a:r>
              <a:rPr dirty="0" sz="1500" spc="-19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by  Amazon and</a:t>
            </a:r>
            <a:r>
              <a:rPr dirty="0" sz="1500" spc="-17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02020"/>
                </a:solidFill>
                <a:latin typeface="Arial"/>
                <a:cs typeface="Arial"/>
              </a:rPr>
              <a:t>Google: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000" y="4024884"/>
            <a:ext cx="236156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A.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Google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Nearline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vs.</a:t>
            </a:r>
            <a:r>
              <a:rPr dirty="0" sz="1500" spc="-19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65">
                <a:solidFill>
                  <a:srgbClr val="202020"/>
                </a:solidFill>
                <a:latin typeface="Arial"/>
                <a:cs typeface="Arial"/>
              </a:rPr>
              <a:t>AWS 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Glacier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7000" y="4664903"/>
            <a:ext cx="2623185" cy="306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1115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2015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promise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very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quick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retrieval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 at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very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cost.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Nearline’s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2-5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second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retrieval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created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stir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among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users,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 all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know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 something’s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good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true,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right?  Nearline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limits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retrieval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4MB/sec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TB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stored,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while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 such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restrictions.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caveat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means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is: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downloads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start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within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2-5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secs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complete.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Unless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massive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retrieval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times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Nearline.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7000" y="7903402"/>
            <a:ext cx="2624455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recently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released 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called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on-demand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I/O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address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challenge.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On-demand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I/O lets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increase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throughput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they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retrieve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content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faster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rate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default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4MB/s.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53400"/>
            <a:ext cx="243395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3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more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detailed</a:t>
            </a:r>
            <a:r>
              <a:rPr dirty="0" sz="1500" spc="-17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comparison  </a:t>
            </a:r>
            <a:r>
              <a:rPr dirty="0" sz="1500" spc="55">
                <a:solidFill>
                  <a:srgbClr val="202020"/>
                </a:solidFill>
                <a:latin typeface="Arial"/>
                <a:cs typeface="Arial"/>
              </a:rPr>
              <a:t>of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Nearline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and</a:t>
            </a:r>
            <a:r>
              <a:rPr dirty="0" sz="1500" spc="-2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202020"/>
                </a:solidFill>
                <a:latin typeface="Arial"/>
                <a:cs typeface="Arial"/>
              </a:rPr>
              <a:t>Glacier: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230" y="2093419"/>
            <a:ext cx="235331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Retrieval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Transfer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data,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30" y="2664919"/>
            <a:ext cx="2571750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gives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5%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free retrieval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after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that,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costs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higher.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though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cheaper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Nearline,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regions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unlike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offers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 price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world-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wide.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230" y="4379419"/>
            <a:ext cx="255714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Override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Deletion,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Near-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line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</a:t>
            </a:r>
            <a:r>
              <a:rPr dirty="0" sz="1200" spc="-2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winner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230" y="4950919"/>
            <a:ext cx="242824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delete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often,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say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month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two,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lower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early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deletion.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230" y="5903419"/>
            <a:ext cx="217995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3.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Time,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hassle-free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230" y="6474919"/>
            <a:ext cx="259080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request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wait  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couple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hours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made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available,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data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3secs!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230" y="7427419"/>
            <a:ext cx="262318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Download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Speed,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beats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larger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datasets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poor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performer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otherwise.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230" y="8189419"/>
            <a:ext cx="261048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long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industry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secure,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low-cost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archiving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online backups.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974" y="1447091"/>
            <a:ext cx="2618105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While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Nearline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winner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accessi-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bility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speed,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big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difference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between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two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 Would Nearline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kill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Glacier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service?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near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future.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war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begun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segment; and enterprises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should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watch out for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upgrades.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6974" y="3161591"/>
            <a:ext cx="260540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let’s make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quick comparison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6987" y="3748468"/>
            <a:ext cx="216979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35">
                <a:solidFill>
                  <a:srgbClr val="202020"/>
                </a:solidFill>
                <a:latin typeface="Arial"/>
                <a:cs typeface="Arial"/>
              </a:rPr>
              <a:t>B.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Amazon </a:t>
            </a:r>
            <a:r>
              <a:rPr dirty="0" sz="1500" spc="-30">
                <a:solidFill>
                  <a:srgbClr val="202020"/>
                </a:solidFill>
                <a:latin typeface="Arial"/>
                <a:cs typeface="Arial"/>
              </a:rPr>
              <a:t>S3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vs.</a:t>
            </a:r>
            <a:r>
              <a:rPr dirty="0" sz="1500" spc="-1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Google  Cloud</a:t>
            </a:r>
            <a:r>
              <a:rPr dirty="0" sz="1500" spc="-12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6987" y="4380867"/>
            <a:ext cx="261874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minor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differences,  let’s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consider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important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ones: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000" y="5531487"/>
            <a:ext cx="255905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chunked encoding  and resumable uploads.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 features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handy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streaming.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000" y="6483987"/>
            <a:ext cx="262255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gives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regions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choose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from, while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sup-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ports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EU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moment.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000" y="7245987"/>
            <a:ext cx="262699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3. 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lacks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explicit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regional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control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7000" y="7817487"/>
            <a:ext cx="262128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 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best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part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S3?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well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integrated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CloudFront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EC2.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Cloud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Stor-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mostly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standalone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free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between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S3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EC2,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unlike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Google,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accessing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064" y="1463106"/>
            <a:ext cx="2588895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Engine.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Simple Storage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(S3)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long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industry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standard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object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storage.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something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far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really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dent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armour.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064" y="2994786"/>
            <a:ext cx="2195830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Tips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202020"/>
                </a:solidFill>
                <a:latin typeface="Arial"/>
                <a:cs typeface="Arial"/>
              </a:rPr>
              <a:t>to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help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pick</a:t>
            </a:r>
            <a:r>
              <a:rPr dirty="0" sz="15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202020"/>
                </a:solidFill>
                <a:latin typeface="Arial"/>
                <a:cs typeface="Arial"/>
              </a:rPr>
              <a:t>right 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Cloud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Storage</a:t>
            </a:r>
            <a:r>
              <a:rPr dirty="0" sz="1500" spc="-13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service: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064" y="3634806"/>
            <a:ext cx="2607310" cy="2109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76835">
              <a:lnSpc>
                <a:spcPct val="104200"/>
              </a:lnSpc>
            </a:pP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Once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considered,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ﬁnal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item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enter-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checklist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should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inherent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solution.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best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cold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architecture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 offer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well-developed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layer.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must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innovative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intelligent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seamless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integration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processes.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064" y="5920866"/>
            <a:ext cx="231457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202020"/>
                </a:solidFill>
                <a:latin typeface="Arial"/>
                <a:cs typeface="Arial"/>
              </a:rPr>
              <a:t>If</a:t>
            </a:r>
            <a:r>
              <a:rPr dirty="0" sz="12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02020"/>
                </a:solidFill>
                <a:latin typeface="Arial"/>
                <a:cs typeface="Arial"/>
              </a:rPr>
              <a:t>you</a:t>
            </a:r>
            <a:r>
              <a:rPr dirty="0" sz="12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02020"/>
                </a:solidFill>
                <a:latin typeface="Arial"/>
                <a:cs typeface="Arial"/>
              </a:rPr>
              <a:t>are</a:t>
            </a:r>
            <a:r>
              <a:rPr dirty="0" sz="12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02020"/>
                </a:solidFill>
                <a:latin typeface="Arial"/>
                <a:cs typeface="Arial"/>
              </a:rPr>
              <a:t>an</a:t>
            </a:r>
            <a:r>
              <a:rPr dirty="0" sz="12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enterprise</a:t>
            </a:r>
            <a:r>
              <a:rPr dirty="0" sz="12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02020"/>
                </a:solidFill>
                <a:latin typeface="Arial"/>
                <a:cs typeface="Arial"/>
              </a:rPr>
              <a:t>looking</a:t>
            </a:r>
            <a:r>
              <a:rPr dirty="0" sz="12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45">
                <a:solidFill>
                  <a:srgbClr val="202020"/>
                </a:solidFill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6911" y="1470786"/>
            <a:ext cx="2637155" cy="1522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02020"/>
                </a:solidFill>
                <a:latin typeface="Arial"/>
                <a:cs typeface="Arial"/>
              </a:rPr>
              <a:t>move </a:t>
            </a:r>
            <a:r>
              <a:rPr dirty="0" sz="1200" spc="45">
                <a:solidFill>
                  <a:srgbClr val="2020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02020"/>
                </a:solidFill>
                <a:latin typeface="Arial"/>
                <a:cs typeface="Arial"/>
              </a:rPr>
              <a:t>cloud-based</a:t>
            </a:r>
            <a:r>
              <a:rPr dirty="0" sz="1200" spc="-20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02020"/>
                </a:solidFill>
                <a:latin typeface="Arial"/>
                <a:cs typeface="Arial"/>
              </a:rPr>
              <a:t>storage:</a:t>
            </a:r>
            <a:endParaRPr sz="1200">
              <a:latin typeface="Arial"/>
              <a:cs typeface="Arial"/>
            </a:endParaRPr>
          </a:p>
          <a:p>
            <a:pPr marL="12700" marR="166370">
              <a:lnSpc>
                <a:spcPts val="1500"/>
              </a:lnSpc>
              <a:buFont typeface="Gill Sans MT"/>
              <a:buAutoNum type="arabicPeriod"/>
              <a:tabLst>
                <a:tab pos="170815" algn="l"/>
              </a:tabLst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Don't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 capacity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lead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decision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process.</a:t>
            </a:r>
            <a:endParaRPr sz="1200">
              <a:latin typeface="Arial"/>
              <a:cs typeface="Arial"/>
            </a:endParaRPr>
          </a:p>
          <a:p>
            <a:pPr marL="12700" marR="87630">
              <a:lnSpc>
                <a:spcPts val="1500"/>
              </a:lnSpc>
              <a:buFont typeface="Gill Sans MT"/>
              <a:buAutoNum type="arabicPeriod"/>
              <a:tabLst>
                <a:tab pos="170815" algn="l"/>
              </a:tabLst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Don’t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forget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consider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transaction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  <a:buFont typeface="Gill Sans MT"/>
              <a:buAutoNum type="arabicPeriod"/>
              <a:tabLst>
                <a:tab pos="170815" algn="l"/>
              </a:tabLst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Lastly,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ecosys-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tem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231F20"/>
                </a:solidFill>
                <a:latin typeface="Arial"/>
                <a:cs typeface="Arial"/>
              </a:rPr>
              <a:t>ﬁts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adoption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plan.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6923" y="3368167"/>
            <a:ext cx="2342515" cy="562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200" spc="-25">
                <a:solidFill>
                  <a:srgbClr val="202020"/>
                </a:solidFill>
                <a:latin typeface="Arial"/>
                <a:cs typeface="Arial"/>
              </a:rPr>
              <a:t>Here </a:t>
            </a:r>
            <a:r>
              <a:rPr dirty="0" sz="1200" spc="-15">
                <a:solidFill>
                  <a:srgbClr val="2020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some </a:t>
            </a:r>
            <a:r>
              <a:rPr dirty="0" sz="1200" spc="20">
                <a:solidFill>
                  <a:srgbClr val="202020"/>
                </a:solidFill>
                <a:latin typeface="Arial"/>
                <a:cs typeface="Arial"/>
              </a:rPr>
              <a:t>criteria </a:t>
            </a:r>
            <a:r>
              <a:rPr dirty="0" sz="1200" spc="45">
                <a:solidFill>
                  <a:srgbClr val="202020"/>
                </a:solidFill>
                <a:latin typeface="Arial"/>
                <a:cs typeface="Arial"/>
              </a:rPr>
              <a:t>to</a:t>
            </a:r>
            <a:r>
              <a:rPr dirty="0" sz="1200" spc="-229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consider  </a:t>
            </a:r>
            <a:r>
              <a:rPr dirty="0" sz="1200" spc="5">
                <a:solidFill>
                  <a:srgbClr val="202020"/>
                </a:solidFill>
                <a:latin typeface="Arial"/>
                <a:cs typeface="Arial"/>
              </a:rPr>
              <a:t>when </a:t>
            </a:r>
            <a:r>
              <a:rPr dirty="0" sz="1200" spc="20">
                <a:solidFill>
                  <a:srgbClr val="202020"/>
                </a:solidFill>
                <a:latin typeface="Arial"/>
                <a:cs typeface="Arial"/>
              </a:rPr>
              <a:t>choosing </a:t>
            </a:r>
            <a:r>
              <a:rPr dirty="0" sz="1200" spc="-1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020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storage  </a:t>
            </a:r>
            <a:r>
              <a:rPr dirty="0" sz="1200">
                <a:solidFill>
                  <a:srgbClr val="202020"/>
                </a:solidFill>
                <a:latin typeface="Arial"/>
                <a:cs typeface="Arial"/>
              </a:rPr>
              <a:t>service: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6923" y="4114927"/>
            <a:ext cx="81534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Durability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6923" y="4495927"/>
            <a:ext cx="89598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Availability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6923" y="4876927"/>
            <a:ext cx="105473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3.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923" y="5257927"/>
            <a:ext cx="109791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Capacity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6923" y="5638927"/>
            <a:ext cx="1723389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5.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Monitoring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Access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6923" y="6019927"/>
            <a:ext cx="175641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6.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Life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Cycle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1367" y="6670509"/>
            <a:ext cx="5454015" cy="2148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36854" marR="228600" indent="-2540">
              <a:lnSpc>
                <a:spcPct val="100000"/>
              </a:lnSpc>
            </a:pP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000" spc="45" i="1">
                <a:solidFill>
                  <a:srgbClr val="2C99CF"/>
                </a:solidFill>
                <a:latin typeface="Calibri"/>
                <a:cs typeface="Calibri"/>
              </a:rPr>
              <a:t>came </a:t>
            </a: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storage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segment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late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but </a:t>
            </a:r>
            <a:r>
              <a:rPr dirty="0" sz="2000" spc="70" i="1">
                <a:solidFill>
                  <a:srgbClr val="2C99CF"/>
                </a:solidFill>
                <a:latin typeface="Calibri"/>
                <a:cs typeface="Calibri"/>
              </a:rPr>
              <a:t>is 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trying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stand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out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by shining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on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price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front.</a:t>
            </a:r>
            <a:endParaRPr sz="2000">
              <a:latin typeface="Calibri"/>
              <a:cs typeface="Calibri"/>
            </a:endParaRPr>
          </a:p>
          <a:p>
            <a:pPr algn="ctr" marL="12700" marR="5080" indent="-1905">
              <a:lnSpc>
                <a:spcPct val="100000"/>
              </a:lnSpc>
            </a:pP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Having been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around </a:t>
            </a:r>
            <a:r>
              <a:rPr dirty="0" sz="2000" spc="-40" i="1">
                <a:solidFill>
                  <a:srgbClr val="2C99CF"/>
                </a:solidFill>
                <a:latin typeface="Calibri"/>
                <a:cs typeface="Calibri"/>
              </a:rPr>
              <a:t>longer, </a:t>
            </a:r>
            <a:r>
              <a:rPr dirty="0" sz="2000" spc="20" i="1">
                <a:solidFill>
                  <a:srgbClr val="2C99CF"/>
                </a:solidFill>
                <a:latin typeface="Calibri"/>
                <a:cs typeface="Calibri"/>
              </a:rPr>
              <a:t>AWS </a:t>
            </a:r>
            <a:r>
              <a:rPr dirty="0" sz="2000" spc="55" i="1">
                <a:solidFill>
                  <a:srgbClr val="2C99CF"/>
                </a:solidFill>
                <a:latin typeface="Calibri"/>
                <a:cs typeface="Calibri"/>
              </a:rPr>
              <a:t>has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a larger </a:t>
            </a:r>
            <a:r>
              <a:rPr dirty="0" sz="2000" spc="45" i="1">
                <a:solidFill>
                  <a:srgbClr val="2C99CF"/>
                </a:solidFill>
                <a:latin typeface="Calibri"/>
                <a:cs typeface="Calibri"/>
              </a:rPr>
              <a:t>set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of 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partners, integrators </a:t>
            </a:r>
            <a:r>
              <a:rPr dirty="0" sz="2000" i="1">
                <a:solidFill>
                  <a:srgbClr val="2C99CF"/>
                </a:solidFill>
                <a:latin typeface="Calibri"/>
                <a:cs typeface="Calibri"/>
              </a:rPr>
              <a:t>and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network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providers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working  </a:t>
            </a: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with </a:t>
            </a:r>
            <a:r>
              <a:rPr dirty="0" sz="2000" spc="-35" i="1">
                <a:solidFill>
                  <a:srgbClr val="2C99CF"/>
                </a:solidFill>
                <a:latin typeface="Calibri"/>
                <a:cs typeface="Calibri"/>
              </a:rPr>
              <a:t>it </a:t>
            </a:r>
            <a:r>
              <a:rPr dirty="0" sz="2000" spc="20" i="1">
                <a:solidFill>
                  <a:srgbClr val="2C99CF"/>
                </a:solidFill>
                <a:latin typeface="Calibri"/>
                <a:cs typeface="Calibri"/>
              </a:rPr>
              <a:t>compared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Google. 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need </a:t>
            </a:r>
            <a:r>
              <a:rPr dirty="0" sz="2000" spc="65" i="1">
                <a:solidFill>
                  <a:srgbClr val="2C99CF"/>
                </a:solidFill>
                <a:latin typeface="Calibri"/>
                <a:cs typeface="Calibri"/>
              </a:rPr>
              <a:t>some  </a:t>
            </a:r>
            <a:r>
              <a:rPr dirty="0" sz="2000" spc="-45" i="1">
                <a:solidFill>
                  <a:srgbClr val="2C99CF"/>
                </a:solidFill>
                <a:latin typeface="Calibri"/>
                <a:cs typeface="Calibri"/>
              </a:rPr>
              <a:t>‘Killer’ </a:t>
            </a:r>
            <a:r>
              <a:rPr dirty="0" sz="2000" spc="20" i="1">
                <a:solidFill>
                  <a:srgbClr val="2C99CF"/>
                </a:solidFill>
                <a:latin typeface="Calibri"/>
                <a:cs typeface="Calibri"/>
              </a:rPr>
              <a:t>upgrades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populari</a:t>
            </a:r>
            <a:r>
              <a:rPr dirty="0" sz="2000" spc="-5" i="1">
                <a:solidFill>
                  <a:srgbClr val="2C99CF"/>
                </a:solidFill>
                <a:latin typeface="Gill Sans MT"/>
                <a:cs typeface="Gill Sans MT"/>
              </a:rPr>
              <a:t>z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e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its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storage </a:t>
            </a:r>
            <a:r>
              <a:rPr dirty="0" sz="2000" spc="60" i="1">
                <a:solidFill>
                  <a:srgbClr val="2C99CF"/>
                </a:solidFill>
                <a:latin typeface="Calibri"/>
                <a:cs typeface="Calibri"/>
              </a:rPr>
              <a:t>services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among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non-GCP</a:t>
            </a:r>
            <a:r>
              <a:rPr dirty="0" sz="2000" spc="-4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45" i="1">
                <a:solidFill>
                  <a:srgbClr val="2C99CF"/>
                </a:solidFill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893" y="2062606"/>
            <a:ext cx="3697604" cy="2031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4000" spc="-80">
                <a:solidFill>
                  <a:srgbClr val="F5F4F4"/>
                </a:solidFill>
                <a:latin typeface="Arial"/>
                <a:cs typeface="Arial"/>
              </a:rPr>
              <a:t>Why</a:t>
            </a:r>
            <a:r>
              <a:rPr dirty="0" sz="4000" spc="-22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4000" spc="15">
                <a:solidFill>
                  <a:srgbClr val="F5F4F4"/>
                </a:solidFill>
                <a:latin typeface="Arial"/>
                <a:cs typeface="Arial"/>
              </a:rPr>
              <a:t>Networking  </a:t>
            </a:r>
            <a:r>
              <a:rPr dirty="0" sz="4000" spc="55">
                <a:solidFill>
                  <a:srgbClr val="F5F4F4"/>
                </a:solidFill>
                <a:latin typeface="Arial"/>
                <a:cs typeface="Arial"/>
              </a:rPr>
              <a:t>Matters</a:t>
            </a:r>
            <a:endParaRPr sz="4000">
              <a:latin typeface="Arial"/>
              <a:cs typeface="Arial"/>
            </a:endParaRPr>
          </a:p>
          <a:p>
            <a:pPr marL="38100" marR="795655">
              <a:lnSpc>
                <a:spcPct val="100000"/>
              </a:lnSpc>
              <a:spcBef>
                <a:spcPts val="1110"/>
              </a:spcBef>
            </a:pPr>
            <a:r>
              <a:rPr dirty="0" sz="2200" spc="55" i="1">
                <a:solidFill>
                  <a:srgbClr val="F5F4F4"/>
                </a:solidFill>
                <a:latin typeface="Calibri"/>
                <a:cs typeface="Calibri"/>
              </a:rPr>
              <a:t>The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right </a:t>
            </a:r>
            <a:r>
              <a:rPr dirty="0" sz="2200" spc="-10" i="1">
                <a:solidFill>
                  <a:srgbClr val="F5F4F4"/>
                </a:solidFill>
                <a:latin typeface="Calibri"/>
                <a:cs typeface="Calibri"/>
              </a:rPr>
              <a:t>network </a:t>
            </a:r>
            <a:r>
              <a:rPr dirty="0" sz="2200" spc="80" i="1">
                <a:solidFill>
                  <a:srgbClr val="F5F4F4"/>
                </a:solidFill>
                <a:latin typeface="Calibri"/>
                <a:cs typeface="Calibri"/>
              </a:rPr>
              <a:t>is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5F4F4"/>
                </a:solidFill>
                <a:latin typeface="Calibri"/>
                <a:cs typeface="Calibri"/>
              </a:rPr>
              <a:t>fast, 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reliable </a:t>
            </a:r>
            <a:r>
              <a:rPr dirty="0" sz="2200" i="1">
                <a:solidFill>
                  <a:srgbClr val="F5F4F4"/>
                </a:solidFill>
                <a:latin typeface="Calibri"/>
                <a:cs typeface="Calibri"/>
              </a:rPr>
              <a:t>and</a:t>
            </a:r>
            <a:r>
              <a:rPr dirty="0" sz="2200" spc="-4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scalable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83583" y="2683636"/>
            <a:ext cx="3056877" cy="2150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9300" y="4659825"/>
            <a:ext cx="2418715" cy="605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-30">
                <a:solidFill>
                  <a:srgbClr val="2C99CF"/>
                </a:solidFill>
                <a:latin typeface="Arial"/>
                <a:cs typeface="Arial"/>
              </a:rPr>
              <a:t>When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Music</a:t>
            </a:r>
            <a:r>
              <a:rPr dirty="0" sz="1850" spc="-19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Stops 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Playing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5529900"/>
            <a:ext cx="2622550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‘The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show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must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on’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Netflix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might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say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regarding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last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June.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brief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took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down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popular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Netflix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pinterest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almost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hour.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6863399"/>
            <a:ext cx="2624455" cy="2299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outages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issue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public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prides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itself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strong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architecture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experienced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month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(April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11,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2016).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affected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zones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went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mostly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unnoticed.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Reason?</a:t>
            </a:r>
            <a:endParaRPr sz="1200">
              <a:latin typeface="Arial"/>
              <a:cs typeface="Arial"/>
            </a:endParaRPr>
          </a:p>
          <a:p>
            <a:pPr marL="197485" marR="285115" indent="-36830">
              <a:lnSpc>
                <a:spcPct val="104200"/>
              </a:lnSpc>
              <a:buAutoNum type="arabicPeriod"/>
              <a:tabLst>
                <a:tab pos="318770" algn="l"/>
              </a:tabLst>
            </a:pPr>
            <a:r>
              <a:rPr dirty="0" sz="1200" spc="-30">
                <a:solidFill>
                  <a:srgbClr val="2C99CF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relatively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small 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market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share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200" spc="-2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318135" indent="-15748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318770" algn="l"/>
              </a:tabLst>
            </a:pPr>
            <a:r>
              <a:rPr dirty="0" sz="1200" spc="-35">
                <a:solidFill>
                  <a:srgbClr val="2C99CF"/>
                </a:solidFill>
                <a:latin typeface="Arial"/>
                <a:cs typeface="Arial"/>
              </a:rPr>
              <a:t>Very </a:t>
            </a:r>
            <a:r>
              <a:rPr dirty="0" sz="1200" spc="10">
                <a:solidFill>
                  <a:srgbClr val="2C99CF"/>
                </a:solidFill>
                <a:latin typeface="Arial"/>
                <a:cs typeface="Arial"/>
              </a:rPr>
              <a:t>few </a:t>
            </a:r>
            <a:r>
              <a:rPr dirty="0" sz="1200" spc="-95">
                <a:solidFill>
                  <a:srgbClr val="2C99CF"/>
                </a:solidFill>
                <a:latin typeface="Arial"/>
                <a:cs typeface="Arial"/>
              </a:rPr>
              <a:t>GCP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clients</a:t>
            </a:r>
            <a:r>
              <a:rPr dirty="0" sz="1200" spc="-10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run</a:t>
            </a:r>
            <a:endParaRPr sz="12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low-latency interactive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web</a:t>
            </a:r>
            <a:r>
              <a:rPr dirty="0" sz="1200" spc="-1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C99CF"/>
                </a:solidFill>
                <a:latin typeface="Arial"/>
                <a:cs typeface="Arial"/>
              </a:rPr>
              <a:t>trafﬁc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3529" y="5270972"/>
            <a:ext cx="229616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applications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unlike </a:t>
            </a: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Amazon</a:t>
            </a:r>
            <a:r>
              <a:rPr dirty="0" sz="1200" spc="-15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C99CF"/>
                </a:solidFill>
                <a:latin typeface="Arial"/>
                <a:cs typeface="Arial"/>
              </a:rPr>
              <a:t>which  </a:t>
            </a:r>
            <a:r>
              <a:rPr dirty="0" sz="1200" spc="15">
                <a:solidFill>
                  <a:srgbClr val="2C99CF"/>
                </a:solidFill>
                <a:latin typeface="Arial"/>
                <a:cs typeface="Arial"/>
              </a:rPr>
              <a:t>hosts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popular apps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like</a:t>
            </a:r>
            <a:r>
              <a:rPr dirty="0" sz="1200" spc="-2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Netflix.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5447" y="5859175"/>
            <a:ext cx="2604135" cy="2788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17500">
              <a:lnSpc>
                <a:spcPct val="1048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Is Networking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 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Achilles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heel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</a:t>
            </a:r>
            <a:r>
              <a:rPr dirty="0" sz="1850" spc="-2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cloud 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vendors?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Google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April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11,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2016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setback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efforts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win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customers.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didn't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  affect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availability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zone,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regions.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comparison, rival Amazon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suffered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regional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outages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far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avoided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entire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going  down.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episodes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tell us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that: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5447" y="8832428"/>
            <a:ext cx="2179320" cy="387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Sending</a:t>
            </a:r>
            <a:r>
              <a:rPr dirty="0" sz="1200" spc="-5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your</a:t>
            </a:r>
            <a:r>
              <a:rPr dirty="0" sz="1200" spc="-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C99CF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ops</a:t>
            </a:r>
            <a:r>
              <a:rPr dirty="0" sz="1200" spc="-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carries </a:t>
            </a:r>
            <a:r>
              <a:rPr dirty="0" sz="1200" spc="10">
                <a:solidFill>
                  <a:srgbClr val="2C99CF"/>
                </a:solidFill>
                <a:latin typeface="Arial"/>
                <a:cs typeface="Arial"/>
              </a:rPr>
              <a:t>signiﬁcant</a:t>
            </a:r>
            <a:r>
              <a:rPr dirty="0" sz="1200" spc="-114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risk.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30304"/>
            <a:ext cx="2505075" cy="230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96240">
              <a:lnSpc>
                <a:spcPct val="104800"/>
              </a:lnSpc>
            </a:pPr>
            <a:r>
              <a:rPr dirty="0" sz="1850" spc="-20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curious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case</a:t>
            </a:r>
            <a:r>
              <a:rPr dirty="0" sz="1850" spc="-27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2C99CF"/>
                </a:solidFill>
                <a:latin typeface="Arial"/>
                <a:cs typeface="Arial"/>
              </a:rPr>
              <a:t>of 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empty</a:t>
            </a:r>
            <a:r>
              <a:rPr dirty="0" sz="185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inboxes</a:t>
            </a:r>
            <a:endParaRPr sz="1850">
              <a:latin typeface="Arial"/>
              <a:cs typeface="Arial"/>
            </a:endParaRPr>
          </a:p>
          <a:p>
            <a:pPr marL="12700" marR="5715">
              <a:lnSpc>
                <a:spcPct val="104200"/>
              </a:lnSpc>
              <a:spcBef>
                <a:spcPts val="1370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Outages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world,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worst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saw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logging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empty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email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accounts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wiped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Vendors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could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restore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cases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others.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So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networking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failures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teach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users? Let’s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ﬁnd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out!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3955567"/>
            <a:ext cx="2403475" cy="242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Lesson</a:t>
            </a:r>
            <a:r>
              <a:rPr dirty="0" sz="15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1:</a:t>
            </a:r>
            <a:r>
              <a:rPr dirty="0" sz="15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Assume</a:t>
            </a:r>
            <a:r>
              <a:rPr dirty="0" sz="15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70">
                <a:solidFill>
                  <a:srgbClr val="202020"/>
                </a:solidFill>
                <a:latin typeface="Arial"/>
                <a:cs typeface="Arial"/>
              </a:rPr>
              <a:t>it</a:t>
            </a:r>
            <a:r>
              <a:rPr dirty="0" sz="15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202020"/>
                </a:solidFill>
                <a:latin typeface="Arial"/>
                <a:cs typeface="Arial"/>
              </a:rPr>
              <a:t>will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202020"/>
                </a:solidFill>
                <a:latin typeface="Arial"/>
                <a:cs typeface="Arial"/>
              </a:rPr>
              <a:t>fail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4366986"/>
            <a:ext cx="2619375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natural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centers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suffer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glitches.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Just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because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handling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reliability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doesn’t  mean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never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fail.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While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planning  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strategy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ensure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adequate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redundancy by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avoiding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over-reliance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single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drive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architecture.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6279667"/>
            <a:ext cx="2446655" cy="242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Lesson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2: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Build</a:t>
            </a:r>
            <a:r>
              <a:rPr dirty="0" sz="1500" spc="-1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Redundancy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59" y="6691086"/>
            <a:ext cx="262699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Reliability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dependent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redundancy.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Multiple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copies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spread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across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availability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zones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key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weathering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failure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storm.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7651267"/>
            <a:ext cx="2602230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Lesson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3: </a:t>
            </a: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Have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a</a:t>
            </a:r>
            <a:r>
              <a:rPr dirty="0" sz="1500" spc="-20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Contingency 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Plan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" y="8291286"/>
            <a:ext cx="250190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Even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sophisticated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disaster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recovery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systems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completely  fool-proof.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ok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paranoid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here,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7050" y="1463157"/>
            <a:ext cx="260985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ahead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create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backups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important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independently.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When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crucial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never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assume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someone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else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automatically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protect-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ing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you.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000" y="2613786"/>
            <a:ext cx="240855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Lesson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4: 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Even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best</a:t>
            </a:r>
            <a:r>
              <a:rPr dirty="0" sz="1500" spc="-22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laid 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plans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don’t</a:t>
            </a:r>
            <a:r>
              <a:rPr dirty="0" sz="1500" spc="-19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work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7000" y="3253806"/>
            <a:ext cx="2626995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anticipated 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problems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caused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April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11,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2016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outage.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necessary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measures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place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avoid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disruptions,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failed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work. 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rare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bugs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bypass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safety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mechanisms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multi-layered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protection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cause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damage. Test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safety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measures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rigorously.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7000" y="5166499"/>
            <a:ext cx="246443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Lesson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5: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Don’t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keep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all</a:t>
            </a:r>
            <a:r>
              <a:rPr dirty="0" sz="1500" spc="-2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your  eggs </a:t>
            </a:r>
            <a:r>
              <a:rPr dirty="0" sz="1500" spc="30">
                <a:solidFill>
                  <a:srgbClr val="202020"/>
                </a:solidFill>
                <a:latin typeface="Arial"/>
                <a:cs typeface="Arial"/>
              </a:rPr>
              <a:t>in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one</a:t>
            </a:r>
            <a:r>
              <a:rPr dirty="0" sz="1500" spc="-254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basket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7000" y="5806518"/>
            <a:ext cx="2607310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We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talked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redundan-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cy.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already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crucial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tucked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away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multiple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servers,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regions,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 seems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nothing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do!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Well,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never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hurts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extra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mile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spread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across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too,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ultimate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failsafe.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7000" y="7537696"/>
            <a:ext cx="2632075" cy="1350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86055">
              <a:lnSpc>
                <a:spcPct val="104800"/>
              </a:lnSpc>
            </a:pPr>
            <a:r>
              <a:rPr dirty="0" sz="1850" spc="-25">
                <a:solidFill>
                  <a:srgbClr val="2C99CF"/>
                </a:solidFill>
                <a:latin typeface="Arial"/>
                <a:cs typeface="Arial"/>
              </a:rPr>
              <a:t>Feel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like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revisiting</a:t>
            </a:r>
            <a:r>
              <a:rPr dirty="0" sz="1850" spc="-2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your 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decision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850" spc="-17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migrate?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whole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point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getting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sign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away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‘grunt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work’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63179"/>
            <a:ext cx="2514600" cy="1339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maintenance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host.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responsibility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resilient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certainly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rests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provider.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So,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while  choosing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cross-check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redundancy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3003809"/>
            <a:ext cx="2626360" cy="2295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404495">
              <a:lnSpc>
                <a:spcPct val="104800"/>
              </a:lnSpc>
            </a:pP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Outages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or </a:t>
            </a: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Not,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 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cloud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is </a:t>
            </a:r>
            <a:r>
              <a:rPr dirty="0" sz="1850" spc="-20">
                <a:solidFill>
                  <a:srgbClr val="2C99CF"/>
                </a:solidFill>
                <a:latin typeface="Arial"/>
                <a:cs typeface="Arial"/>
              </a:rPr>
              <a:t>here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850" spc="-3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stay!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disruptions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due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outages may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make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seem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unreliable,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true.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continue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 operational success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individual  enterprise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network.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since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operates web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failures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often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ampliﬁed.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5499968"/>
            <a:ext cx="2611120" cy="3505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28905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 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Networking </a:t>
            </a: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Services</a:t>
            </a:r>
            <a:r>
              <a:rPr dirty="0" sz="1850" spc="-20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2C99CF"/>
                </a:solidFill>
                <a:latin typeface="Arial"/>
                <a:cs typeface="Arial"/>
              </a:rPr>
              <a:t>of 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Google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and</a:t>
            </a:r>
            <a:r>
              <a:rPr dirty="0" sz="1850" spc="-15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Amazon</a:t>
            </a:r>
            <a:endParaRPr sz="1850">
              <a:latin typeface="Arial"/>
              <a:cs typeface="Arial"/>
            </a:endParaRPr>
          </a:p>
          <a:p>
            <a:pPr marL="12700" marR="104775">
              <a:lnSpc>
                <a:spcPct val="104200"/>
              </a:lnSpc>
              <a:spcBef>
                <a:spcPts val="1310"/>
              </a:spcBef>
            </a:pP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(GCP)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considerable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differences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design.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global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available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unlike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limits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compute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instances.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boasts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soft-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ware-deﬁned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architecture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Andromeda.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architecture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 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creation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elements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300"/>
              </a:spcBef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customization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9700" y="1507058"/>
            <a:ext cx="2603500" cy="307975"/>
          </a:xfrm>
          <a:custGeom>
            <a:avLst/>
            <a:gdLst/>
            <a:ahLst/>
            <a:cxnLst/>
            <a:rect l="l" t="t" r="r" b="b"/>
            <a:pathLst>
              <a:path w="2603500" h="307975">
                <a:moveTo>
                  <a:pt x="2603500" y="307835"/>
                </a:moveTo>
                <a:lnTo>
                  <a:pt x="0" y="307835"/>
                </a:lnTo>
                <a:lnTo>
                  <a:pt x="0" y="0"/>
                </a:lnTo>
                <a:lnTo>
                  <a:pt x="2603500" y="0"/>
                </a:lnTo>
                <a:lnTo>
                  <a:pt x="2603500" y="307835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49700" y="1820278"/>
            <a:ext cx="2603500" cy="377190"/>
          </a:xfrm>
          <a:custGeom>
            <a:avLst/>
            <a:gdLst/>
            <a:ahLst/>
            <a:cxnLst/>
            <a:rect l="l" t="t" r="r" b="b"/>
            <a:pathLst>
              <a:path w="2603500" h="377189">
                <a:moveTo>
                  <a:pt x="2603500" y="377024"/>
                </a:moveTo>
                <a:lnTo>
                  <a:pt x="0" y="377024"/>
                </a:lnTo>
                <a:lnTo>
                  <a:pt x="0" y="0"/>
                </a:lnTo>
                <a:lnTo>
                  <a:pt x="2603500" y="0"/>
                </a:lnTo>
                <a:lnTo>
                  <a:pt x="2603500" y="377024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25900" y="1538414"/>
            <a:ext cx="194691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Things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Arial"/>
                <a:cs typeface="Arial"/>
              </a:rPr>
              <a:t>GCP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4800" y="1866518"/>
            <a:ext cx="2313940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Create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secure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ﬁrewalls </a:t>
            </a:r>
            <a:r>
              <a:rPr dirty="0" sz="1000" spc="15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VMs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0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00"/>
              </a:lnSpc>
            </a:pP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dirty="0" sz="1000" spc="-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49700" y="2552700"/>
            <a:ext cx="2603500" cy="387350"/>
          </a:xfrm>
          <a:custGeom>
            <a:avLst/>
            <a:gdLst/>
            <a:ahLst/>
            <a:cxnLst/>
            <a:rect l="l" t="t" r="r" b="b"/>
            <a:pathLst>
              <a:path w="2603500" h="387350">
                <a:moveTo>
                  <a:pt x="2603500" y="387350"/>
                </a:moveTo>
                <a:lnTo>
                  <a:pt x="0" y="387350"/>
                </a:lnTo>
                <a:lnTo>
                  <a:pt x="0" y="0"/>
                </a:lnTo>
                <a:lnTo>
                  <a:pt x="2603500" y="0"/>
                </a:lnTo>
                <a:lnTo>
                  <a:pt x="2603500" y="38735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14800" y="2624340"/>
            <a:ext cx="2149475" cy="26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000"/>
              </a:lnSpc>
            </a:pP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Provision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000" spc="15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0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faster 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delivery </a:t>
            </a:r>
            <a:r>
              <a:rPr dirty="0" sz="1000" spc="25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0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query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results in </a:t>
            </a: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BigQuery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49700" y="2194623"/>
            <a:ext cx="2603500" cy="358140"/>
          </a:xfrm>
          <a:custGeom>
            <a:avLst/>
            <a:gdLst/>
            <a:ahLst/>
            <a:cxnLst/>
            <a:rect l="l" t="t" r="r" b="b"/>
            <a:pathLst>
              <a:path w="2603500" h="358139">
                <a:moveTo>
                  <a:pt x="2603500" y="358076"/>
                </a:moveTo>
                <a:lnTo>
                  <a:pt x="0" y="358076"/>
                </a:lnTo>
                <a:lnTo>
                  <a:pt x="0" y="0"/>
                </a:lnTo>
                <a:lnTo>
                  <a:pt x="2603500" y="0"/>
                </a:lnTo>
                <a:lnTo>
                  <a:pt x="2603500" y="35807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14800" y="2247518"/>
            <a:ext cx="1990089" cy="26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000"/>
              </a:lnSpc>
            </a:pPr>
            <a:r>
              <a:rPr dirty="0" sz="1000" spc="-20">
                <a:solidFill>
                  <a:srgbClr val="231F20"/>
                </a:solidFill>
                <a:latin typeface="Arial"/>
                <a:cs typeface="Arial"/>
              </a:rPr>
              <a:t>Design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faster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connections</a:t>
            </a:r>
            <a:r>
              <a:rPr dirty="0" sz="10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between  database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nodes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000" spc="-2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0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Bigtable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11091" y="192827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508" y="0"/>
                </a:moveTo>
                <a:lnTo>
                  <a:pt x="16802" y="2162"/>
                </a:lnTo>
                <a:lnTo>
                  <a:pt x="8058" y="8059"/>
                </a:lnTo>
                <a:lnTo>
                  <a:pt x="2162" y="16807"/>
                </a:lnTo>
                <a:lnTo>
                  <a:pt x="0" y="27520"/>
                </a:lnTo>
                <a:lnTo>
                  <a:pt x="2162" y="38234"/>
                </a:lnTo>
                <a:lnTo>
                  <a:pt x="8058" y="46982"/>
                </a:lnTo>
                <a:lnTo>
                  <a:pt x="16802" y="52879"/>
                </a:lnTo>
                <a:lnTo>
                  <a:pt x="27508" y="55041"/>
                </a:lnTo>
                <a:lnTo>
                  <a:pt x="38221" y="52879"/>
                </a:lnTo>
                <a:lnTo>
                  <a:pt x="46969" y="46982"/>
                </a:lnTo>
                <a:lnTo>
                  <a:pt x="52866" y="38234"/>
                </a:lnTo>
                <a:lnTo>
                  <a:pt x="55029" y="27520"/>
                </a:lnTo>
                <a:lnTo>
                  <a:pt x="52866" y="16807"/>
                </a:lnTo>
                <a:lnTo>
                  <a:pt x="46969" y="8059"/>
                </a:lnTo>
                <a:lnTo>
                  <a:pt x="38221" y="2162"/>
                </a:lnTo>
                <a:lnTo>
                  <a:pt x="27508" y="0"/>
                </a:lnTo>
                <a:close/>
              </a:path>
            </a:pathLst>
          </a:custGeom>
          <a:solidFill>
            <a:srgbClr val="5D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11091" y="2287054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508" y="0"/>
                </a:moveTo>
                <a:lnTo>
                  <a:pt x="16802" y="2162"/>
                </a:lnTo>
                <a:lnTo>
                  <a:pt x="8058" y="8059"/>
                </a:lnTo>
                <a:lnTo>
                  <a:pt x="2162" y="16807"/>
                </a:lnTo>
                <a:lnTo>
                  <a:pt x="0" y="27520"/>
                </a:lnTo>
                <a:lnTo>
                  <a:pt x="2162" y="38234"/>
                </a:lnTo>
                <a:lnTo>
                  <a:pt x="8058" y="46982"/>
                </a:lnTo>
                <a:lnTo>
                  <a:pt x="16802" y="52879"/>
                </a:lnTo>
                <a:lnTo>
                  <a:pt x="27508" y="55041"/>
                </a:lnTo>
                <a:lnTo>
                  <a:pt x="38221" y="52879"/>
                </a:lnTo>
                <a:lnTo>
                  <a:pt x="46969" y="46982"/>
                </a:lnTo>
                <a:lnTo>
                  <a:pt x="52866" y="38234"/>
                </a:lnTo>
                <a:lnTo>
                  <a:pt x="55029" y="27520"/>
                </a:lnTo>
                <a:lnTo>
                  <a:pt x="52866" y="16807"/>
                </a:lnTo>
                <a:lnTo>
                  <a:pt x="46969" y="8059"/>
                </a:lnTo>
                <a:lnTo>
                  <a:pt x="38221" y="2162"/>
                </a:lnTo>
                <a:lnTo>
                  <a:pt x="27508" y="0"/>
                </a:lnTo>
                <a:close/>
              </a:path>
            </a:pathLst>
          </a:custGeom>
          <a:solidFill>
            <a:srgbClr val="5D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11091" y="266223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508" y="0"/>
                </a:moveTo>
                <a:lnTo>
                  <a:pt x="16802" y="2162"/>
                </a:lnTo>
                <a:lnTo>
                  <a:pt x="8058" y="8059"/>
                </a:lnTo>
                <a:lnTo>
                  <a:pt x="2162" y="16807"/>
                </a:lnTo>
                <a:lnTo>
                  <a:pt x="0" y="27520"/>
                </a:lnTo>
                <a:lnTo>
                  <a:pt x="2162" y="38234"/>
                </a:lnTo>
                <a:lnTo>
                  <a:pt x="8058" y="46982"/>
                </a:lnTo>
                <a:lnTo>
                  <a:pt x="16802" y="52879"/>
                </a:lnTo>
                <a:lnTo>
                  <a:pt x="27508" y="55041"/>
                </a:lnTo>
                <a:lnTo>
                  <a:pt x="38221" y="52879"/>
                </a:lnTo>
                <a:lnTo>
                  <a:pt x="46969" y="46982"/>
                </a:lnTo>
                <a:lnTo>
                  <a:pt x="52866" y="38234"/>
                </a:lnTo>
                <a:lnTo>
                  <a:pt x="55029" y="27520"/>
                </a:lnTo>
                <a:lnTo>
                  <a:pt x="52866" y="16807"/>
                </a:lnTo>
                <a:lnTo>
                  <a:pt x="46969" y="8059"/>
                </a:lnTo>
                <a:lnTo>
                  <a:pt x="38221" y="2162"/>
                </a:lnTo>
                <a:lnTo>
                  <a:pt x="27508" y="0"/>
                </a:lnTo>
                <a:close/>
              </a:path>
            </a:pathLst>
          </a:custGeom>
          <a:solidFill>
            <a:srgbClr val="5D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32656" y="3062254"/>
            <a:ext cx="2604135" cy="1310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</a:t>
            </a:r>
            <a:r>
              <a:rPr dirty="0" sz="1850" spc="-15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Network- 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ing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Product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Suites </a:t>
            </a:r>
            <a:r>
              <a:rPr dirty="0" sz="1850" spc="70">
                <a:solidFill>
                  <a:srgbClr val="2C99CF"/>
                </a:solidFill>
                <a:latin typeface="Arial"/>
                <a:cs typeface="Arial"/>
              </a:rPr>
              <a:t>of  </a:t>
            </a:r>
            <a:r>
              <a:rPr dirty="0" sz="1850" spc="-75">
                <a:solidFill>
                  <a:srgbClr val="2C99CF"/>
                </a:solidFill>
                <a:latin typeface="Arial"/>
                <a:cs typeface="Arial"/>
              </a:rPr>
              <a:t>AWS &amp;</a:t>
            </a:r>
            <a:r>
              <a:rPr dirty="0" sz="1850" spc="-114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125">
                <a:solidFill>
                  <a:srgbClr val="2C99CF"/>
                </a:solidFill>
                <a:latin typeface="Arial"/>
                <a:cs typeface="Arial"/>
              </a:rPr>
              <a:t>GCP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I. Load</a:t>
            </a:r>
            <a:r>
              <a:rPr dirty="0" sz="1500" spc="-17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balancing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2656" y="4541916"/>
            <a:ext cx="233235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Load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balancers when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conﬁgured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properly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distribute incoming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trafﬁc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across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multiple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making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apps  more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fault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tolerant.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2656" y="5494477"/>
            <a:ext cx="2548890" cy="1911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Scaling</a:t>
            </a:r>
            <a:r>
              <a:rPr dirty="0" sz="1200" spc="-114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pattern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Elastic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Load Balancer 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(ELB)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Load Balancer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respond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trafﬁc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scaling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down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capacity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necessary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meet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trafﬁc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being passed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it.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Load Balancer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responds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real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without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delay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pre-warming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unlike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ELB.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2656" y="7582357"/>
            <a:ext cx="2627630" cy="1149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Pricing</a:t>
            </a:r>
            <a:r>
              <a:rPr dirty="0" sz="1200" spc="-12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load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balancing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hourly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rate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load balancer 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separate charge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trafﬁc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handled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load balancer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billed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customers.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064" y="1461731"/>
            <a:ext cx="5316220" cy="1179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II.</a:t>
            </a:r>
            <a:r>
              <a:rPr dirty="0" sz="1500" spc="-10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Peering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directly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network.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02020"/>
                </a:solidFill>
                <a:latin typeface="Arial"/>
                <a:cs typeface="Arial"/>
              </a:rPr>
              <a:t>peering </a:t>
            </a:r>
            <a:r>
              <a:rPr dirty="0" sz="1200" spc="10">
                <a:solidFill>
                  <a:srgbClr val="202020"/>
                </a:solidFill>
                <a:latin typeface="Arial"/>
                <a:cs typeface="Arial"/>
              </a:rPr>
              <a:t>services offered </a:t>
            </a:r>
            <a:r>
              <a:rPr dirty="0" sz="1200">
                <a:solidFill>
                  <a:srgbClr val="202020"/>
                </a:solidFill>
                <a:latin typeface="Arial"/>
                <a:cs typeface="Arial"/>
              </a:rPr>
              <a:t>by </a:t>
            </a:r>
            <a:r>
              <a:rPr dirty="0" sz="1200" spc="-55">
                <a:solidFill>
                  <a:srgbClr val="202020"/>
                </a:solidFill>
                <a:latin typeface="Arial"/>
                <a:cs typeface="Arial"/>
              </a:rPr>
              <a:t>AWS &amp;</a:t>
            </a:r>
            <a:r>
              <a:rPr dirty="0" sz="1200" spc="-19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02020"/>
                </a:solidFill>
                <a:latin typeface="Arial"/>
                <a:cs typeface="Arial"/>
              </a:rPr>
              <a:t>GCP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0" y="2806661"/>
          <a:ext cx="5799455" cy="1651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5345"/>
                <a:gridCol w="1948205"/>
                <a:gridCol w="1925345"/>
              </a:tblGrid>
              <a:tr h="27520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2C99CF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AWS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2C99CF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Google Cloud</a:t>
                      </a:r>
                      <a:r>
                        <a:rPr dirty="0" sz="1000" spc="-1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2C99CF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Virtual</a:t>
                      </a:r>
                      <a:r>
                        <a:rPr dirty="0" sz="1000" spc="-10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Private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4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VPC-VPN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dirty="0" sz="1000" spc="-12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3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VPN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275208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Carrier</a:t>
                      </a:r>
                      <a:r>
                        <a:rPr dirty="0" sz="1000" spc="-1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Peering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dirty="0" sz="1000" spc="-10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Connect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Carrier</a:t>
                      </a:r>
                      <a:r>
                        <a:rPr dirty="0" sz="1000" spc="-10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Interconnect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dirty="0" sz="1000" spc="-114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Peering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3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N/A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dirty="0" sz="1000" spc="-114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Peering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27520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6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CDN</a:t>
                      </a:r>
                      <a:r>
                        <a:rPr dirty="0" sz="1000" spc="-114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Peering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3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N/A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lnR w="45720">
                      <a:solidFill>
                        <a:srgbClr val="FFFFFF"/>
                      </a:solidFill>
                      <a:prstDash val="solid"/>
                    </a:ln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6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CDN</a:t>
                      </a:r>
                      <a:r>
                        <a:rPr dirty="0" sz="1000" spc="-110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15">
                          <a:solidFill>
                            <a:srgbClr val="282827"/>
                          </a:solidFill>
                          <a:latin typeface="Arial"/>
                          <a:cs typeface="Arial"/>
                        </a:rPr>
                        <a:t>Interconnect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45720">
                      <a:solidFill>
                        <a:srgbClr val="FFFFFF"/>
                      </a:solidFill>
                      <a:prstDash val="solid"/>
                    </a:lnL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5058" y="4825110"/>
            <a:ext cx="2573655" cy="137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A.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Virtual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private</a:t>
            </a:r>
            <a:r>
              <a:rPr dirty="0" sz="1500" spc="-204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network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Creating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private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network,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VPN,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location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another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create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secured,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private  link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between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two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public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internet.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058" y="6387210"/>
            <a:ext cx="2627630" cy="1758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35">
                <a:solidFill>
                  <a:srgbClr val="202020"/>
                </a:solidFill>
                <a:latin typeface="Arial"/>
                <a:cs typeface="Arial"/>
              </a:rPr>
              <a:t>B. </a:t>
            </a:r>
            <a:r>
              <a:rPr dirty="0" sz="1500" spc="-20">
                <a:solidFill>
                  <a:srgbClr val="202020"/>
                </a:solidFill>
                <a:latin typeface="Arial"/>
                <a:cs typeface="Arial"/>
              </a:rPr>
              <a:t>Carrier</a:t>
            </a:r>
            <a:r>
              <a:rPr dirty="0" sz="1500" spc="-9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peering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Sometimes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  through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VPN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won’t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satisfy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speed/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needs,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case,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leasing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private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connection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guaranteed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capacity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assigned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beneﬁcial.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conjunction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partners.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58" y="8330310"/>
            <a:ext cx="2499995" cy="615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9530">
              <a:lnSpc>
                <a:spcPct val="100000"/>
              </a:lnSpc>
            </a:pPr>
            <a:r>
              <a:rPr dirty="0" sz="1500" spc="-80">
                <a:solidFill>
                  <a:srgbClr val="202020"/>
                </a:solidFill>
                <a:latin typeface="Arial"/>
                <a:cs typeface="Arial"/>
              </a:rPr>
              <a:t>C.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Direct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peering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Direct peering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directly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connect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6923" y="4826421"/>
            <a:ext cx="244919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private,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dedicated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line,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via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3rd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party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provider.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does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does.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6987" y="5596178"/>
            <a:ext cx="2607945" cy="1987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248920">
              <a:lnSpc>
                <a:spcPct val="100000"/>
              </a:lnSpc>
            </a:pPr>
            <a:r>
              <a:rPr dirty="0" sz="1500" spc="-105">
                <a:solidFill>
                  <a:srgbClr val="202020"/>
                </a:solidFill>
                <a:latin typeface="Arial"/>
                <a:cs typeface="Arial"/>
              </a:rPr>
              <a:t>D. </a:t>
            </a:r>
            <a:r>
              <a:rPr dirty="0" sz="1500" spc="5">
                <a:solidFill>
                  <a:srgbClr val="202020"/>
                </a:solidFill>
                <a:latin typeface="Arial"/>
                <a:cs typeface="Arial"/>
              </a:rPr>
              <a:t>Content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delivery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network  </a:t>
            </a:r>
            <a:r>
              <a:rPr dirty="0" sz="1500" spc="-50">
                <a:solidFill>
                  <a:srgbClr val="202020"/>
                </a:solidFill>
                <a:latin typeface="Arial"/>
                <a:cs typeface="Arial"/>
              </a:rPr>
              <a:t>(CDN)</a:t>
            </a:r>
            <a:r>
              <a:rPr dirty="0" sz="1500" spc="-11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peering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Content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(CDN)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carrier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instead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facility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provider,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CDN.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CDN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Interconnect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Amazon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CDN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service,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Cloudfront.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6987" y="7767878"/>
            <a:ext cx="2618740" cy="137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Pricing </a:t>
            </a:r>
            <a:r>
              <a:rPr dirty="0" sz="1500" spc="55">
                <a:solidFill>
                  <a:srgbClr val="202020"/>
                </a:solidFill>
                <a:latin typeface="Arial"/>
                <a:cs typeface="Arial"/>
              </a:rPr>
              <a:t>of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Peering</a:t>
            </a:r>
            <a:r>
              <a:rPr dirty="0" sz="1500" spc="-27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  <a:p>
            <a:pPr marL="12700" marR="13970">
              <a:lnSpc>
                <a:spcPts val="1500"/>
              </a:lnSpc>
            </a:pP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VPN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way,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hourly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rate.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services,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economical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option,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direct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peering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CDN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Interconnect.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287" y="1461731"/>
            <a:ext cx="666115" cy="242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III.</a:t>
            </a:r>
            <a:r>
              <a:rPr dirty="0" sz="1500" spc="-1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60">
                <a:solidFill>
                  <a:srgbClr val="202020"/>
                </a:solidFill>
                <a:latin typeface="Arial"/>
                <a:cs typeface="Arial"/>
              </a:rPr>
              <a:t>DNS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287" y="1873150"/>
            <a:ext cx="2609850" cy="1918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DNS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translates domain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names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numeric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IP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servers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each other.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 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DNS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Route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53 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DNS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close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feature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parity.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However,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offers 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two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additional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routing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available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</a:t>
            </a:r>
            <a:r>
              <a:rPr dirty="0" sz="1200" spc="-2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users,</a:t>
            </a:r>
            <a:endParaRPr sz="1200">
              <a:latin typeface="Arial"/>
              <a:cs typeface="Arial"/>
            </a:endParaRPr>
          </a:p>
          <a:p>
            <a:pPr marL="12700" marR="62484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geography-based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routing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latency-based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routing.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87" y="3968712"/>
            <a:ext cx="2615565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5">
                <a:solidFill>
                  <a:srgbClr val="202020"/>
                </a:solidFill>
                <a:latin typeface="Arial"/>
                <a:cs typeface="Arial"/>
              </a:rPr>
              <a:t>Pricing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charge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 higher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7037" y="1463195"/>
            <a:ext cx="232410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geographic-based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routing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laten-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cy-based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routing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queries.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7000" y="2080399"/>
            <a:ext cx="2432685" cy="471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75">
                <a:solidFill>
                  <a:srgbClr val="202020"/>
                </a:solidFill>
                <a:latin typeface="Arial"/>
                <a:cs typeface="Arial"/>
              </a:rPr>
              <a:t>IV. </a:t>
            </a:r>
            <a:r>
              <a:rPr dirty="0" sz="1500" spc="-65">
                <a:solidFill>
                  <a:srgbClr val="202020"/>
                </a:solidFill>
                <a:latin typeface="Arial"/>
                <a:cs typeface="Arial"/>
              </a:rPr>
              <a:t>BONUS! </a:t>
            </a:r>
            <a:r>
              <a:rPr dirty="0" sz="1500" spc="-10">
                <a:solidFill>
                  <a:srgbClr val="202020"/>
                </a:solidFill>
                <a:latin typeface="Arial"/>
                <a:cs typeface="Arial"/>
              </a:rPr>
              <a:t>Live </a:t>
            </a:r>
            <a:r>
              <a:rPr dirty="0" sz="1500" spc="30">
                <a:solidFill>
                  <a:srgbClr val="202020"/>
                </a:solidFill>
                <a:latin typeface="Arial"/>
                <a:cs typeface="Arial"/>
              </a:rPr>
              <a:t>Migration</a:t>
            </a:r>
            <a:r>
              <a:rPr dirty="0" sz="1500" spc="-7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30">
                <a:solidFill>
                  <a:srgbClr val="202020"/>
                </a:solidFill>
                <a:latin typeface="Arial"/>
                <a:cs typeface="Arial"/>
              </a:rPr>
              <a:t>in  </a:t>
            </a:r>
            <a:r>
              <a:rPr dirty="0" sz="1500" spc="-110">
                <a:solidFill>
                  <a:srgbClr val="202020"/>
                </a:solidFill>
                <a:latin typeface="Arial"/>
                <a:cs typeface="Arial"/>
              </a:rPr>
              <a:t>GCP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000" y="2720418"/>
            <a:ext cx="2586355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Another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advantage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is 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availability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live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migration.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Hardware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failures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happen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centers;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event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hardware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failure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move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VMs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affected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hardware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functioning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hardware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automatically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without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intervention.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5022" y="5646051"/>
            <a:ext cx="5365115" cy="2148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3175">
              <a:lnSpc>
                <a:spcPct val="100000"/>
              </a:lnSpc>
            </a:pP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All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major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vendors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suffer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occasional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network 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glitches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that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affect </a:t>
            </a: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their </a:t>
            </a:r>
            <a:r>
              <a:rPr dirty="0" sz="2000" spc="50" i="1">
                <a:solidFill>
                  <a:srgbClr val="2C99CF"/>
                </a:solidFill>
                <a:latin typeface="Calibri"/>
                <a:cs typeface="Calibri"/>
              </a:rPr>
              <a:t>Service </a:t>
            </a:r>
            <a:r>
              <a:rPr dirty="0" sz="2000" spc="40" i="1">
                <a:solidFill>
                  <a:srgbClr val="2C99CF"/>
                </a:solidFill>
                <a:latin typeface="Calibri"/>
                <a:cs typeface="Calibri"/>
              </a:rPr>
              <a:t>Levels.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recent 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benchmarking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providers by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an  </a:t>
            </a:r>
            <a:r>
              <a:rPr dirty="0" sz="2000" i="1">
                <a:solidFill>
                  <a:srgbClr val="2C99CF"/>
                </a:solidFill>
                <a:latin typeface="Calibri"/>
                <a:cs typeface="Calibri"/>
              </a:rPr>
              <a:t>independent 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expert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ranked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Amazon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higher for </a:t>
            </a:r>
            <a:r>
              <a:rPr dirty="0" sz="2000" spc="-30" i="1">
                <a:solidFill>
                  <a:srgbClr val="2C99CF"/>
                </a:solidFill>
                <a:latin typeface="Calibri"/>
                <a:cs typeface="Calibri"/>
              </a:rPr>
              <a:t>"Ser-  </a:t>
            </a:r>
            <a:r>
              <a:rPr dirty="0" sz="2000" spc="40" i="1">
                <a:solidFill>
                  <a:srgbClr val="2C99CF"/>
                </a:solidFill>
                <a:latin typeface="Calibri"/>
                <a:cs typeface="Calibri"/>
              </a:rPr>
              <a:t>vice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Level".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But 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ranked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best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on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pricing, 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making </a:t>
            </a:r>
            <a:r>
              <a:rPr dirty="0" sz="2000" spc="-35" i="1">
                <a:solidFill>
                  <a:srgbClr val="2C99CF"/>
                </a:solidFill>
                <a:latin typeface="Calibri"/>
                <a:cs typeface="Calibri"/>
              </a:rPr>
              <a:t>it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clear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that </a:t>
            </a:r>
            <a:r>
              <a:rPr dirty="0" sz="2000" spc="95" i="1">
                <a:solidFill>
                  <a:srgbClr val="2C99CF"/>
                </a:solidFill>
                <a:latin typeface="Calibri"/>
                <a:cs typeface="Calibri"/>
              </a:rPr>
              <a:t>GCP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offers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000" spc="35" i="1">
                <a:solidFill>
                  <a:srgbClr val="2C99CF"/>
                </a:solidFill>
                <a:latin typeface="Calibri"/>
                <a:cs typeface="Calibri"/>
              </a:rPr>
              <a:t>best 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networking </a:t>
            </a:r>
            <a:r>
              <a:rPr dirty="0" sz="2000" spc="20" i="1">
                <a:solidFill>
                  <a:srgbClr val="2C99CF"/>
                </a:solidFill>
                <a:latin typeface="Calibri"/>
                <a:cs typeface="Calibri"/>
              </a:rPr>
              <a:t>performance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for the</a:t>
            </a: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money.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31335" y="4053827"/>
            <a:ext cx="3233420" cy="1680210"/>
          </a:xfrm>
          <a:custGeom>
            <a:avLst/>
            <a:gdLst/>
            <a:ahLst/>
            <a:cxnLst/>
            <a:rect l="l" t="t" r="r" b="b"/>
            <a:pathLst>
              <a:path w="3233420" h="1680210">
                <a:moveTo>
                  <a:pt x="359943" y="908443"/>
                </a:moveTo>
                <a:lnTo>
                  <a:pt x="311095" y="911729"/>
                </a:lnTo>
                <a:lnTo>
                  <a:pt x="264246" y="921300"/>
                </a:lnTo>
                <a:lnTo>
                  <a:pt x="219825" y="936727"/>
                </a:lnTo>
                <a:lnTo>
                  <a:pt x="178260" y="957583"/>
                </a:lnTo>
                <a:lnTo>
                  <a:pt x="139981" y="983438"/>
                </a:lnTo>
                <a:lnTo>
                  <a:pt x="105414" y="1013864"/>
                </a:lnTo>
                <a:lnTo>
                  <a:pt x="74990" y="1048432"/>
                </a:lnTo>
                <a:lnTo>
                  <a:pt x="49136" y="1086714"/>
                </a:lnTo>
                <a:lnTo>
                  <a:pt x="28282" y="1128280"/>
                </a:lnTo>
                <a:lnTo>
                  <a:pt x="12855" y="1172702"/>
                </a:lnTo>
                <a:lnTo>
                  <a:pt x="3285" y="1219551"/>
                </a:lnTo>
                <a:lnTo>
                  <a:pt x="0" y="1268399"/>
                </a:lnTo>
                <a:lnTo>
                  <a:pt x="98" y="1276118"/>
                </a:lnTo>
                <a:lnTo>
                  <a:pt x="377" y="1283790"/>
                </a:lnTo>
                <a:lnTo>
                  <a:pt x="814" y="1291422"/>
                </a:lnTo>
                <a:lnTo>
                  <a:pt x="1384" y="1299019"/>
                </a:lnTo>
                <a:lnTo>
                  <a:pt x="809" y="1306656"/>
                </a:lnTo>
                <a:lnTo>
                  <a:pt x="373" y="1314332"/>
                </a:lnTo>
                <a:lnTo>
                  <a:pt x="96" y="1322050"/>
                </a:lnTo>
                <a:lnTo>
                  <a:pt x="0" y="1329817"/>
                </a:lnTo>
                <a:lnTo>
                  <a:pt x="3102" y="1377301"/>
                </a:lnTo>
                <a:lnTo>
                  <a:pt x="12140" y="1422843"/>
                </a:lnTo>
                <a:lnTo>
                  <a:pt x="26708" y="1466025"/>
                </a:lnTo>
                <a:lnTo>
                  <a:pt x="46402" y="1506431"/>
                </a:lnTo>
                <a:lnTo>
                  <a:pt x="70816" y="1543644"/>
                </a:lnTo>
                <a:lnTo>
                  <a:pt x="99547" y="1577247"/>
                </a:lnTo>
                <a:lnTo>
                  <a:pt x="132189" y="1606824"/>
                </a:lnTo>
                <a:lnTo>
                  <a:pt x="168338" y="1631958"/>
                </a:lnTo>
                <a:lnTo>
                  <a:pt x="207588" y="1652232"/>
                </a:lnTo>
                <a:lnTo>
                  <a:pt x="249535" y="1667229"/>
                </a:lnTo>
                <a:lnTo>
                  <a:pt x="293775" y="1676533"/>
                </a:lnTo>
                <a:lnTo>
                  <a:pt x="339902" y="1679727"/>
                </a:lnTo>
                <a:lnTo>
                  <a:pt x="2893250" y="1679727"/>
                </a:lnTo>
                <a:lnTo>
                  <a:pt x="2939372" y="1676533"/>
                </a:lnTo>
                <a:lnTo>
                  <a:pt x="2983608" y="1667229"/>
                </a:lnTo>
                <a:lnTo>
                  <a:pt x="3025554" y="1652232"/>
                </a:lnTo>
                <a:lnTo>
                  <a:pt x="3064803" y="1631958"/>
                </a:lnTo>
                <a:lnTo>
                  <a:pt x="3100953" y="1606824"/>
                </a:lnTo>
                <a:lnTo>
                  <a:pt x="3133596" y="1577247"/>
                </a:lnTo>
                <a:lnTo>
                  <a:pt x="3162328" y="1543644"/>
                </a:lnTo>
                <a:lnTo>
                  <a:pt x="3186745" y="1506431"/>
                </a:lnTo>
                <a:lnTo>
                  <a:pt x="3206441" y="1466025"/>
                </a:lnTo>
                <a:lnTo>
                  <a:pt x="3221011" y="1422843"/>
                </a:lnTo>
                <a:lnTo>
                  <a:pt x="3230050" y="1377301"/>
                </a:lnTo>
                <a:lnTo>
                  <a:pt x="3233153" y="1329817"/>
                </a:lnTo>
                <a:lnTo>
                  <a:pt x="3229584" y="1278945"/>
                </a:lnTo>
                <a:lnTo>
                  <a:pt x="3219213" y="1230346"/>
                </a:lnTo>
                <a:lnTo>
                  <a:pt x="3202540" y="1184535"/>
                </a:lnTo>
                <a:lnTo>
                  <a:pt x="3180067" y="1142026"/>
                </a:lnTo>
                <a:lnTo>
                  <a:pt x="3152294" y="1103332"/>
                </a:lnTo>
                <a:lnTo>
                  <a:pt x="3119722" y="1068969"/>
                </a:lnTo>
                <a:lnTo>
                  <a:pt x="3082853" y="1039450"/>
                </a:lnTo>
                <a:lnTo>
                  <a:pt x="3042188" y="1015289"/>
                </a:lnTo>
                <a:lnTo>
                  <a:pt x="2998228" y="997000"/>
                </a:lnTo>
                <a:lnTo>
                  <a:pt x="2961120" y="981180"/>
                </a:lnTo>
                <a:lnTo>
                  <a:pt x="2956848" y="979906"/>
                </a:lnTo>
                <a:lnTo>
                  <a:pt x="575246" y="979906"/>
                </a:lnTo>
                <a:lnTo>
                  <a:pt x="537547" y="955239"/>
                </a:lnTo>
                <a:lnTo>
                  <a:pt x="496771" y="935362"/>
                </a:lnTo>
                <a:lnTo>
                  <a:pt x="453314" y="920672"/>
                </a:lnTo>
                <a:lnTo>
                  <a:pt x="407572" y="911567"/>
                </a:lnTo>
                <a:lnTo>
                  <a:pt x="359943" y="908443"/>
                </a:lnTo>
                <a:close/>
              </a:path>
              <a:path w="3233420" h="1680210">
                <a:moveTo>
                  <a:pt x="959853" y="651332"/>
                </a:moveTo>
                <a:lnTo>
                  <a:pt x="913565" y="654281"/>
                </a:lnTo>
                <a:lnTo>
                  <a:pt x="869050" y="662886"/>
                </a:lnTo>
                <a:lnTo>
                  <a:pt x="826671" y="676783"/>
                </a:lnTo>
                <a:lnTo>
                  <a:pt x="786792" y="695607"/>
                </a:lnTo>
                <a:lnTo>
                  <a:pt x="749776" y="718994"/>
                </a:lnTo>
                <a:lnTo>
                  <a:pt x="715986" y="746582"/>
                </a:lnTo>
                <a:lnTo>
                  <a:pt x="685786" y="778004"/>
                </a:lnTo>
                <a:lnTo>
                  <a:pt x="659538" y="812898"/>
                </a:lnTo>
                <a:lnTo>
                  <a:pt x="637607" y="850900"/>
                </a:lnTo>
                <a:lnTo>
                  <a:pt x="620356" y="891644"/>
                </a:lnTo>
                <a:lnTo>
                  <a:pt x="608147" y="934767"/>
                </a:lnTo>
                <a:lnTo>
                  <a:pt x="601345" y="979906"/>
                </a:lnTo>
                <a:lnTo>
                  <a:pt x="2670365" y="979906"/>
                </a:lnTo>
                <a:lnTo>
                  <a:pt x="2683658" y="935100"/>
                </a:lnTo>
                <a:lnTo>
                  <a:pt x="2694198" y="889179"/>
                </a:lnTo>
                <a:lnTo>
                  <a:pt x="2701871" y="842232"/>
                </a:lnTo>
                <a:lnTo>
                  <a:pt x="2706559" y="794348"/>
                </a:lnTo>
                <a:lnTo>
                  <a:pt x="2707684" y="759828"/>
                </a:lnTo>
                <a:lnTo>
                  <a:pt x="1217269" y="759828"/>
                </a:lnTo>
                <a:lnTo>
                  <a:pt x="1182520" y="728556"/>
                </a:lnTo>
                <a:lnTo>
                  <a:pt x="1143913" y="701959"/>
                </a:lnTo>
                <a:lnTo>
                  <a:pt x="1101896" y="680486"/>
                </a:lnTo>
                <a:lnTo>
                  <a:pt x="1056915" y="664590"/>
                </a:lnTo>
                <a:lnTo>
                  <a:pt x="1009418" y="654721"/>
                </a:lnTo>
                <a:lnTo>
                  <a:pt x="959853" y="651332"/>
                </a:lnTo>
                <a:close/>
              </a:path>
              <a:path w="3233420" h="1680210">
                <a:moveTo>
                  <a:pt x="2838919" y="959840"/>
                </a:moveTo>
                <a:lnTo>
                  <a:pt x="2808101" y="961156"/>
                </a:lnTo>
                <a:lnTo>
                  <a:pt x="2778009" y="965020"/>
                </a:lnTo>
                <a:lnTo>
                  <a:pt x="2748742" y="971311"/>
                </a:lnTo>
                <a:lnTo>
                  <a:pt x="2720403" y="979906"/>
                </a:lnTo>
                <a:lnTo>
                  <a:pt x="2956848" y="979906"/>
                </a:lnTo>
                <a:lnTo>
                  <a:pt x="2922022" y="969519"/>
                </a:lnTo>
                <a:lnTo>
                  <a:pt x="2881199" y="962308"/>
                </a:lnTo>
                <a:lnTo>
                  <a:pt x="2838919" y="959840"/>
                </a:lnTo>
                <a:close/>
              </a:path>
              <a:path w="3233420" h="1680210">
                <a:moveTo>
                  <a:pt x="1962581" y="0"/>
                </a:moveTo>
                <a:lnTo>
                  <a:pt x="1915425" y="1467"/>
                </a:lnTo>
                <a:lnTo>
                  <a:pt x="1869048" y="5809"/>
                </a:lnTo>
                <a:lnTo>
                  <a:pt x="1823538" y="12941"/>
                </a:lnTo>
                <a:lnTo>
                  <a:pt x="1778982" y="22773"/>
                </a:lnTo>
                <a:lnTo>
                  <a:pt x="1735467" y="35220"/>
                </a:lnTo>
                <a:lnTo>
                  <a:pt x="1693081" y="50192"/>
                </a:lnTo>
                <a:lnTo>
                  <a:pt x="1651911" y="67604"/>
                </a:lnTo>
                <a:lnTo>
                  <a:pt x="1612044" y="87367"/>
                </a:lnTo>
                <a:lnTo>
                  <a:pt x="1573568" y="109394"/>
                </a:lnTo>
                <a:lnTo>
                  <a:pt x="1536570" y="133598"/>
                </a:lnTo>
                <a:lnTo>
                  <a:pt x="1501138" y="159892"/>
                </a:lnTo>
                <a:lnTo>
                  <a:pt x="1467358" y="188188"/>
                </a:lnTo>
                <a:lnTo>
                  <a:pt x="1435319" y="218398"/>
                </a:lnTo>
                <a:lnTo>
                  <a:pt x="1405107" y="250436"/>
                </a:lnTo>
                <a:lnTo>
                  <a:pt x="1376810" y="284214"/>
                </a:lnTo>
                <a:lnTo>
                  <a:pt x="1350515" y="319644"/>
                </a:lnTo>
                <a:lnTo>
                  <a:pt x="1326310" y="356640"/>
                </a:lnTo>
                <a:lnTo>
                  <a:pt x="1304282" y="395113"/>
                </a:lnTo>
                <a:lnTo>
                  <a:pt x="1284519" y="434977"/>
                </a:lnTo>
                <a:lnTo>
                  <a:pt x="1267107" y="476144"/>
                </a:lnTo>
                <a:lnTo>
                  <a:pt x="1252134" y="518526"/>
                </a:lnTo>
                <a:lnTo>
                  <a:pt x="1239688" y="562037"/>
                </a:lnTo>
                <a:lnTo>
                  <a:pt x="1229855" y="606589"/>
                </a:lnTo>
                <a:lnTo>
                  <a:pt x="1222723" y="652094"/>
                </a:lnTo>
                <a:lnTo>
                  <a:pt x="1218381" y="698466"/>
                </a:lnTo>
                <a:lnTo>
                  <a:pt x="1216914" y="745617"/>
                </a:lnTo>
                <a:lnTo>
                  <a:pt x="1216914" y="750379"/>
                </a:lnTo>
                <a:lnTo>
                  <a:pt x="1217193" y="755091"/>
                </a:lnTo>
                <a:lnTo>
                  <a:pt x="1217269" y="759828"/>
                </a:lnTo>
                <a:lnTo>
                  <a:pt x="2707684" y="759828"/>
                </a:lnTo>
                <a:lnTo>
                  <a:pt x="2708148" y="745617"/>
                </a:lnTo>
                <a:lnTo>
                  <a:pt x="2706681" y="698466"/>
                </a:lnTo>
                <a:lnTo>
                  <a:pt x="2702338" y="652094"/>
                </a:lnTo>
                <a:lnTo>
                  <a:pt x="2695207" y="606589"/>
                </a:lnTo>
                <a:lnTo>
                  <a:pt x="2685375" y="562037"/>
                </a:lnTo>
                <a:lnTo>
                  <a:pt x="2672930" y="518526"/>
                </a:lnTo>
                <a:lnTo>
                  <a:pt x="2657959" y="476144"/>
                </a:lnTo>
                <a:lnTo>
                  <a:pt x="2640548" y="434977"/>
                </a:lnTo>
                <a:lnTo>
                  <a:pt x="2620787" y="395113"/>
                </a:lnTo>
                <a:lnTo>
                  <a:pt x="2598761" y="356640"/>
                </a:lnTo>
                <a:lnTo>
                  <a:pt x="2574558" y="319644"/>
                </a:lnTo>
                <a:lnTo>
                  <a:pt x="2548267" y="284214"/>
                </a:lnTo>
                <a:lnTo>
                  <a:pt x="2519973" y="250436"/>
                </a:lnTo>
                <a:lnTo>
                  <a:pt x="2489765" y="218398"/>
                </a:lnTo>
                <a:lnTo>
                  <a:pt x="2457729" y="188188"/>
                </a:lnTo>
                <a:lnTo>
                  <a:pt x="2423954" y="159892"/>
                </a:lnTo>
                <a:lnTo>
                  <a:pt x="2388526" y="133598"/>
                </a:lnTo>
                <a:lnTo>
                  <a:pt x="2351533" y="109394"/>
                </a:lnTo>
                <a:lnTo>
                  <a:pt x="2313062" y="87367"/>
                </a:lnTo>
                <a:lnTo>
                  <a:pt x="2273201" y="67604"/>
                </a:lnTo>
                <a:lnTo>
                  <a:pt x="2232037" y="50192"/>
                </a:lnTo>
                <a:lnTo>
                  <a:pt x="2189657" y="35220"/>
                </a:lnTo>
                <a:lnTo>
                  <a:pt x="2146149" y="22773"/>
                </a:lnTo>
                <a:lnTo>
                  <a:pt x="2101600" y="12941"/>
                </a:lnTo>
                <a:lnTo>
                  <a:pt x="2056097" y="5809"/>
                </a:lnTo>
                <a:lnTo>
                  <a:pt x="2009729" y="1467"/>
                </a:lnTo>
                <a:lnTo>
                  <a:pt x="1962581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7315200" cy="4203700"/>
          </a:xfrm>
          <a:custGeom>
            <a:avLst/>
            <a:gdLst/>
            <a:ahLst/>
            <a:cxnLst/>
            <a:rect l="l" t="t" r="r" b="b"/>
            <a:pathLst>
              <a:path w="7315200" h="4203700">
                <a:moveTo>
                  <a:pt x="0" y="0"/>
                </a:moveTo>
                <a:lnTo>
                  <a:pt x="7315200" y="0"/>
                </a:lnTo>
                <a:lnTo>
                  <a:pt x="7315200" y="4203700"/>
                </a:lnTo>
                <a:lnTo>
                  <a:pt x="0" y="4203700"/>
                </a:lnTo>
                <a:lnTo>
                  <a:pt x="0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07134" y="4796370"/>
            <a:ext cx="1902237" cy="17267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26633" y="3644925"/>
            <a:ext cx="1047750" cy="753110"/>
          </a:xfrm>
          <a:custGeom>
            <a:avLst/>
            <a:gdLst/>
            <a:ahLst/>
            <a:cxnLst/>
            <a:rect l="l" t="t" r="r" b="b"/>
            <a:pathLst>
              <a:path w="1047750" h="753110">
                <a:moveTo>
                  <a:pt x="186194" y="65582"/>
                </a:moveTo>
                <a:lnTo>
                  <a:pt x="138138" y="71457"/>
                </a:lnTo>
                <a:lnTo>
                  <a:pt x="94357" y="88133"/>
                </a:lnTo>
                <a:lnTo>
                  <a:pt x="56271" y="114192"/>
                </a:lnTo>
                <a:lnTo>
                  <a:pt x="25298" y="148212"/>
                </a:lnTo>
                <a:lnTo>
                  <a:pt x="2857" y="188772"/>
                </a:lnTo>
                <a:lnTo>
                  <a:pt x="0" y="196214"/>
                </a:lnTo>
                <a:lnTo>
                  <a:pt x="350481" y="751509"/>
                </a:lnTo>
                <a:lnTo>
                  <a:pt x="796289" y="752728"/>
                </a:lnTo>
                <a:lnTo>
                  <a:pt x="841390" y="748686"/>
                </a:lnTo>
                <a:lnTo>
                  <a:pt x="883837" y="737031"/>
                </a:lnTo>
                <a:lnTo>
                  <a:pt x="922924" y="718473"/>
                </a:lnTo>
                <a:lnTo>
                  <a:pt x="957942" y="693719"/>
                </a:lnTo>
                <a:lnTo>
                  <a:pt x="988182" y="663478"/>
                </a:lnTo>
                <a:lnTo>
                  <a:pt x="1012936" y="628459"/>
                </a:lnTo>
                <a:lnTo>
                  <a:pt x="1031494" y="589369"/>
                </a:lnTo>
                <a:lnTo>
                  <a:pt x="1043148" y="546918"/>
                </a:lnTo>
                <a:lnTo>
                  <a:pt x="1047191" y="501815"/>
                </a:lnTo>
                <a:lnTo>
                  <a:pt x="1043148" y="456715"/>
                </a:lnTo>
                <a:lnTo>
                  <a:pt x="1031494" y="414267"/>
                </a:lnTo>
                <a:lnTo>
                  <a:pt x="1012936" y="375180"/>
                </a:lnTo>
                <a:lnTo>
                  <a:pt x="988182" y="340162"/>
                </a:lnTo>
                <a:lnTo>
                  <a:pt x="957942" y="309922"/>
                </a:lnTo>
                <a:lnTo>
                  <a:pt x="922924" y="285169"/>
                </a:lnTo>
                <a:lnTo>
                  <a:pt x="883837" y="266610"/>
                </a:lnTo>
                <a:lnTo>
                  <a:pt x="841390" y="254956"/>
                </a:lnTo>
                <a:lnTo>
                  <a:pt x="758151" y="253796"/>
                </a:lnTo>
                <a:lnTo>
                  <a:pt x="758189" y="250913"/>
                </a:lnTo>
                <a:lnTo>
                  <a:pt x="754147" y="205813"/>
                </a:lnTo>
                <a:lnTo>
                  <a:pt x="742492" y="163364"/>
                </a:lnTo>
                <a:lnTo>
                  <a:pt x="723934" y="124275"/>
                </a:lnTo>
                <a:lnTo>
                  <a:pt x="702896" y="94513"/>
                </a:lnTo>
                <a:lnTo>
                  <a:pt x="289280" y="94513"/>
                </a:lnTo>
                <a:lnTo>
                  <a:pt x="265818" y="82250"/>
                </a:lnTo>
                <a:lnTo>
                  <a:pt x="240642" y="73166"/>
                </a:lnTo>
                <a:lnTo>
                  <a:pt x="214014" y="67522"/>
                </a:lnTo>
                <a:lnTo>
                  <a:pt x="186194" y="65582"/>
                </a:lnTo>
                <a:close/>
              </a:path>
              <a:path w="1047750" h="753110">
                <a:moveTo>
                  <a:pt x="796289" y="250913"/>
                </a:moveTo>
                <a:lnTo>
                  <a:pt x="786609" y="251096"/>
                </a:lnTo>
                <a:lnTo>
                  <a:pt x="777020" y="251640"/>
                </a:lnTo>
                <a:lnTo>
                  <a:pt x="767532" y="252542"/>
                </a:lnTo>
                <a:lnTo>
                  <a:pt x="758151" y="253796"/>
                </a:lnTo>
                <a:lnTo>
                  <a:pt x="828454" y="253796"/>
                </a:lnTo>
                <a:lnTo>
                  <a:pt x="796289" y="250913"/>
                </a:lnTo>
                <a:close/>
              </a:path>
              <a:path w="1047750" h="753110">
                <a:moveTo>
                  <a:pt x="507276" y="0"/>
                </a:moveTo>
                <a:lnTo>
                  <a:pt x="473268" y="2288"/>
                </a:lnTo>
                <a:lnTo>
                  <a:pt x="440651" y="8951"/>
                </a:lnTo>
                <a:lnTo>
                  <a:pt x="409721" y="19689"/>
                </a:lnTo>
                <a:lnTo>
                  <a:pt x="380649" y="34258"/>
                </a:lnTo>
                <a:lnTo>
                  <a:pt x="352099" y="47703"/>
                </a:lnTo>
                <a:lnTo>
                  <a:pt x="327386" y="62966"/>
                </a:lnTo>
                <a:lnTo>
                  <a:pt x="306494" y="78924"/>
                </a:lnTo>
                <a:lnTo>
                  <a:pt x="289280" y="94513"/>
                </a:lnTo>
                <a:lnTo>
                  <a:pt x="702896" y="94513"/>
                </a:lnTo>
                <a:lnTo>
                  <a:pt x="668939" y="59013"/>
                </a:lnTo>
                <a:lnTo>
                  <a:pt x="633920" y="34258"/>
                </a:lnTo>
                <a:lnTo>
                  <a:pt x="594830" y="15698"/>
                </a:lnTo>
                <a:lnTo>
                  <a:pt x="552379" y="4042"/>
                </a:lnTo>
                <a:lnTo>
                  <a:pt x="507276" y="0"/>
                </a:lnTo>
                <a:close/>
              </a:path>
            </a:pathLst>
          </a:custGeom>
          <a:solidFill>
            <a:srgbClr val="1B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52047" y="3778478"/>
            <a:ext cx="1199515" cy="753110"/>
          </a:xfrm>
          <a:custGeom>
            <a:avLst/>
            <a:gdLst/>
            <a:ahLst/>
            <a:cxnLst/>
            <a:rect l="l" t="t" r="r" b="b"/>
            <a:pathLst>
              <a:path w="1199514" h="753110">
                <a:moveTo>
                  <a:pt x="250913" y="250901"/>
                </a:moveTo>
                <a:lnTo>
                  <a:pt x="205813" y="254943"/>
                </a:lnTo>
                <a:lnTo>
                  <a:pt x="163364" y="266598"/>
                </a:lnTo>
                <a:lnTo>
                  <a:pt x="124275" y="285156"/>
                </a:lnTo>
                <a:lnTo>
                  <a:pt x="89255" y="309910"/>
                </a:lnTo>
                <a:lnTo>
                  <a:pt x="59013" y="340151"/>
                </a:lnTo>
                <a:lnTo>
                  <a:pt x="34258" y="375171"/>
                </a:lnTo>
                <a:lnTo>
                  <a:pt x="15698" y="414260"/>
                </a:lnTo>
                <a:lnTo>
                  <a:pt x="4042" y="456711"/>
                </a:lnTo>
                <a:lnTo>
                  <a:pt x="0" y="501815"/>
                </a:lnTo>
                <a:lnTo>
                  <a:pt x="4042" y="546915"/>
                </a:lnTo>
                <a:lnTo>
                  <a:pt x="15698" y="589362"/>
                </a:lnTo>
                <a:lnTo>
                  <a:pt x="34258" y="628450"/>
                </a:lnTo>
                <a:lnTo>
                  <a:pt x="59013" y="663467"/>
                </a:lnTo>
                <a:lnTo>
                  <a:pt x="89255" y="693707"/>
                </a:lnTo>
                <a:lnTo>
                  <a:pt x="124275" y="718461"/>
                </a:lnTo>
                <a:lnTo>
                  <a:pt x="163364" y="737019"/>
                </a:lnTo>
                <a:lnTo>
                  <a:pt x="205813" y="748673"/>
                </a:lnTo>
                <a:lnTo>
                  <a:pt x="250913" y="752716"/>
                </a:lnTo>
                <a:lnTo>
                  <a:pt x="988301" y="751497"/>
                </a:lnTo>
                <a:lnTo>
                  <a:pt x="1113707" y="736249"/>
                </a:lnTo>
                <a:lnTo>
                  <a:pt x="1177353" y="706904"/>
                </a:lnTo>
                <a:lnTo>
                  <a:pt x="1198899" y="641626"/>
                </a:lnTo>
                <a:lnTo>
                  <a:pt x="1198003" y="518579"/>
                </a:lnTo>
                <a:lnTo>
                  <a:pt x="1185851" y="455442"/>
                </a:lnTo>
                <a:lnTo>
                  <a:pt x="1168487" y="417941"/>
                </a:lnTo>
                <a:lnTo>
                  <a:pt x="1141664" y="379442"/>
                </a:lnTo>
                <a:lnTo>
                  <a:pt x="1103934" y="342166"/>
                </a:lnTo>
                <a:lnTo>
                  <a:pt x="1053846" y="308330"/>
                </a:lnTo>
                <a:lnTo>
                  <a:pt x="1056045" y="297425"/>
                </a:lnTo>
                <a:lnTo>
                  <a:pt x="1057640" y="286308"/>
                </a:lnTo>
                <a:lnTo>
                  <a:pt x="1058610" y="275001"/>
                </a:lnTo>
                <a:lnTo>
                  <a:pt x="1058938" y="263524"/>
                </a:lnTo>
                <a:lnTo>
                  <a:pt x="1057816" y="253784"/>
                </a:lnTo>
                <a:lnTo>
                  <a:pt x="289052" y="253784"/>
                </a:lnTo>
                <a:lnTo>
                  <a:pt x="279665" y="252535"/>
                </a:lnTo>
                <a:lnTo>
                  <a:pt x="270178" y="251633"/>
                </a:lnTo>
                <a:lnTo>
                  <a:pt x="260593" y="251085"/>
                </a:lnTo>
                <a:lnTo>
                  <a:pt x="250913" y="250901"/>
                </a:lnTo>
                <a:close/>
              </a:path>
              <a:path w="1199514" h="753110">
                <a:moveTo>
                  <a:pt x="539915" y="0"/>
                </a:moveTo>
                <a:lnTo>
                  <a:pt x="494815" y="4042"/>
                </a:lnTo>
                <a:lnTo>
                  <a:pt x="452367" y="15696"/>
                </a:lnTo>
                <a:lnTo>
                  <a:pt x="413280" y="34255"/>
                </a:lnTo>
                <a:lnTo>
                  <a:pt x="378262" y="59008"/>
                </a:lnTo>
                <a:lnTo>
                  <a:pt x="348022" y="89248"/>
                </a:lnTo>
                <a:lnTo>
                  <a:pt x="323269" y="124266"/>
                </a:lnTo>
                <a:lnTo>
                  <a:pt x="304710" y="163353"/>
                </a:lnTo>
                <a:lnTo>
                  <a:pt x="293056" y="205801"/>
                </a:lnTo>
                <a:lnTo>
                  <a:pt x="289013" y="250901"/>
                </a:lnTo>
                <a:lnTo>
                  <a:pt x="289052" y="253784"/>
                </a:lnTo>
                <a:lnTo>
                  <a:pt x="1057816" y="253784"/>
                </a:lnTo>
                <a:lnTo>
                  <a:pt x="1053710" y="218138"/>
                </a:lnTo>
                <a:lnTo>
                  <a:pt x="1038819" y="176474"/>
                </a:lnTo>
                <a:lnTo>
                  <a:pt x="1015453" y="139721"/>
                </a:lnTo>
                <a:lnTo>
                  <a:pt x="984799" y="109068"/>
                </a:lnTo>
                <a:lnTo>
                  <a:pt x="757923" y="94500"/>
                </a:lnTo>
                <a:lnTo>
                  <a:pt x="740707" y="78918"/>
                </a:lnTo>
                <a:lnTo>
                  <a:pt x="719810" y="62963"/>
                </a:lnTo>
                <a:lnTo>
                  <a:pt x="695094" y="47698"/>
                </a:lnTo>
                <a:lnTo>
                  <a:pt x="666419" y="34188"/>
                </a:lnTo>
                <a:lnTo>
                  <a:pt x="637475" y="19679"/>
                </a:lnTo>
                <a:lnTo>
                  <a:pt x="606544" y="8945"/>
                </a:lnTo>
                <a:lnTo>
                  <a:pt x="573924" y="2286"/>
                </a:lnTo>
                <a:lnTo>
                  <a:pt x="539915" y="0"/>
                </a:lnTo>
                <a:close/>
              </a:path>
              <a:path w="1199514" h="753110">
                <a:moveTo>
                  <a:pt x="860996" y="65582"/>
                </a:moveTo>
                <a:lnTo>
                  <a:pt x="833179" y="67520"/>
                </a:lnTo>
                <a:lnTo>
                  <a:pt x="806554" y="73159"/>
                </a:lnTo>
                <a:lnTo>
                  <a:pt x="781382" y="82240"/>
                </a:lnTo>
                <a:lnTo>
                  <a:pt x="757923" y="94500"/>
                </a:lnTo>
                <a:lnTo>
                  <a:pt x="961886" y="94500"/>
                </a:lnTo>
                <a:lnTo>
                  <a:pt x="948046" y="85701"/>
                </a:lnTo>
                <a:lnTo>
                  <a:pt x="906383" y="70810"/>
                </a:lnTo>
                <a:lnTo>
                  <a:pt x="860996" y="65582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90906" y="5276088"/>
            <a:ext cx="587375" cy="368935"/>
          </a:xfrm>
          <a:custGeom>
            <a:avLst/>
            <a:gdLst/>
            <a:ahLst/>
            <a:cxnLst/>
            <a:rect l="l" t="t" r="r" b="b"/>
            <a:pathLst>
              <a:path w="587375" h="368935">
                <a:moveTo>
                  <a:pt x="129247" y="122897"/>
                </a:moveTo>
                <a:lnTo>
                  <a:pt x="122897" y="122897"/>
                </a:lnTo>
                <a:lnTo>
                  <a:pt x="75057" y="132554"/>
                </a:lnTo>
                <a:lnTo>
                  <a:pt x="35993" y="158889"/>
                </a:lnTo>
                <a:lnTo>
                  <a:pt x="9656" y="197950"/>
                </a:lnTo>
                <a:lnTo>
                  <a:pt x="0" y="245783"/>
                </a:lnTo>
                <a:lnTo>
                  <a:pt x="9656" y="293623"/>
                </a:lnTo>
                <a:lnTo>
                  <a:pt x="35993" y="332687"/>
                </a:lnTo>
                <a:lnTo>
                  <a:pt x="75057" y="359024"/>
                </a:lnTo>
                <a:lnTo>
                  <a:pt x="122897" y="368681"/>
                </a:lnTo>
                <a:lnTo>
                  <a:pt x="484060" y="368084"/>
                </a:lnTo>
                <a:lnTo>
                  <a:pt x="545487" y="360615"/>
                </a:lnTo>
                <a:lnTo>
                  <a:pt x="576662" y="346241"/>
                </a:lnTo>
                <a:lnTo>
                  <a:pt x="587216" y="314268"/>
                </a:lnTo>
                <a:lnTo>
                  <a:pt x="586778" y="254000"/>
                </a:lnTo>
                <a:lnTo>
                  <a:pt x="583563" y="231734"/>
                </a:lnTo>
                <a:lnTo>
                  <a:pt x="572322" y="204704"/>
                </a:lnTo>
                <a:lnTo>
                  <a:pt x="550655" y="176579"/>
                </a:lnTo>
                <a:lnTo>
                  <a:pt x="516166" y="151028"/>
                </a:lnTo>
                <a:lnTo>
                  <a:pt x="517804" y="143967"/>
                </a:lnTo>
                <a:lnTo>
                  <a:pt x="518667" y="136626"/>
                </a:lnTo>
                <a:lnTo>
                  <a:pt x="518667" y="129070"/>
                </a:lnTo>
                <a:lnTo>
                  <a:pt x="517706" y="124307"/>
                </a:lnTo>
                <a:lnTo>
                  <a:pt x="141566" y="124307"/>
                </a:lnTo>
                <a:lnTo>
                  <a:pt x="135483" y="123380"/>
                </a:lnTo>
                <a:lnTo>
                  <a:pt x="129247" y="122897"/>
                </a:lnTo>
                <a:close/>
              </a:path>
              <a:path w="587375" h="368935">
                <a:moveTo>
                  <a:pt x="264452" y="0"/>
                </a:moveTo>
                <a:lnTo>
                  <a:pt x="216611" y="9656"/>
                </a:lnTo>
                <a:lnTo>
                  <a:pt x="177547" y="35993"/>
                </a:lnTo>
                <a:lnTo>
                  <a:pt x="151211" y="75057"/>
                </a:lnTo>
                <a:lnTo>
                  <a:pt x="141554" y="122897"/>
                </a:lnTo>
                <a:lnTo>
                  <a:pt x="141566" y="124307"/>
                </a:lnTo>
                <a:lnTo>
                  <a:pt x="517706" y="124307"/>
                </a:lnTo>
                <a:lnTo>
                  <a:pt x="511048" y="91332"/>
                </a:lnTo>
                <a:lnTo>
                  <a:pt x="490270" y="60515"/>
                </a:lnTo>
                <a:lnTo>
                  <a:pt x="469174" y="46291"/>
                </a:lnTo>
                <a:lnTo>
                  <a:pt x="371233" y="46291"/>
                </a:lnTo>
                <a:lnTo>
                  <a:pt x="362794" y="38655"/>
                </a:lnTo>
                <a:lnTo>
                  <a:pt x="352558" y="30840"/>
                </a:lnTo>
                <a:lnTo>
                  <a:pt x="340454" y="23365"/>
                </a:lnTo>
                <a:lnTo>
                  <a:pt x="326415" y="16751"/>
                </a:lnTo>
                <a:lnTo>
                  <a:pt x="312233" y="9644"/>
                </a:lnTo>
                <a:lnTo>
                  <a:pt x="297081" y="4384"/>
                </a:lnTo>
                <a:lnTo>
                  <a:pt x="281106" y="1120"/>
                </a:lnTo>
                <a:lnTo>
                  <a:pt x="264452" y="0"/>
                </a:lnTo>
                <a:close/>
              </a:path>
              <a:path w="587375" h="368935">
                <a:moveTo>
                  <a:pt x="421716" y="32118"/>
                </a:moveTo>
                <a:lnTo>
                  <a:pt x="408088" y="33068"/>
                </a:lnTo>
                <a:lnTo>
                  <a:pt x="395046" y="35833"/>
                </a:lnTo>
                <a:lnTo>
                  <a:pt x="382718" y="40283"/>
                </a:lnTo>
                <a:lnTo>
                  <a:pt x="371233" y="46291"/>
                </a:lnTo>
                <a:lnTo>
                  <a:pt x="469174" y="46291"/>
                </a:lnTo>
                <a:lnTo>
                  <a:pt x="459453" y="39737"/>
                </a:lnTo>
                <a:lnTo>
                  <a:pt x="421716" y="32118"/>
                </a:lnTo>
                <a:close/>
              </a:path>
            </a:pathLst>
          </a:custGeom>
          <a:solidFill>
            <a:srgbClr val="79C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82549" y="5375643"/>
            <a:ext cx="203835" cy="203835"/>
          </a:xfrm>
          <a:custGeom>
            <a:avLst/>
            <a:gdLst/>
            <a:ahLst/>
            <a:cxnLst/>
            <a:rect l="l" t="t" r="r" b="b"/>
            <a:pathLst>
              <a:path w="203834" h="203835">
                <a:moveTo>
                  <a:pt x="2514" y="79362"/>
                </a:moveTo>
                <a:lnTo>
                  <a:pt x="965" y="86258"/>
                </a:lnTo>
                <a:lnTo>
                  <a:pt x="76" y="93395"/>
                </a:lnTo>
                <a:lnTo>
                  <a:pt x="0" y="100761"/>
                </a:lnTo>
                <a:lnTo>
                  <a:pt x="7603" y="140465"/>
                </a:lnTo>
                <a:lnTo>
                  <a:pt x="29094" y="173037"/>
                </a:lnTo>
                <a:lnTo>
                  <a:pt x="61230" y="195170"/>
                </a:lnTo>
                <a:lnTo>
                  <a:pt x="100774" y="203555"/>
                </a:lnTo>
                <a:lnTo>
                  <a:pt x="140471" y="195951"/>
                </a:lnTo>
                <a:lnTo>
                  <a:pt x="173040" y="174461"/>
                </a:lnTo>
                <a:lnTo>
                  <a:pt x="177704" y="167690"/>
                </a:lnTo>
                <a:lnTo>
                  <a:pt x="101130" y="167690"/>
                </a:lnTo>
                <a:lnTo>
                  <a:pt x="75761" y="162306"/>
                </a:lnTo>
                <a:lnTo>
                  <a:pt x="55143" y="148102"/>
                </a:lnTo>
                <a:lnTo>
                  <a:pt x="41354" y="127205"/>
                </a:lnTo>
                <a:lnTo>
                  <a:pt x="36474" y="101739"/>
                </a:lnTo>
                <a:lnTo>
                  <a:pt x="36499" y="98590"/>
                </a:lnTo>
                <a:lnTo>
                  <a:pt x="36842" y="95529"/>
                </a:lnTo>
                <a:lnTo>
                  <a:pt x="37299" y="92506"/>
                </a:lnTo>
                <a:lnTo>
                  <a:pt x="2514" y="79362"/>
                </a:lnTo>
                <a:close/>
              </a:path>
              <a:path w="203834" h="203835">
                <a:moveTo>
                  <a:pt x="179020" y="37058"/>
                </a:moveTo>
                <a:lnTo>
                  <a:pt x="99352" y="37058"/>
                </a:lnTo>
                <a:lnTo>
                  <a:pt x="102425" y="37096"/>
                </a:lnTo>
                <a:lnTo>
                  <a:pt x="127794" y="42479"/>
                </a:lnTo>
                <a:lnTo>
                  <a:pt x="148412" y="56680"/>
                </a:lnTo>
                <a:lnTo>
                  <a:pt x="162200" y="77576"/>
                </a:lnTo>
                <a:lnTo>
                  <a:pt x="167081" y="103047"/>
                </a:lnTo>
                <a:lnTo>
                  <a:pt x="161698" y="128410"/>
                </a:lnTo>
                <a:lnTo>
                  <a:pt x="147497" y="149028"/>
                </a:lnTo>
                <a:lnTo>
                  <a:pt x="126601" y="162815"/>
                </a:lnTo>
                <a:lnTo>
                  <a:pt x="101130" y="167690"/>
                </a:lnTo>
                <a:lnTo>
                  <a:pt x="177704" y="167690"/>
                </a:lnTo>
                <a:lnTo>
                  <a:pt x="195175" y="142324"/>
                </a:lnTo>
                <a:lnTo>
                  <a:pt x="203568" y="102781"/>
                </a:lnTo>
                <a:lnTo>
                  <a:pt x="199351" y="72677"/>
                </a:lnTo>
                <a:lnTo>
                  <a:pt x="186967" y="46064"/>
                </a:lnTo>
                <a:lnTo>
                  <a:pt x="179020" y="37058"/>
                </a:lnTo>
                <a:close/>
              </a:path>
              <a:path w="203834" h="203835">
                <a:moveTo>
                  <a:pt x="31140" y="3149"/>
                </a:moveTo>
                <a:lnTo>
                  <a:pt x="29108" y="3568"/>
                </a:lnTo>
                <a:lnTo>
                  <a:pt x="28333" y="4368"/>
                </a:lnTo>
                <a:lnTo>
                  <a:pt x="27523" y="8750"/>
                </a:lnTo>
                <a:lnTo>
                  <a:pt x="17462" y="64300"/>
                </a:lnTo>
                <a:lnTo>
                  <a:pt x="17691" y="65074"/>
                </a:lnTo>
                <a:lnTo>
                  <a:pt x="18681" y="66217"/>
                </a:lnTo>
                <a:lnTo>
                  <a:pt x="19380" y="66535"/>
                </a:lnTo>
                <a:lnTo>
                  <a:pt x="20256" y="66535"/>
                </a:lnTo>
                <a:lnTo>
                  <a:pt x="78739" y="63423"/>
                </a:lnTo>
                <a:lnTo>
                  <a:pt x="79616" y="62776"/>
                </a:lnTo>
                <a:lnTo>
                  <a:pt x="80327" y="60845"/>
                </a:lnTo>
                <a:lnTo>
                  <a:pt x="80073" y="59766"/>
                </a:lnTo>
                <a:lnTo>
                  <a:pt x="66763" y="47231"/>
                </a:lnTo>
                <a:lnTo>
                  <a:pt x="72871" y="43723"/>
                </a:lnTo>
                <a:lnTo>
                  <a:pt x="79370" y="40887"/>
                </a:lnTo>
                <a:lnTo>
                  <a:pt x="86214" y="38765"/>
                </a:lnTo>
                <a:lnTo>
                  <a:pt x="93357" y="37401"/>
                </a:lnTo>
                <a:lnTo>
                  <a:pt x="95651" y="37401"/>
                </a:lnTo>
                <a:lnTo>
                  <a:pt x="96342" y="37312"/>
                </a:lnTo>
                <a:lnTo>
                  <a:pt x="99352" y="37058"/>
                </a:lnTo>
                <a:lnTo>
                  <a:pt x="179020" y="37058"/>
                </a:lnTo>
                <a:lnTo>
                  <a:pt x="167762" y="24301"/>
                </a:lnTo>
                <a:lnTo>
                  <a:pt x="159486" y="19088"/>
                </a:lnTo>
                <a:lnTo>
                  <a:pt x="42710" y="19088"/>
                </a:lnTo>
                <a:lnTo>
                  <a:pt x="32169" y="3556"/>
                </a:lnTo>
                <a:lnTo>
                  <a:pt x="31140" y="3149"/>
                </a:lnTo>
                <a:close/>
              </a:path>
              <a:path w="203834" h="203835">
                <a:moveTo>
                  <a:pt x="95651" y="37401"/>
                </a:moveTo>
                <a:lnTo>
                  <a:pt x="93357" y="37401"/>
                </a:lnTo>
                <a:lnTo>
                  <a:pt x="93383" y="37693"/>
                </a:lnTo>
                <a:lnTo>
                  <a:pt x="95651" y="37401"/>
                </a:lnTo>
                <a:close/>
              </a:path>
              <a:path w="203834" h="203835">
                <a:moveTo>
                  <a:pt x="102984" y="0"/>
                </a:moveTo>
                <a:lnTo>
                  <a:pt x="65290" y="6870"/>
                </a:lnTo>
                <a:lnTo>
                  <a:pt x="42710" y="19088"/>
                </a:lnTo>
                <a:lnTo>
                  <a:pt x="159486" y="19088"/>
                </a:lnTo>
                <a:lnTo>
                  <a:pt x="143078" y="8750"/>
                </a:lnTo>
                <a:lnTo>
                  <a:pt x="142849" y="8547"/>
                </a:lnTo>
                <a:lnTo>
                  <a:pt x="133350" y="4938"/>
                </a:lnTo>
                <a:lnTo>
                  <a:pt x="123575" y="2300"/>
                </a:lnTo>
                <a:lnTo>
                  <a:pt x="113436" y="636"/>
                </a:lnTo>
                <a:lnTo>
                  <a:pt x="102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3364" y="4796370"/>
            <a:ext cx="587375" cy="368935"/>
          </a:xfrm>
          <a:custGeom>
            <a:avLst/>
            <a:gdLst/>
            <a:ahLst/>
            <a:cxnLst/>
            <a:rect l="l" t="t" r="r" b="b"/>
            <a:pathLst>
              <a:path w="587375" h="368935">
                <a:moveTo>
                  <a:pt x="129247" y="122897"/>
                </a:moveTo>
                <a:lnTo>
                  <a:pt x="122897" y="122897"/>
                </a:lnTo>
                <a:lnTo>
                  <a:pt x="75057" y="132554"/>
                </a:lnTo>
                <a:lnTo>
                  <a:pt x="35993" y="158889"/>
                </a:lnTo>
                <a:lnTo>
                  <a:pt x="9656" y="197950"/>
                </a:lnTo>
                <a:lnTo>
                  <a:pt x="0" y="245783"/>
                </a:lnTo>
                <a:lnTo>
                  <a:pt x="9656" y="293623"/>
                </a:lnTo>
                <a:lnTo>
                  <a:pt x="35993" y="332687"/>
                </a:lnTo>
                <a:lnTo>
                  <a:pt x="75057" y="359024"/>
                </a:lnTo>
                <a:lnTo>
                  <a:pt x="122897" y="368681"/>
                </a:lnTo>
                <a:lnTo>
                  <a:pt x="484060" y="368084"/>
                </a:lnTo>
                <a:lnTo>
                  <a:pt x="545487" y="360615"/>
                </a:lnTo>
                <a:lnTo>
                  <a:pt x="576662" y="346241"/>
                </a:lnTo>
                <a:lnTo>
                  <a:pt x="587216" y="314268"/>
                </a:lnTo>
                <a:lnTo>
                  <a:pt x="586778" y="254000"/>
                </a:lnTo>
                <a:lnTo>
                  <a:pt x="583563" y="231734"/>
                </a:lnTo>
                <a:lnTo>
                  <a:pt x="572322" y="204704"/>
                </a:lnTo>
                <a:lnTo>
                  <a:pt x="550655" y="176579"/>
                </a:lnTo>
                <a:lnTo>
                  <a:pt x="516166" y="151028"/>
                </a:lnTo>
                <a:lnTo>
                  <a:pt x="517804" y="143967"/>
                </a:lnTo>
                <a:lnTo>
                  <a:pt x="518668" y="136626"/>
                </a:lnTo>
                <a:lnTo>
                  <a:pt x="518668" y="129070"/>
                </a:lnTo>
                <a:lnTo>
                  <a:pt x="517706" y="124307"/>
                </a:lnTo>
                <a:lnTo>
                  <a:pt x="141566" y="124307"/>
                </a:lnTo>
                <a:lnTo>
                  <a:pt x="135483" y="123380"/>
                </a:lnTo>
                <a:lnTo>
                  <a:pt x="129247" y="122897"/>
                </a:lnTo>
                <a:close/>
              </a:path>
              <a:path w="587375" h="368935">
                <a:moveTo>
                  <a:pt x="264452" y="0"/>
                </a:moveTo>
                <a:lnTo>
                  <a:pt x="216611" y="9656"/>
                </a:lnTo>
                <a:lnTo>
                  <a:pt x="177547" y="35993"/>
                </a:lnTo>
                <a:lnTo>
                  <a:pt x="151211" y="75057"/>
                </a:lnTo>
                <a:lnTo>
                  <a:pt x="141554" y="122897"/>
                </a:lnTo>
                <a:lnTo>
                  <a:pt x="141566" y="124307"/>
                </a:lnTo>
                <a:lnTo>
                  <a:pt x="517706" y="124307"/>
                </a:lnTo>
                <a:lnTo>
                  <a:pt x="511048" y="91332"/>
                </a:lnTo>
                <a:lnTo>
                  <a:pt x="490270" y="60515"/>
                </a:lnTo>
                <a:lnTo>
                  <a:pt x="469174" y="46291"/>
                </a:lnTo>
                <a:lnTo>
                  <a:pt x="371233" y="46291"/>
                </a:lnTo>
                <a:lnTo>
                  <a:pt x="362794" y="38655"/>
                </a:lnTo>
                <a:lnTo>
                  <a:pt x="352558" y="30840"/>
                </a:lnTo>
                <a:lnTo>
                  <a:pt x="340454" y="23365"/>
                </a:lnTo>
                <a:lnTo>
                  <a:pt x="326415" y="16751"/>
                </a:lnTo>
                <a:lnTo>
                  <a:pt x="312233" y="9644"/>
                </a:lnTo>
                <a:lnTo>
                  <a:pt x="297081" y="4384"/>
                </a:lnTo>
                <a:lnTo>
                  <a:pt x="281106" y="1120"/>
                </a:lnTo>
                <a:lnTo>
                  <a:pt x="264452" y="0"/>
                </a:lnTo>
                <a:close/>
              </a:path>
              <a:path w="587375" h="368935">
                <a:moveTo>
                  <a:pt x="421716" y="32118"/>
                </a:moveTo>
                <a:lnTo>
                  <a:pt x="408088" y="33068"/>
                </a:lnTo>
                <a:lnTo>
                  <a:pt x="395046" y="35833"/>
                </a:lnTo>
                <a:lnTo>
                  <a:pt x="382718" y="40283"/>
                </a:lnTo>
                <a:lnTo>
                  <a:pt x="371233" y="46291"/>
                </a:lnTo>
                <a:lnTo>
                  <a:pt x="469174" y="46291"/>
                </a:lnTo>
                <a:lnTo>
                  <a:pt x="459453" y="39737"/>
                </a:lnTo>
                <a:lnTo>
                  <a:pt x="421716" y="32118"/>
                </a:lnTo>
                <a:close/>
              </a:path>
            </a:pathLst>
          </a:custGeom>
          <a:solidFill>
            <a:srgbClr val="79C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1855" y="2040420"/>
            <a:ext cx="4210050" cy="2042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60070">
              <a:lnSpc>
                <a:spcPct val="100000"/>
              </a:lnSpc>
            </a:pPr>
            <a:r>
              <a:rPr dirty="0" sz="4000" spc="-80">
                <a:solidFill>
                  <a:srgbClr val="F5F4F4"/>
                </a:solidFill>
                <a:latin typeface="Arial"/>
                <a:cs typeface="Arial"/>
              </a:rPr>
              <a:t>Why </a:t>
            </a:r>
            <a:r>
              <a:rPr dirty="0" sz="4000" spc="-180">
                <a:solidFill>
                  <a:srgbClr val="F5F4F4"/>
                </a:solidFill>
                <a:latin typeface="Arial"/>
                <a:cs typeface="Arial"/>
              </a:rPr>
              <a:t>DBaaS </a:t>
            </a:r>
            <a:r>
              <a:rPr dirty="0" sz="4000" spc="25">
                <a:solidFill>
                  <a:srgbClr val="F5F4F4"/>
                </a:solidFill>
                <a:latin typeface="Arial"/>
                <a:cs typeface="Arial"/>
              </a:rPr>
              <a:t>is</a:t>
            </a:r>
            <a:r>
              <a:rPr dirty="0" sz="4000" spc="-23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4000" spc="5">
                <a:solidFill>
                  <a:srgbClr val="F5F4F4"/>
                </a:solidFill>
                <a:latin typeface="Arial"/>
                <a:cs typeface="Arial"/>
              </a:rPr>
              <a:t>in  </a:t>
            </a:r>
            <a:r>
              <a:rPr dirty="0" sz="4000" spc="-55">
                <a:solidFill>
                  <a:srgbClr val="F5F4F4"/>
                </a:solidFill>
                <a:latin typeface="Arial"/>
                <a:cs typeface="Arial"/>
              </a:rPr>
              <a:t>Demand</a:t>
            </a:r>
            <a:endParaRPr sz="4000">
              <a:latin typeface="Arial"/>
              <a:cs typeface="Arial"/>
            </a:endParaRPr>
          </a:p>
          <a:p>
            <a:pPr marL="12700" marR="5080">
              <a:lnSpc>
                <a:spcPts val="2640"/>
              </a:lnSpc>
              <a:spcBef>
                <a:spcPts val="1200"/>
              </a:spcBef>
            </a:pP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Demand New </a:t>
            </a:r>
            <a:r>
              <a:rPr dirty="0" sz="2200" spc="20" i="1">
                <a:solidFill>
                  <a:srgbClr val="F5F4F4"/>
                </a:solidFill>
                <a:latin typeface="Calibri"/>
                <a:cs typeface="Calibri"/>
              </a:rPr>
              <a:t>Enterprise</a:t>
            </a:r>
            <a:r>
              <a:rPr dirty="0" sz="2200" spc="-6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50" spc="15" i="1">
                <a:solidFill>
                  <a:srgbClr val="F5F4F4"/>
                </a:solidFill>
                <a:latin typeface="Lucida Sans"/>
                <a:cs typeface="Lucida Sans"/>
              </a:rPr>
              <a:t>W</a:t>
            </a: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arehouse 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Address: </a:t>
            </a:r>
            <a:r>
              <a:rPr dirty="0" sz="2200" spc="-150" i="1">
                <a:solidFill>
                  <a:srgbClr val="F5F4F4"/>
                </a:solidFill>
                <a:latin typeface="Trebuchet MS"/>
                <a:cs typeface="Trebuchet MS"/>
              </a:rPr>
              <a:t>‘The</a:t>
            </a:r>
            <a:r>
              <a:rPr dirty="0" sz="2200" spc="-229" i="1">
                <a:solidFill>
                  <a:srgbClr val="F5F4F4"/>
                </a:solidFill>
                <a:latin typeface="Trebuchet MS"/>
                <a:cs typeface="Trebuchet MS"/>
              </a:rPr>
              <a:t> </a:t>
            </a:r>
            <a:r>
              <a:rPr dirty="0" sz="2200" spc="-114" i="1">
                <a:solidFill>
                  <a:srgbClr val="F5F4F4"/>
                </a:solidFill>
                <a:latin typeface="Trebuchet MS"/>
                <a:cs typeface="Trebuchet MS"/>
              </a:rPr>
              <a:t>Cloud’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1855" y="4604626"/>
            <a:ext cx="2510790" cy="1905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66040">
              <a:lnSpc>
                <a:spcPct val="1000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(DBaaS)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joins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ranks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IaaS,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SaaS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PaaS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list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favourite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services.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Why?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Because,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‘IT’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way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solves  challenges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inherent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traditional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on-premise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38100" marR="5080">
              <a:lnSpc>
                <a:spcPct val="100000"/>
              </a:lnSpc>
            </a:pP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Learn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how 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DBaaS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does</a:t>
            </a:r>
            <a:r>
              <a:rPr dirty="0" sz="1500" spc="-20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202020"/>
                </a:solidFill>
                <a:latin typeface="Arial"/>
                <a:cs typeface="Arial"/>
              </a:rPr>
              <a:t>data-  base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management</a:t>
            </a:r>
            <a:r>
              <a:rPr dirty="0" sz="1500" spc="-14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better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300" y="6855893"/>
            <a:ext cx="261366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reduces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sprawl.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You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probably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spread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across  many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collections, 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operating in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silos,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working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legacy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warehousing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DBaaS,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move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silos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single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powerful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cloud.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300" y="8379894"/>
            <a:ext cx="242443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rapid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provisioning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auto-scaling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size.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8066" y="6754647"/>
            <a:ext cx="1853564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8425" indent="-85725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enhances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security.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8066" y="7120346"/>
            <a:ext cx="242697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Centralised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made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possible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by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automation</a:t>
            </a:r>
            <a:r>
              <a:rPr dirty="0" sz="1200" spc="10">
                <a:solidFill>
                  <a:srgbClr val="231F20"/>
                </a:solidFill>
                <a:latin typeface="Franklin Gothic Medium Cond"/>
                <a:cs typeface="Franklin Gothic Medium Cond"/>
              </a:rPr>
              <a:t>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Databases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are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undoubtedly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future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systems.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6746" y="8274573"/>
            <a:ext cx="257619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Let’s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model: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52308"/>
            <a:ext cx="2620010" cy="1224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9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Database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runs 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can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purchase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provider.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2877355"/>
            <a:ext cx="2571750" cy="1724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95580">
              <a:lnSpc>
                <a:spcPct val="104800"/>
              </a:lnSpc>
            </a:pP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Database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as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</a:t>
            </a:r>
            <a:r>
              <a:rPr dirty="0" sz="1850" spc="-24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Service  </a:t>
            </a:r>
            <a:r>
              <a:rPr dirty="0" sz="1850" spc="-35">
                <a:solidFill>
                  <a:srgbClr val="2C99CF"/>
                </a:solidFill>
                <a:latin typeface="Arial"/>
                <a:cs typeface="Arial"/>
              </a:rPr>
              <a:t>(DBaaS)</a:t>
            </a:r>
            <a:r>
              <a:rPr dirty="0" sz="1850" spc="-1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model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model,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responsibility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installing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main-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taining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client’s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and,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applica-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tion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owners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pay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according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usage.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4802014"/>
            <a:ext cx="2572385" cy="2105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99390">
              <a:lnSpc>
                <a:spcPct val="1048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Architecture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</a:t>
            </a:r>
            <a:r>
              <a:rPr dirty="0" sz="1850" spc="-204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50">
                <a:solidFill>
                  <a:srgbClr val="2C99CF"/>
                </a:solidFill>
                <a:latin typeface="Arial"/>
                <a:cs typeface="Arial"/>
              </a:rPr>
              <a:t>DBaaS 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Service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10"/>
              </a:spcBef>
            </a:pP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lets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user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launch,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conﬁgure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track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web-based  console.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communicates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instance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API,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perform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maintenance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scaling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operations.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7083376"/>
            <a:ext cx="242760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vests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responsibility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ensuring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scalability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availability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provider.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8051177"/>
            <a:ext cx="2470785" cy="699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500" spc="-30">
                <a:solidFill>
                  <a:srgbClr val="202020"/>
                </a:solidFill>
                <a:latin typeface="Arial"/>
                <a:cs typeface="Arial"/>
              </a:rPr>
              <a:t>Why </a:t>
            </a:r>
            <a:r>
              <a:rPr dirty="0" sz="1500" spc="25">
                <a:solidFill>
                  <a:srgbClr val="202020"/>
                </a:solidFill>
                <a:latin typeface="Arial"/>
                <a:cs typeface="Arial"/>
              </a:rPr>
              <a:t>should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enterprises</a:t>
            </a:r>
            <a:r>
              <a:rPr dirty="0" sz="1500" spc="-18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202020"/>
                </a:solidFill>
                <a:latin typeface="Arial"/>
                <a:cs typeface="Arial"/>
              </a:rPr>
              <a:t>shift  to </a:t>
            </a:r>
            <a:r>
              <a:rPr dirty="0" sz="1500" spc="-45">
                <a:solidFill>
                  <a:srgbClr val="202020"/>
                </a:solidFill>
                <a:latin typeface="Arial"/>
                <a:cs typeface="Arial"/>
              </a:rPr>
              <a:t>DBaaS </a:t>
            </a:r>
            <a:r>
              <a:rPr dirty="0" sz="1500" spc="40">
                <a:solidFill>
                  <a:srgbClr val="202020"/>
                </a:solidFill>
                <a:latin typeface="Arial"/>
                <a:cs typeface="Arial"/>
              </a:rPr>
              <a:t>from </a:t>
            </a:r>
            <a:r>
              <a:rPr dirty="0" sz="1500">
                <a:solidFill>
                  <a:srgbClr val="202020"/>
                </a:solidFill>
                <a:latin typeface="Arial"/>
                <a:cs typeface="Arial"/>
              </a:rPr>
              <a:t>on-premise 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legacy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systems?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050" y="1417891"/>
            <a:ext cx="112141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Because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DBaaS: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37" y="1813800"/>
            <a:ext cx="242316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1.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scalable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on-demand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7037" y="2164321"/>
            <a:ext cx="155321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2.</a:t>
            </a:r>
            <a:r>
              <a:rPr dirty="0" sz="1200" spc="-21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more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manageable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037" y="2514841"/>
            <a:ext cx="199898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3.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improved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7037" y="2857741"/>
            <a:ext cx="2561590" cy="379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4.</a:t>
            </a:r>
            <a:r>
              <a:rPr dirty="0" sz="1200" spc="-55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monitoring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capabilities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track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performance,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issue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alerts on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threats.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7037" y="3421621"/>
            <a:ext cx="225044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5.</a:t>
            </a:r>
            <a:r>
              <a:rPr dirty="0" sz="1200" spc="-229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simple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analytics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7000" y="3764521"/>
            <a:ext cx="2486660" cy="1732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dirty="0" sz="1200" spc="40">
                <a:solidFill>
                  <a:srgbClr val="231F20"/>
                </a:solidFill>
                <a:latin typeface="Gill Sans MT"/>
                <a:cs typeface="Gill Sans MT"/>
              </a:rPr>
              <a:t>6.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Price-to-performance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ratio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legacy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12700" marR="152400">
              <a:lnSpc>
                <a:spcPct val="104800"/>
              </a:lnSpc>
              <a:spcBef>
                <a:spcPts val="130"/>
              </a:spcBef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What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is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"managed"</a:t>
            </a:r>
            <a:r>
              <a:rPr dirty="0" sz="1850" spc="-29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by 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the</a:t>
            </a:r>
            <a:r>
              <a:rPr dirty="0" sz="1850" spc="-10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Provider?</a:t>
            </a:r>
            <a:endParaRPr sz="1850">
              <a:latin typeface="Arial"/>
              <a:cs typeface="Arial"/>
            </a:endParaRPr>
          </a:p>
          <a:p>
            <a:pPr marL="12700" marR="66675">
              <a:lnSpc>
                <a:spcPct val="104200"/>
              </a:lnSpc>
              <a:spcBef>
                <a:spcPts val="1370"/>
              </a:spcBef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sign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database,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does: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7000" y="5681459"/>
            <a:ext cx="161607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Patches and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Updates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000" y="6062459"/>
            <a:ext cx="142049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Manages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Backups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000" y="6443459"/>
            <a:ext cx="164528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3.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Conﬁgures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000" y="6816778"/>
            <a:ext cx="238696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Provides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automatic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failover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event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zone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outage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7000" y="7388278"/>
            <a:ext cx="2633345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62585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5.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Ensures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security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auto-updating security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encryption.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Additionally,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get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achieve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level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customization.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can conﬁg-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ure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availability,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replication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backups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suit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particular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need.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example,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 can skip  replications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automatic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failover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24592" y="9469677"/>
            <a:ext cx="262826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0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5">
                <a:solidFill>
                  <a:srgbClr val="5D5E5E"/>
                </a:solidFill>
                <a:latin typeface="Arial"/>
                <a:cs typeface="Arial"/>
              </a:rPr>
              <a:t>30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064" y="1463106"/>
            <a:ext cx="252158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while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keeping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production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instances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fully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protected.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064" y="2051296"/>
            <a:ext cx="2477135" cy="9696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databases </a:t>
            </a:r>
            <a:r>
              <a:rPr dirty="0" sz="1850" spc="-20">
                <a:solidFill>
                  <a:srgbClr val="2C99CF"/>
                </a:solidFill>
                <a:latin typeface="Arial"/>
                <a:cs typeface="Arial"/>
              </a:rPr>
              <a:t>are</a:t>
            </a:r>
            <a:r>
              <a:rPr dirty="0" sz="1850" spc="-2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2C99CF"/>
                </a:solidFill>
                <a:latin typeface="Arial"/>
                <a:cs typeface="Arial"/>
              </a:rPr>
              <a:t>of 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two</a:t>
            </a:r>
            <a:r>
              <a:rPr dirty="0" sz="1850" spc="-1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types: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Relational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(SQL)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064" y="3204959"/>
            <a:ext cx="245999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Non-relational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(NoSQL)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064" y="3594968"/>
            <a:ext cx="2553335" cy="2026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169545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Amazon </a:t>
            </a:r>
            <a:r>
              <a:rPr dirty="0" sz="1850" spc="-75">
                <a:solidFill>
                  <a:srgbClr val="2C99CF"/>
                </a:solidFill>
                <a:latin typeface="Arial"/>
                <a:cs typeface="Arial"/>
              </a:rPr>
              <a:t>&amp; 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Google </a:t>
            </a:r>
            <a:r>
              <a:rPr dirty="0" sz="1850" spc="40">
                <a:solidFill>
                  <a:srgbClr val="2C99CF"/>
                </a:solidFill>
                <a:latin typeface="Arial"/>
                <a:cs typeface="Arial"/>
              </a:rPr>
              <a:t>cloud</a:t>
            </a:r>
            <a:r>
              <a:rPr dirty="0" sz="185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platform  </a:t>
            </a:r>
            <a:r>
              <a:rPr dirty="0" sz="1850" spc="-50">
                <a:solidFill>
                  <a:srgbClr val="2C99CF"/>
                </a:solidFill>
                <a:latin typeface="Arial"/>
                <a:cs typeface="Arial"/>
              </a:rPr>
              <a:t>DBaaS</a:t>
            </a:r>
            <a:r>
              <a:rPr dirty="0" sz="1850" spc="-12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services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370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born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internal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data-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models.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Both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differentiat-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category: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64" y="5798530"/>
            <a:ext cx="262826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three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  lined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its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clients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064" y="6370030"/>
            <a:ext cx="257238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Relational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Database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 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(RDS)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064" y="6949211"/>
            <a:ext cx="1459865" cy="387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8425" indent="-85725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DynamoDB</a:t>
            </a:r>
            <a:endParaRPr sz="1200">
              <a:latin typeface="Arial"/>
              <a:cs typeface="Arial"/>
            </a:endParaRPr>
          </a:p>
          <a:p>
            <a:pPr marL="98425" indent="-85725">
              <a:lnSpc>
                <a:spcPct val="100000"/>
              </a:lnSpc>
              <a:spcBef>
                <a:spcPts val="60"/>
              </a:spcBef>
              <a:buChar char="•"/>
              <a:tabLst>
                <a:tab pos="9906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Simple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DB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064" y="7513030"/>
            <a:ext cx="242570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three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equivalent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064" y="8282711"/>
            <a:ext cx="2559050" cy="806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25">
                <a:solidFill>
                  <a:srgbClr val="202020"/>
                </a:solidFill>
                <a:latin typeface="Arial"/>
                <a:cs typeface="Arial"/>
              </a:rPr>
              <a:t>A.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Google Cloud</a:t>
            </a:r>
            <a:r>
              <a:rPr dirty="0" sz="1500" spc="-17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202020"/>
                </a:solidFill>
                <a:latin typeface="Arial"/>
                <a:cs typeface="Arial"/>
              </a:rPr>
              <a:t>SQL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An Easy-to-use,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fully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MySQL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RDS.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923" y="1463055"/>
            <a:ext cx="196723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SQL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flexible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three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important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fronts: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6923" y="2034555"/>
            <a:ext cx="224345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Flexible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scaling,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something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usually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associated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relational  databases.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6923" y="2796555"/>
            <a:ext cx="2536825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Flexible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connectivity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application, running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anywhere. Users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connect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(e.g.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Engine,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VMs, etc.,)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the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6923" y="4130055"/>
            <a:ext cx="260540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buChar char="•"/>
              <a:tabLst>
                <a:tab pos="99060" algn="l"/>
              </a:tabLst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Flexibility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termination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instances. This can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accomplished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console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provided 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98607" y="5087759"/>
            <a:ext cx="2513965" cy="654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715" indent="-635">
              <a:lnSpc>
                <a:spcPct val="100000"/>
              </a:lnSpc>
            </a:pP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Flexibility </a:t>
            </a:r>
            <a:r>
              <a:rPr dirty="0" sz="1400" spc="25" i="1">
                <a:solidFill>
                  <a:srgbClr val="2C99CF"/>
                </a:solidFill>
                <a:latin typeface="Calibri"/>
                <a:cs typeface="Calibri"/>
              </a:rPr>
              <a:t>helps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deliver </a:t>
            </a:r>
            <a:r>
              <a:rPr dirty="0" sz="1400" spc="45" i="1">
                <a:solidFill>
                  <a:srgbClr val="2C99CF"/>
                </a:solidFill>
                <a:latin typeface="Calibri"/>
                <a:cs typeface="Calibri"/>
              </a:rPr>
              <a:t>cost  </a:t>
            </a:r>
            <a:r>
              <a:rPr dirty="0" sz="1400" spc="35" i="1">
                <a:solidFill>
                  <a:srgbClr val="2C99CF"/>
                </a:solidFill>
                <a:latin typeface="Calibri"/>
                <a:cs typeface="Calibri"/>
              </a:rPr>
              <a:t>savings </a:t>
            </a: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by </a:t>
            </a: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keeping </a:t>
            </a:r>
            <a:r>
              <a:rPr dirty="0" sz="1400" spc="20" i="1">
                <a:solidFill>
                  <a:srgbClr val="2C99CF"/>
                </a:solidFill>
                <a:latin typeface="Calibri"/>
                <a:cs typeface="Calibri"/>
              </a:rPr>
              <a:t>databases</a:t>
            </a:r>
            <a:r>
              <a:rPr dirty="0" sz="1400" spc="-10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live 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only </a:t>
            </a: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when</a:t>
            </a:r>
            <a:r>
              <a:rPr dirty="0" sz="1400" spc="-7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needed.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000" y="5913198"/>
            <a:ext cx="2565400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strong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partner  ecosystem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help make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SQL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easier.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Itspartners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launched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streamline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loading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SQL,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besides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monitoring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visualisation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help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CloudSQL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implementation.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000" y="7437198"/>
            <a:ext cx="247713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RDS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similar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SQL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set.</a:t>
            </a:r>
            <a:endParaRPr sz="1200">
              <a:latin typeface="Arial"/>
              <a:cs typeface="Arial"/>
            </a:endParaRPr>
          </a:p>
          <a:p>
            <a:pPr marL="12700" marR="498475">
              <a:lnSpc>
                <a:spcPct val="104200"/>
              </a:lnSpc>
            </a:pP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Google,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however,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price-performance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ratio.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7000" y="8397379"/>
            <a:ext cx="2536825" cy="615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35">
                <a:solidFill>
                  <a:srgbClr val="202020"/>
                </a:solidFill>
                <a:latin typeface="Arial"/>
                <a:cs typeface="Arial"/>
              </a:rPr>
              <a:t>B.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Cloud</a:t>
            </a:r>
            <a:r>
              <a:rPr dirty="0" sz="1500" spc="-12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Datastore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Datastore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NoSQL</a:t>
            </a:r>
            <a:r>
              <a:rPr dirty="0" sz="1200" spc="-2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DBaaS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2943" y="1463106"/>
            <a:ext cx="256857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highly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Scalable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availability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reliability.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designed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easily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integrate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2943" y="2423286"/>
            <a:ext cx="2630805" cy="2901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80">
                <a:solidFill>
                  <a:srgbClr val="202020"/>
                </a:solidFill>
                <a:latin typeface="Arial"/>
                <a:cs typeface="Arial"/>
              </a:rPr>
              <a:t>C. </a:t>
            </a:r>
            <a:r>
              <a:rPr dirty="0" sz="1500" spc="-15">
                <a:solidFill>
                  <a:srgbClr val="202020"/>
                </a:solidFill>
                <a:latin typeface="Arial"/>
                <a:cs typeface="Arial"/>
              </a:rPr>
              <a:t>Google Cloud</a:t>
            </a:r>
            <a:r>
              <a:rPr dirty="0" sz="1500" spc="-11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00" spc="15">
                <a:solidFill>
                  <a:srgbClr val="202020"/>
                </a:solidFill>
                <a:latin typeface="Arial"/>
                <a:cs typeface="Arial"/>
              </a:rPr>
              <a:t>Bigtable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NoSQL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power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 services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search,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analytics,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maps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Gmail.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tried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tested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handling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analytical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operational work-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loads.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handle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big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workloads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latency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deliver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throughput.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BigTable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introduced  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2015. Amazon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equivalent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Dynamo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DB,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was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much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earlier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2012.</a:t>
            </a:r>
            <a:endParaRPr sz="1200">
              <a:latin typeface="Arial"/>
              <a:cs typeface="Arial"/>
            </a:endParaRPr>
          </a:p>
          <a:p>
            <a:pPr marL="12700" marR="326390">
              <a:lnSpc>
                <a:spcPts val="15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DynamoDB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second  managed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NoSQL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after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SimpleDB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(2007).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2943" y="5518396"/>
            <a:ext cx="2629535" cy="145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BigTable</a:t>
            </a:r>
            <a:r>
              <a:rPr dirty="0" sz="1850" spc="-13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2C99CF"/>
                </a:solidFill>
                <a:latin typeface="Arial"/>
                <a:cs typeface="Arial"/>
              </a:rPr>
              <a:t>and  </a:t>
            </a: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DynamoDB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when </a:t>
            </a:r>
            <a:r>
              <a:rPr dirty="0" sz="1850" spc="10">
                <a:solidFill>
                  <a:srgbClr val="2C99CF"/>
                </a:solidFill>
                <a:latin typeface="Arial"/>
                <a:cs typeface="Arial"/>
              </a:rPr>
              <a:t>used 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on-demand</a:t>
            </a:r>
            <a:endParaRPr sz="1850">
              <a:latin typeface="Arial"/>
              <a:cs typeface="Arial"/>
            </a:endParaRPr>
          </a:p>
          <a:p>
            <a:pPr marL="12700" marR="28575">
              <a:lnSpc>
                <a:spcPct val="104200"/>
              </a:lnSpc>
              <a:spcBef>
                <a:spcPts val="1370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Bigtable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cheaper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unlike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counterpart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2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6936" y="1463055"/>
            <a:ext cx="254381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same price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operation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irrespective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nature.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Amazon,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writes than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reads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consistent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reads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expen-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sive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eventually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consistent</a:t>
            </a:r>
            <a:r>
              <a:rPr dirty="0" sz="12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reads.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6936" y="2606055"/>
            <a:ext cx="2619375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doesn’t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differentiated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read-heavy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write-heavy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applications,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making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cheaper.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Additionally,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Bigtable  scales seamlessly 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well integrat-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Dataproc  and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BigQuery.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6987" y="4328286"/>
            <a:ext cx="2604135" cy="271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Pricing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Bigtable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two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param-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eters: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per node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stored.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DynamoDB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stored.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As usual,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offers  discounted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DynamoDB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Reserved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Capacity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(RC).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RC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requires an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upfront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payment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1-3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year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commitment.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yet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again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economical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thanks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sustained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discount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upfront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charges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long-term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signup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clauses.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1856" y="7633957"/>
            <a:ext cx="5551805" cy="1477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</a:pPr>
            <a:r>
              <a:rPr dirty="0" sz="16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1600" spc="60" i="1">
                <a:solidFill>
                  <a:srgbClr val="2C99CF"/>
                </a:solidFill>
                <a:latin typeface="Calibri"/>
                <a:cs typeface="Calibri"/>
              </a:rPr>
              <a:t>is </a:t>
            </a:r>
            <a:r>
              <a:rPr dirty="0" sz="1600" spc="25" i="1">
                <a:solidFill>
                  <a:srgbClr val="2C99CF"/>
                </a:solidFill>
                <a:latin typeface="Calibri"/>
                <a:cs typeface="Calibri"/>
              </a:rPr>
              <a:t>fast </a:t>
            </a:r>
            <a:r>
              <a:rPr dirty="0" sz="1600" spc="30" i="1">
                <a:solidFill>
                  <a:srgbClr val="2C99CF"/>
                </a:solidFill>
                <a:latin typeface="Calibri"/>
                <a:cs typeface="Calibri"/>
              </a:rPr>
              <a:t>closing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600" i="1">
                <a:solidFill>
                  <a:srgbClr val="2C99CF"/>
                </a:solidFill>
                <a:latin typeface="Calibri"/>
                <a:cs typeface="Calibri"/>
              </a:rPr>
              <a:t>gap </a:t>
            </a:r>
            <a:r>
              <a:rPr dirty="0" sz="1600" spc="-15" i="1">
                <a:solidFill>
                  <a:srgbClr val="2C99CF"/>
                </a:solidFill>
                <a:latin typeface="Calibri"/>
                <a:cs typeface="Calibri"/>
              </a:rPr>
              <a:t>with rival </a:t>
            </a:r>
            <a:r>
              <a:rPr dirty="0" sz="1600" spc="25" i="1">
                <a:solidFill>
                  <a:srgbClr val="2C99CF"/>
                </a:solidFill>
                <a:latin typeface="Calibri"/>
                <a:cs typeface="Calibri"/>
              </a:rPr>
              <a:t>Amazon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in the </a:t>
            </a:r>
            <a:r>
              <a:rPr dirty="0" sz="1600" spc="2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1600" spc="30" i="1">
                <a:solidFill>
                  <a:srgbClr val="2C99CF"/>
                </a:solidFill>
                <a:latin typeface="Calibri"/>
                <a:cs typeface="Calibri"/>
              </a:rPr>
              <a:t>com- 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puting </a:t>
            </a:r>
            <a:r>
              <a:rPr dirty="0" sz="1600" spc="30" i="1">
                <a:solidFill>
                  <a:srgbClr val="2C99CF"/>
                </a:solidFill>
                <a:latin typeface="Calibri"/>
                <a:cs typeface="Calibri"/>
              </a:rPr>
              <a:t>space.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Google’s </a:t>
            </a:r>
            <a:r>
              <a:rPr dirty="0" sz="1600" spc="45" i="1">
                <a:solidFill>
                  <a:srgbClr val="2C99CF"/>
                </a:solidFill>
                <a:latin typeface="Calibri"/>
                <a:cs typeface="Calibri"/>
              </a:rPr>
              <a:t>busy </a:t>
            </a:r>
            <a:r>
              <a:rPr dirty="0" sz="1600" spc="15" i="1">
                <a:solidFill>
                  <a:srgbClr val="2C99CF"/>
                </a:solidFill>
                <a:latin typeface="Calibri"/>
                <a:cs typeface="Calibri"/>
              </a:rPr>
              <a:t>launch </a:t>
            </a:r>
            <a:r>
              <a:rPr dirty="0" sz="1600" i="1">
                <a:solidFill>
                  <a:srgbClr val="2C99CF"/>
                </a:solidFill>
                <a:latin typeface="Calibri"/>
                <a:cs typeface="Calibri"/>
              </a:rPr>
              <a:t>calendar </a:t>
            </a:r>
            <a:r>
              <a:rPr dirty="0" sz="1600" spc="70" i="1">
                <a:solidFill>
                  <a:srgbClr val="2C99CF"/>
                </a:solidFill>
                <a:latin typeface="Calibri"/>
                <a:cs typeface="Calibri"/>
              </a:rPr>
              <a:t>sees </a:t>
            </a:r>
            <a:r>
              <a:rPr dirty="0" sz="1600" spc="-30" i="1">
                <a:solidFill>
                  <a:srgbClr val="2C99CF"/>
                </a:solidFill>
                <a:latin typeface="Calibri"/>
                <a:cs typeface="Calibri"/>
              </a:rPr>
              <a:t>it </a:t>
            </a:r>
            <a:r>
              <a:rPr dirty="0" sz="1600" i="1">
                <a:solidFill>
                  <a:srgbClr val="2C99CF"/>
                </a:solidFill>
                <a:latin typeface="Calibri"/>
                <a:cs typeface="Calibri"/>
              </a:rPr>
              <a:t>debut </a:t>
            </a:r>
            <a:r>
              <a:rPr dirty="0" sz="1600" spc="-15" i="1">
                <a:solidFill>
                  <a:srgbClr val="2C99CF"/>
                </a:solidFill>
                <a:latin typeface="Calibri"/>
                <a:cs typeface="Calibri"/>
              </a:rPr>
              <a:t>prod-  </a:t>
            </a:r>
            <a:r>
              <a:rPr dirty="0" sz="1600" spc="55" i="1">
                <a:solidFill>
                  <a:srgbClr val="2C99CF"/>
                </a:solidFill>
                <a:latin typeface="Calibri"/>
                <a:cs typeface="Calibri"/>
              </a:rPr>
              <a:t>ucts </a:t>
            </a:r>
            <a:r>
              <a:rPr dirty="0" sz="1600" spc="5" i="1">
                <a:solidFill>
                  <a:srgbClr val="2C99CF"/>
                </a:solidFill>
                <a:latin typeface="Calibri"/>
                <a:cs typeface="Calibri"/>
              </a:rPr>
              <a:t>similar </a:t>
            </a:r>
            <a:r>
              <a:rPr dirty="0" sz="1600" spc="-15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1600" spc="15" i="1">
                <a:solidFill>
                  <a:srgbClr val="2C99CF"/>
                </a:solidFill>
                <a:latin typeface="Calibri"/>
                <a:cs typeface="Calibri"/>
              </a:rPr>
              <a:t>AWS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in </a:t>
            </a:r>
            <a:r>
              <a:rPr dirty="0" sz="1600" spc="-25" i="1">
                <a:solidFill>
                  <a:srgbClr val="2C99CF"/>
                </a:solidFill>
                <a:latin typeface="Calibri"/>
                <a:cs typeface="Calibri"/>
              </a:rPr>
              <a:t>all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major </a:t>
            </a:r>
            <a:r>
              <a:rPr dirty="0" sz="1600" spc="10" i="1">
                <a:solidFill>
                  <a:srgbClr val="2C99CF"/>
                </a:solidFill>
                <a:latin typeface="Calibri"/>
                <a:cs typeface="Calibri"/>
              </a:rPr>
              <a:t>product</a:t>
            </a:r>
            <a:r>
              <a:rPr dirty="0" sz="1600" spc="4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600" spc="15" i="1">
                <a:solidFill>
                  <a:srgbClr val="2C99CF"/>
                </a:solidFill>
                <a:latin typeface="Calibri"/>
                <a:cs typeface="Calibri"/>
              </a:rPr>
              <a:t>families</a:t>
            </a:r>
            <a:endParaRPr sz="1600">
              <a:latin typeface="Calibri"/>
              <a:cs typeface="Calibri"/>
            </a:endParaRPr>
          </a:p>
          <a:p>
            <a:pPr algn="ctr" marL="131445" marR="124460" indent="-1905">
              <a:lnSpc>
                <a:spcPct val="100000"/>
              </a:lnSpc>
            </a:pP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throughout the </a:t>
            </a:r>
            <a:r>
              <a:rPr dirty="0" sz="1600" spc="-35" i="1">
                <a:solidFill>
                  <a:srgbClr val="2C99CF"/>
                </a:solidFill>
                <a:latin typeface="Calibri"/>
                <a:cs typeface="Calibri"/>
              </a:rPr>
              <a:t>year. </a:t>
            </a:r>
            <a:r>
              <a:rPr dirty="0" sz="1600" spc="10" i="1">
                <a:solidFill>
                  <a:srgbClr val="2C99CF"/>
                </a:solidFill>
                <a:latin typeface="Calibri"/>
                <a:cs typeface="Calibri"/>
              </a:rPr>
              <a:t>Despite </a:t>
            </a:r>
            <a:r>
              <a:rPr dirty="0" sz="1600" i="1">
                <a:solidFill>
                  <a:srgbClr val="2C99CF"/>
                </a:solidFill>
                <a:latin typeface="Calibri"/>
                <a:cs typeface="Calibri"/>
              </a:rPr>
              <a:t>being </a:t>
            </a:r>
            <a:r>
              <a:rPr dirty="0" sz="1600" spc="-15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1600" spc="-20" i="1">
                <a:solidFill>
                  <a:srgbClr val="2C99CF"/>
                </a:solidFill>
                <a:latin typeface="Calibri"/>
                <a:cs typeface="Calibri"/>
              </a:rPr>
              <a:t>late </a:t>
            </a:r>
            <a:r>
              <a:rPr dirty="0" sz="1600" spc="-25" i="1">
                <a:solidFill>
                  <a:srgbClr val="2C99CF"/>
                </a:solidFill>
                <a:latin typeface="Calibri"/>
                <a:cs typeface="Calibri"/>
              </a:rPr>
              <a:t>entrant, </a:t>
            </a:r>
            <a:r>
              <a:rPr dirty="0" sz="16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1600" spc="40" i="1">
                <a:solidFill>
                  <a:srgbClr val="2C99CF"/>
                </a:solidFill>
                <a:latin typeface="Calibri"/>
                <a:cs typeface="Calibri"/>
              </a:rPr>
              <a:t>has  </a:t>
            </a:r>
            <a:r>
              <a:rPr dirty="0" sz="1600" spc="15" i="1">
                <a:solidFill>
                  <a:srgbClr val="2C99CF"/>
                </a:solidFill>
                <a:latin typeface="Calibri"/>
                <a:cs typeface="Calibri"/>
              </a:rPr>
              <a:t>quickly </a:t>
            </a:r>
            <a:r>
              <a:rPr dirty="0" sz="1600" spc="20" i="1">
                <a:solidFill>
                  <a:srgbClr val="2C99CF"/>
                </a:solidFill>
                <a:latin typeface="Calibri"/>
                <a:cs typeface="Calibri"/>
              </a:rPr>
              <a:t>risen </a:t>
            </a:r>
            <a:r>
              <a:rPr dirty="0" sz="1600" spc="-20" i="1">
                <a:solidFill>
                  <a:srgbClr val="2C99CF"/>
                </a:solidFill>
                <a:latin typeface="Calibri"/>
                <a:cs typeface="Calibri"/>
              </a:rPr>
              <a:t>to </a:t>
            </a:r>
            <a:r>
              <a:rPr dirty="0" sz="1600" spc="-10" i="1">
                <a:solidFill>
                  <a:srgbClr val="2C99CF"/>
                </a:solidFill>
                <a:latin typeface="Calibri"/>
                <a:cs typeface="Calibri"/>
              </a:rPr>
              <a:t>deliver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600" spc="30" i="1">
                <a:solidFill>
                  <a:srgbClr val="2C99CF"/>
                </a:solidFill>
                <a:latin typeface="Calibri"/>
                <a:cs typeface="Calibri"/>
              </a:rPr>
              <a:t>best </a:t>
            </a:r>
            <a:r>
              <a:rPr dirty="0" sz="1600" spc="15" i="1">
                <a:solidFill>
                  <a:srgbClr val="2C99CF"/>
                </a:solidFill>
                <a:latin typeface="Calibri"/>
                <a:cs typeface="Calibri"/>
              </a:rPr>
              <a:t>performance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for the </a:t>
            </a:r>
            <a:r>
              <a:rPr dirty="0" sz="1600" spc="10" i="1">
                <a:solidFill>
                  <a:srgbClr val="2C99CF"/>
                </a:solidFill>
                <a:latin typeface="Calibri"/>
                <a:cs typeface="Calibri"/>
              </a:rPr>
              <a:t>price </a:t>
            </a:r>
            <a:r>
              <a:rPr dirty="0" sz="1600" spc="-5" i="1">
                <a:solidFill>
                  <a:srgbClr val="2C99CF"/>
                </a:solidFill>
                <a:latin typeface="Calibri"/>
                <a:cs typeface="Calibri"/>
              </a:rPr>
              <a:t>in the  </a:t>
            </a:r>
            <a:r>
              <a:rPr dirty="0" sz="1600" spc="35" i="1">
                <a:solidFill>
                  <a:srgbClr val="2C99CF"/>
                </a:solidFill>
                <a:latin typeface="Calibri"/>
                <a:cs typeface="Calibri"/>
              </a:rPr>
              <a:t>DBaaS </a:t>
            </a:r>
            <a:r>
              <a:rPr dirty="0" sz="1600" spc="25" i="1">
                <a:solidFill>
                  <a:srgbClr val="2C99CF"/>
                </a:solidFill>
                <a:latin typeface="Calibri"/>
                <a:cs typeface="Calibri"/>
              </a:rPr>
              <a:t>segment</a:t>
            </a:r>
            <a:r>
              <a:rPr dirty="0" sz="1600" spc="-6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600" spc="-20" i="1">
                <a:solidFill>
                  <a:srgbClr val="2C99CF"/>
                </a:solidFill>
                <a:latin typeface="Calibri"/>
                <a:cs typeface="Calibri"/>
              </a:rPr>
              <a:t>too.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5"/>
              <a:t> </a:t>
            </a:r>
            <a:r>
              <a:rPr dirty="0" spc="2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00" y="2024532"/>
            <a:ext cx="5784850" cy="19805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715">
              <a:lnSpc>
                <a:spcPct val="100000"/>
              </a:lnSpc>
            </a:pPr>
            <a:r>
              <a:rPr dirty="0" sz="3500" spc="-175">
                <a:solidFill>
                  <a:srgbClr val="F5F4F4"/>
                </a:solidFill>
                <a:latin typeface="Arial"/>
                <a:cs typeface="Arial"/>
              </a:rPr>
              <a:t>BIG </a:t>
            </a:r>
            <a:r>
              <a:rPr dirty="0" sz="3500" spc="-250">
                <a:solidFill>
                  <a:srgbClr val="F5F4F4"/>
                </a:solidFill>
                <a:latin typeface="Arial"/>
                <a:cs typeface="Arial"/>
              </a:rPr>
              <a:t>DATA </a:t>
            </a:r>
            <a:r>
              <a:rPr dirty="0" sz="3500" spc="-204">
                <a:solidFill>
                  <a:srgbClr val="F5F4F4"/>
                </a:solidFill>
                <a:latin typeface="Arial"/>
                <a:cs typeface="Arial"/>
              </a:rPr>
              <a:t>ANALYTICS:DATA  </a:t>
            </a:r>
            <a:r>
              <a:rPr dirty="0" sz="3500" spc="-175">
                <a:solidFill>
                  <a:srgbClr val="F5F4F4"/>
                </a:solidFill>
                <a:latin typeface="Arial"/>
                <a:cs typeface="Arial"/>
              </a:rPr>
              <a:t>DRIVEN </a:t>
            </a:r>
            <a:r>
              <a:rPr dirty="0" sz="3500" spc="-185">
                <a:solidFill>
                  <a:srgbClr val="F5F4F4"/>
                </a:solidFill>
                <a:latin typeface="Arial"/>
                <a:cs typeface="Arial"/>
              </a:rPr>
              <a:t>BUSINESS</a:t>
            </a:r>
            <a:r>
              <a:rPr dirty="0" sz="3500" spc="-9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500" spc="-260">
                <a:solidFill>
                  <a:srgbClr val="F5F4F4"/>
                </a:solidFill>
                <a:latin typeface="Arial"/>
                <a:cs typeface="Arial"/>
              </a:rPr>
              <a:t>SUCCESS</a:t>
            </a:r>
            <a:endParaRPr sz="3500">
              <a:latin typeface="Arial"/>
              <a:cs typeface="Arial"/>
            </a:endParaRPr>
          </a:p>
          <a:p>
            <a:pPr marL="38100" marR="3195320">
              <a:lnSpc>
                <a:spcPct val="100000"/>
              </a:lnSpc>
              <a:spcBef>
                <a:spcPts val="1910"/>
              </a:spcBef>
            </a:pPr>
            <a:r>
              <a:rPr dirty="0" sz="2200" spc="-45" i="1">
                <a:solidFill>
                  <a:srgbClr val="F5F4F4"/>
                </a:solidFill>
                <a:latin typeface="Calibri"/>
                <a:cs typeface="Calibri"/>
              </a:rPr>
              <a:t>Don’t </a:t>
            </a: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be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data </a:t>
            </a:r>
            <a:r>
              <a:rPr dirty="0" sz="2200" spc="25" i="1">
                <a:solidFill>
                  <a:srgbClr val="F5F4F4"/>
                </a:solidFill>
                <a:latin typeface="Calibri"/>
                <a:cs typeface="Calibri"/>
              </a:rPr>
              <a:t>rich </a:t>
            </a:r>
            <a:r>
              <a:rPr dirty="0" sz="2200" spc="-229" i="1">
                <a:solidFill>
                  <a:srgbClr val="F5F4F4"/>
                </a:solidFill>
                <a:latin typeface="Calibri"/>
                <a:cs typeface="Calibri"/>
              </a:rPr>
              <a:t>&amp;  </a:t>
            </a:r>
            <a:r>
              <a:rPr dirty="0" sz="2200" spc="20" i="1">
                <a:solidFill>
                  <a:srgbClr val="F5F4F4"/>
                </a:solidFill>
                <a:latin typeface="Calibri"/>
                <a:cs typeface="Calibri"/>
              </a:rPr>
              <a:t>Insight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Poor</a:t>
            </a:r>
            <a:r>
              <a:rPr dirty="0" sz="2200" spc="-4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anymore!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8915" y="3252647"/>
            <a:ext cx="3015627" cy="2885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42434" y="6317469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 h="0">
                <a:moveTo>
                  <a:pt x="0" y="0"/>
                </a:moveTo>
                <a:lnTo>
                  <a:pt x="210870" y="0"/>
                </a:lnTo>
              </a:path>
            </a:pathLst>
          </a:custGeom>
          <a:ln w="24980">
            <a:solidFill>
              <a:srgbClr val="0155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4723" y="6224231"/>
            <a:ext cx="666750" cy="81280"/>
          </a:xfrm>
          <a:custGeom>
            <a:avLst/>
            <a:gdLst/>
            <a:ahLst/>
            <a:cxnLst/>
            <a:rect l="l" t="t" r="r" b="b"/>
            <a:pathLst>
              <a:path w="666750" h="81279">
                <a:moveTo>
                  <a:pt x="666241" y="0"/>
                </a:moveTo>
                <a:lnTo>
                  <a:pt x="0" y="0"/>
                </a:lnTo>
                <a:lnTo>
                  <a:pt x="0" y="80746"/>
                </a:lnTo>
                <a:lnTo>
                  <a:pt x="666241" y="80746"/>
                </a:lnTo>
                <a:lnTo>
                  <a:pt x="666241" y="0"/>
                </a:lnTo>
                <a:close/>
              </a:path>
            </a:pathLst>
          </a:custGeom>
          <a:solidFill>
            <a:srgbClr val="0155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42434" y="6211754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 h="0">
                <a:moveTo>
                  <a:pt x="0" y="0"/>
                </a:moveTo>
                <a:lnTo>
                  <a:pt x="210870" y="0"/>
                </a:lnTo>
              </a:path>
            </a:pathLst>
          </a:custGeom>
          <a:ln w="24955">
            <a:solidFill>
              <a:srgbClr val="0155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07559" y="6104674"/>
            <a:ext cx="81280" cy="94615"/>
          </a:xfrm>
          <a:custGeom>
            <a:avLst/>
            <a:gdLst/>
            <a:ahLst/>
            <a:cxnLst/>
            <a:rect l="l" t="t" r="r" b="b"/>
            <a:pathLst>
              <a:path w="81279" h="94614">
                <a:moveTo>
                  <a:pt x="80683" y="0"/>
                </a:moveTo>
                <a:lnTo>
                  <a:pt x="0" y="0"/>
                </a:lnTo>
                <a:lnTo>
                  <a:pt x="0" y="94602"/>
                </a:lnTo>
                <a:lnTo>
                  <a:pt x="80683" y="94602"/>
                </a:lnTo>
                <a:lnTo>
                  <a:pt x="80683" y="0"/>
                </a:lnTo>
                <a:close/>
              </a:path>
            </a:pathLst>
          </a:custGeom>
          <a:solidFill>
            <a:srgbClr val="0155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30252" y="6361760"/>
            <a:ext cx="202565" cy="0"/>
          </a:xfrm>
          <a:custGeom>
            <a:avLst/>
            <a:gdLst/>
            <a:ahLst/>
            <a:cxnLst/>
            <a:rect l="l" t="t" r="r" b="b"/>
            <a:pathLst>
              <a:path w="202564" h="0">
                <a:moveTo>
                  <a:pt x="0" y="0"/>
                </a:moveTo>
                <a:lnTo>
                  <a:pt x="202539" y="0"/>
                </a:lnTo>
              </a:path>
            </a:pathLst>
          </a:custGeom>
          <a:ln w="23977">
            <a:solidFill>
              <a:srgbClr val="0155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11520" y="6272212"/>
            <a:ext cx="640080" cy="78105"/>
          </a:xfrm>
          <a:custGeom>
            <a:avLst/>
            <a:gdLst/>
            <a:ahLst/>
            <a:cxnLst/>
            <a:rect l="l" t="t" r="r" b="b"/>
            <a:pathLst>
              <a:path w="640079" h="78104">
                <a:moveTo>
                  <a:pt x="639940" y="0"/>
                </a:moveTo>
                <a:lnTo>
                  <a:pt x="0" y="0"/>
                </a:lnTo>
                <a:lnTo>
                  <a:pt x="0" y="77558"/>
                </a:lnTo>
                <a:lnTo>
                  <a:pt x="639940" y="77558"/>
                </a:lnTo>
                <a:lnTo>
                  <a:pt x="639940" y="0"/>
                </a:lnTo>
                <a:close/>
              </a:path>
            </a:pathLst>
          </a:custGeom>
          <a:solidFill>
            <a:srgbClr val="0155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30252" y="6260223"/>
            <a:ext cx="202565" cy="0"/>
          </a:xfrm>
          <a:custGeom>
            <a:avLst/>
            <a:gdLst/>
            <a:ahLst/>
            <a:cxnLst/>
            <a:rect l="l" t="t" r="r" b="b"/>
            <a:pathLst>
              <a:path w="202564" h="0">
                <a:moveTo>
                  <a:pt x="0" y="0"/>
                </a:moveTo>
                <a:lnTo>
                  <a:pt x="202539" y="0"/>
                </a:lnTo>
              </a:path>
            </a:pathLst>
          </a:custGeom>
          <a:ln w="23977">
            <a:solidFill>
              <a:srgbClr val="0155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92799" y="6157366"/>
            <a:ext cx="78105" cy="91440"/>
          </a:xfrm>
          <a:custGeom>
            <a:avLst/>
            <a:gdLst/>
            <a:ahLst/>
            <a:cxnLst/>
            <a:rect l="l" t="t" r="r" b="b"/>
            <a:pathLst>
              <a:path w="78104" h="91439">
                <a:moveTo>
                  <a:pt x="77495" y="0"/>
                </a:moveTo>
                <a:lnTo>
                  <a:pt x="0" y="0"/>
                </a:lnTo>
                <a:lnTo>
                  <a:pt x="0" y="90868"/>
                </a:lnTo>
                <a:lnTo>
                  <a:pt x="77495" y="90868"/>
                </a:lnTo>
                <a:lnTo>
                  <a:pt x="77495" y="0"/>
                </a:lnTo>
                <a:close/>
              </a:path>
            </a:pathLst>
          </a:custGeom>
          <a:solidFill>
            <a:srgbClr val="0155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49300" y="4684194"/>
            <a:ext cx="2618105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32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growing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exponentially and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generated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trend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shall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continue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future.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Enterprises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struggling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stay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top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deluge!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IoT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revolution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set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further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avalanche.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So,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future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hold?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300" y="6398694"/>
            <a:ext cx="2459990" cy="2109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Well,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companies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hoard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data,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atleast 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ones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do.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Unfortunately,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limited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lifespan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within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generate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actionable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intelligence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enterprises.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getting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meaningful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insights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terabytes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requires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muscle,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something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only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 enter-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prises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could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afford until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sometime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ago.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8692368"/>
            <a:ext cx="87312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came…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1234" y="6523004"/>
            <a:ext cx="2623185" cy="2493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65100">
              <a:lnSpc>
                <a:spcPct val="1048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Democratization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</a:t>
            </a:r>
            <a:r>
              <a:rPr dirty="0" sz="1850" spc="-19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Big  </a:t>
            </a:r>
            <a:r>
              <a:rPr dirty="0" sz="1850">
                <a:solidFill>
                  <a:srgbClr val="2C99CF"/>
                </a:solidFill>
                <a:latin typeface="Arial"/>
                <a:cs typeface="Arial"/>
              </a:rPr>
              <a:t>Data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37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Public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processing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put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big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analytics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within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reach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startups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SMBs.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move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towards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democratization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Big 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gaining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steam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major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players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competing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along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innovation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fronts.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innovation is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fuelled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digital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transformation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happening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landscape.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31541"/>
            <a:ext cx="2625090" cy="2266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78740">
              <a:lnSpc>
                <a:spcPct val="107700"/>
              </a:lnSpc>
            </a:pPr>
            <a:r>
              <a:rPr dirty="0" sz="1800" spc="-70">
                <a:solidFill>
                  <a:srgbClr val="2C99CF"/>
                </a:solidFill>
                <a:latin typeface="Arial"/>
                <a:cs typeface="Arial"/>
              </a:rPr>
              <a:t>So, </a:t>
            </a:r>
            <a:r>
              <a:rPr dirty="0" sz="1800" spc="25">
                <a:solidFill>
                  <a:srgbClr val="2C99CF"/>
                </a:solidFill>
                <a:latin typeface="Arial"/>
                <a:cs typeface="Arial"/>
              </a:rPr>
              <a:t>why </a:t>
            </a:r>
            <a:r>
              <a:rPr dirty="0" sz="1800" spc="-25">
                <a:solidFill>
                  <a:srgbClr val="2C99CF"/>
                </a:solidFill>
                <a:latin typeface="Arial"/>
                <a:cs typeface="Arial"/>
              </a:rPr>
              <a:t>are </a:t>
            </a:r>
            <a:r>
              <a:rPr dirty="0" sz="1800" spc="15">
                <a:solidFill>
                  <a:srgbClr val="2C99CF"/>
                </a:solidFill>
                <a:latin typeface="Arial"/>
                <a:cs typeface="Arial"/>
              </a:rPr>
              <a:t>enterprises  </a:t>
            </a:r>
            <a:r>
              <a:rPr dirty="0" sz="1800" spc="40">
                <a:solidFill>
                  <a:srgbClr val="2C99CF"/>
                </a:solidFill>
                <a:latin typeface="Arial"/>
                <a:cs typeface="Arial"/>
              </a:rPr>
              <a:t>betting </a:t>
            </a:r>
            <a:r>
              <a:rPr dirty="0" sz="1800" spc="25">
                <a:solidFill>
                  <a:srgbClr val="2C99CF"/>
                </a:solidFill>
                <a:latin typeface="Arial"/>
                <a:cs typeface="Arial"/>
              </a:rPr>
              <a:t>big </a:t>
            </a:r>
            <a:r>
              <a:rPr dirty="0" sz="1800" spc="15">
                <a:solidFill>
                  <a:srgbClr val="2C99CF"/>
                </a:solidFill>
                <a:latin typeface="Arial"/>
                <a:cs typeface="Arial"/>
              </a:rPr>
              <a:t>on </a:t>
            </a:r>
            <a:r>
              <a:rPr dirty="0" sz="1800" spc="-10">
                <a:solidFill>
                  <a:srgbClr val="2C99CF"/>
                </a:solidFill>
                <a:latin typeface="Arial"/>
                <a:cs typeface="Arial"/>
              </a:rPr>
              <a:t>‘Big</a:t>
            </a:r>
            <a:r>
              <a:rPr dirty="0" sz="1800" spc="-32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C99CF"/>
                </a:solidFill>
                <a:latin typeface="Arial"/>
                <a:cs typeface="Arial"/>
              </a:rPr>
              <a:t>data’?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1080"/>
              </a:spcBef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Companies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improve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savings 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increase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ROI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evidence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decision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making,  largely driven by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Big Data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Analytics.</a:t>
            </a:r>
            <a:endParaRPr sz="1200">
              <a:latin typeface="Arial"/>
              <a:cs typeface="Arial"/>
            </a:endParaRPr>
          </a:p>
          <a:p>
            <a:pPr marL="12700" marR="1524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Firms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making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alloca-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decisions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judging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marketing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effectiveness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real-time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analysis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consumer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behavior.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650" y="3892550"/>
            <a:ext cx="2609850" cy="2159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dirty="0" sz="1050" spc="5">
                <a:solidFill>
                  <a:srgbClr val="FFFFFF"/>
                </a:solidFill>
                <a:latin typeface="Arial"/>
                <a:cs typeface="Arial"/>
              </a:rPr>
              <a:t>cases </a:t>
            </a:r>
            <a:r>
              <a:rPr dirty="0" sz="1050" spc="3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050" spc="-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5">
                <a:solidFill>
                  <a:srgbClr val="FFFFFF"/>
                </a:solidFill>
                <a:latin typeface="Arial"/>
                <a:cs typeface="Arial"/>
              </a:rPr>
              <a:t>Google’s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Big </a:t>
            </a:r>
            <a:r>
              <a:rPr dirty="0" sz="1050" spc="-5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050" spc="15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050" y="4140212"/>
            <a:ext cx="2513965" cy="9918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20">
                <a:solidFill>
                  <a:srgbClr val="202020"/>
                </a:solidFill>
                <a:latin typeface="Arial"/>
                <a:cs typeface="Arial"/>
              </a:rPr>
              <a:t>1.Spotify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000" spc="-45">
                <a:solidFill>
                  <a:srgbClr val="231F20"/>
                </a:solidFill>
                <a:latin typeface="Arial"/>
                <a:cs typeface="Arial"/>
              </a:rPr>
              <a:t>Take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case </a:t>
            </a:r>
            <a:r>
              <a:rPr dirty="0" sz="1000" spc="25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Spotify,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Spotify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uses  </a:t>
            </a:r>
            <a:r>
              <a:rPr dirty="0" sz="1000" spc="-30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Big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data analytics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like Big 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query and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Dataflow </a:t>
            </a:r>
            <a:r>
              <a:rPr dirty="0" sz="1000" spc="1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0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generate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personalized 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music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recommendations </a:t>
            </a:r>
            <a:r>
              <a:rPr dirty="0" sz="1000" spc="15">
                <a:solidFill>
                  <a:srgbClr val="231F20"/>
                </a:solidFill>
                <a:latin typeface="Arial"/>
                <a:cs typeface="Arial"/>
              </a:rPr>
              <a:t>for its</a:t>
            </a:r>
            <a:r>
              <a:rPr dirty="0" sz="10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users.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050" y="5257812"/>
            <a:ext cx="2491740" cy="1182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10">
                <a:solidFill>
                  <a:srgbClr val="202020"/>
                </a:solidFill>
                <a:latin typeface="Arial"/>
                <a:cs typeface="Arial"/>
              </a:rPr>
              <a:t>2.Dominos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</a:pP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Dominos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aggregates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the data </a:t>
            </a:r>
            <a:r>
              <a:rPr dirty="0" sz="1000" spc="20">
                <a:solidFill>
                  <a:srgbClr val="231F20"/>
                </a:solidFill>
                <a:latin typeface="Arial"/>
                <a:cs typeface="Arial"/>
              </a:rPr>
              <a:t>from its 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multi-channel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distribution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network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and uses  </a:t>
            </a:r>
            <a:r>
              <a:rPr dirty="0" sz="10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analytics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premium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services and  </a:t>
            </a: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BigQuery</a:t>
            </a:r>
            <a:r>
              <a:rPr dirty="0" sz="10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2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0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ascertain</a:t>
            </a:r>
            <a:r>
              <a:rPr dirty="0" sz="10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0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0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15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0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marketing 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campaigns </a:t>
            </a: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000" spc="-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working.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7000" y="1463106"/>
            <a:ext cx="2600960" cy="172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massive demand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analytics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means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major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offer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real-time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stream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analytics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consumers.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gone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further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uniﬁed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programming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combines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batch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stream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product,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Dataflow.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000" y="3368106"/>
            <a:ext cx="2637155" cy="287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8419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adding new features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cutting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down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warehousing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analytics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segment.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announced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reduction 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BigQuery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NEXT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conference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2016.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change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made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term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cheaper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its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automatically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reducing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price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50%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after 90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days.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keeps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simplifying the  analytics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game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adding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sophisticated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visualization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Studio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360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2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aggre-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gate all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analytics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workflows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tool.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3157" y="6591807"/>
            <a:ext cx="5408930" cy="501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1800">
                <a:solidFill>
                  <a:srgbClr val="2C99CF"/>
                </a:solidFill>
                <a:latin typeface="Arial"/>
                <a:cs typeface="Arial"/>
              </a:rPr>
              <a:t>Comparing </a:t>
            </a:r>
            <a:r>
              <a:rPr dirty="0" sz="1800" spc="-25">
                <a:solidFill>
                  <a:srgbClr val="2C99CF"/>
                </a:solidFill>
                <a:latin typeface="Arial"/>
                <a:cs typeface="Arial"/>
              </a:rPr>
              <a:t>Google’s </a:t>
            </a:r>
            <a:r>
              <a:rPr dirty="0" sz="1800" spc="25">
                <a:solidFill>
                  <a:srgbClr val="2C99CF"/>
                </a:solidFill>
                <a:latin typeface="Arial"/>
                <a:cs typeface="Arial"/>
              </a:rPr>
              <a:t>Analytics </a:t>
            </a:r>
            <a:r>
              <a:rPr dirty="0" sz="1800" spc="15">
                <a:solidFill>
                  <a:srgbClr val="2C99CF"/>
                </a:solidFill>
                <a:latin typeface="Arial"/>
                <a:cs typeface="Arial"/>
              </a:rPr>
              <a:t>services </a:t>
            </a:r>
            <a:r>
              <a:rPr dirty="0" sz="1800" spc="65">
                <a:solidFill>
                  <a:srgbClr val="2C99CF"/>
                </a:solidFill>
                <a:latin typeface="Arial"/>
                <a:cs typeface="Arial"/>
              </a:rPr>
              <a:t>with</a:t>
            </a:r>
            <a:r>
              <a:rPr dirty="0" sz="1800" spc="-29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2C99CF"/>
                </a:solidFill>
                <a:latin typeface="Arial"/>
                <a:cs typeface="Arial"/>
              </a:rPr>
              <a:t>Amazon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Amazon and </a:t>
            </a:r>
            <a:r>
              <a:rPr dirty="0" sz="10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offer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comparable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in analytics</a:t>
            </a:r>
            <a:r>
              <a:rPr dirty="0" sz="10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segment.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85824" y="7107787"/>
            <a:ext cx="4649635" cy="2323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463106"/>
            <a:ext cx="5774690" cy="3603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37795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Often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comparisons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drawn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between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RedShift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BigQuery,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differ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pricing,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flexibility.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197485">
              <a:lnSpc>
                <a:spcPct val="104200"/>
              </a:lnSpc>
              <a:spcBef>
                <a:spcPts val="5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Amazon’s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Redshift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runs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self-provisioning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pay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amount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servers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kept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online.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123825">
              <a:lnSpc>
                <a:spcPct val="104200"/>
              </a:lnSpc>
              <a:spcBef>
                <a:spcPts val="5"/>
              </a:spcBef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BigQuery,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there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automatic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provisioning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resources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completely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abstracted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system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No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Ops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model.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 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economical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compared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amazon.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recent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drop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long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term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storage,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surely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wins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price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battle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vis-a-vis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Big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vendors.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Plus, Google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strengths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management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centers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optimized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scaling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analytics.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reason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cited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Spotify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shift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talks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google’s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superiority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provision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85115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“Spotify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chose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part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because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analyzing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large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amounts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tools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BigQuery,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advanced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than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provides.”</a:t>
            </a:r>
            <a:endParaRPr sz="1200">
              <a:latin typeface="Arial"/>
              <a:cs typeface="Arial"/>
            </a:endParaRPr>
          </a:p>
          <a:p>
            <a:pPr marL="2882265">
              <a:lnSpc>
                <a:spcPct val="100000"/>
              </a:lnSpc>
              <a:spcBef>
                <a:spcPts val="260"/>
              </a:spcBef>
            </a:pP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-Nicholas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Harteau, </a:t>
            </a:r>
            <a:r>
              <a:rPr dirty="0" sz="1000" spc="-50">
                <a:solidFill>
                  <a:srgbClr val="231F20"/>
                </a:solidFill>
                <a:latin typeface="Arial"/>
                <a:cs typeface="Arial"/>
              </a:rPr>
              <a:t>VP </a:t>
            </a:r>
            <a:r>
              <a:rPr dirty="0" sz="1000" spc="25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Infrastructure,</a:t>
            </a:r>
            <a:r>
              <a:rPr dirty="0" sz="10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31F20"/>
                </a:solidFill>
                <a:latin typeface="Arial"/>
                <a:cs typeface="Arial"/>
              </a:rPr>
              <a:t>Spotify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402" y="6341287"/>
            <a:ext cx="5452110" cy="153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1270">
              <a:lnSpc>
                <a:spcPct val="100000"/>
              </a:lnSpc>
            </a:pPr>
            <a:r>
              <a:rPr dirty="0" sz="2000" spc="50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next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round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adoption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be </a:t>
            </a:r>
            <a:r>
              <a:rPr dirty="0" sz="2000" i="1">
                <a:solidFill>
                  <a:srgbClr val="2C99CF"/>
                </a:solidFill>
                <a:latin typeface="Calibri"/>
                <a:cs typeface="Calibri"/>
              </a:rPr>
              <a:t>driven </a:t>
            </a:r>
            <a:r>
              <a:rPr dirty="0" sz="2000" spc="15" i="1">
                <a:solidFill>
                  <a:srgbClr val="2C99CF"/>
                </a:solidFill>
                <a:latin typeface="Calibri"/>
                <a:cs typeface="Calibri"/>
              </a:rPr>
              <a:t>by 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enterprises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launching </a:t>
            </a:r>
            <a:r>
              <a:rPr dirty="0" sz="2000" spc="50" i="1">
                <a:solidFill>
                  <a:srgbClr val="2C99CF"/>
                </a:solidFill>
                <a:latin typeface="Calibri"/>
                <a:cs typeface="Calibri"/>
              </a:rPr>
              <a:t>IoT </a:t>
            </a:r>
            <a:r>
              <a:rPr dirty="0" sz="2000" spc="25" i="1">
                <a:solidFill>
                  <a:srgbClr val="2C99CF"/>
                </a:solidFill>
                <a:latin typeface="Calibri"/>
                <a:cs typeface="Calibri"/>
              </a:rPr>
              <a:t>products. </a:t>
            </a:r>
            <a:r>
              <a:rPr dirty="0" sz="2000" spc="70" i="1">
                <a:solidFill>
                  <a:srgbClr val="2C99CF"/>
                </a:solidFill>
                <a:latin typeface="Calibri"/>
                <a:cs typeface="Calibri"/>
              </a:rPr>
              <a:t>Since </a:t>
            </a:r>
            <a:r>
              <a:rPr dirty="0" sz="2000" spc="50" i="1">
                <a:solidFill>
                  <a:srgbClr val="2C99CF"/>
                </a:solidFill>
                <a:latin typeface="Calibri"/>
                <a:cs typeface="Calibri"/>
              </a:rPr>
              <a:t>IoT </a:t>
            </a:r>
            <a:r>
              <a:rPr dirty="0" sz="2000" spc="-20" i="1">
                <a:solidFill>
                  <a:srgbClr val="2C99CF"/>
                </a:solidFill>
                <a:latin typeface="Calibri"/>
                <a:cs typeface="Calibri"/>
              </a:rPr>
              <a:t>prod-  </a:t>
            </a:r>
            <a:r>
              <a:rPr dirty="0" sz="2000" spc="70" i="1">
                <a:solidFill>
                  <a:srgbClr val="2C99CF"/>
                </a:solidFill>
                <a:latin typeface="Calibri"/>
                <a:cs typeface="Calibri"/>
              </a:rPr>
              <a:t>ucts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are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inherently data-intensive, </a:t>
            </a:r>
            <a:r>
              <a:rPr dirty="0" sz="2000" i="1">
                <a:solidFill>
                  <a:srgbClr val="2C99CF"/>
                </a:solidFill>
                <a:latin typeface="Calibri"/>
                <a:cs typeface="Calibri"/>
              </a:rPr>
              <a:t>they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000" spc="-10" i="1">
                <a:solidFill>
                  <a:srgbClr val="2C99CF"/>
                </a:solidFill>
                <a:latin typeface="Calibri"/>
                <a:cs typeface="Calibri"/>
              </a:rPr>
              <a:t>drive </a:t>
            </a:r>
            <a:r>
              <a:rPr dirty="0" sz="2000" spc="-25" i="1">
                <a:solidFill>
                  <a:srgbClr val="2C99CF"/>
                </a:solidFill>
                <a:latin typeface="Calibri"/>
                <a:cs typeface="Calibri"/>
              </a:rPr>
              <a:t>fur-  </a:t>
            </a:r>
            <a:r>
              <a:rPr dirty="0" sz="2000" spc="-15" i="1">
                <a:solidFill>
                  <a:srgbClr val="2C99CF"/>
                </a:solidFill>
                <a:latin typeface="Calibri"/>
                <a:cs typeface="Calibri"/>
              </a:rPr>
              <a:t>ther 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adoption </a:t>
            </a:r>
            <a:r>
              <a:rPr dirty="0" sz="2000" spc="10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2000" spc="5" i="1">
                <a:solidFill>
                  <a:srgbClr val="2C99CF"/>
                </a:solidFill>
                <a:latin typeface="Calibri"/>
                <a:cs typeface="Calibri"/>
              </a:rPr>
              <a:t>Google</a:t>
            </a: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30" i="1">
                <a:solidFill>
                  <a:srgbClr val="2C99C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000" spc="-5" i="1">
                <a:solidFill>
                  <a:srgbClr val="2C99CF"/>
                </a:solidFill>
                <a:latin typeface="Calibri"/>
                <a:cs typeface="Calibri"/>
              </a:rPr>
              <a:t>platform</a:t>
            </a:r>
            <a:r>
              <a:rPr dirty="0" sz="2000" spc="-6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000" spc="50" i="1">
                <a:solidFill>
                  <a:srgbClr val="2C99CF"/>
                </a:solidFill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0"/>
              <a:t> </a:t>
            </a:r>
            <a:r>
              <a:rPr dirty="0" spc="2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893" y="2062632"/>
            <a:ext cx="4638675" cy="1721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500" spc="-75">
                <a:solidFill>
                  <a:srgbClr val="F5F4F4"/>
                </a:solidFill>
                <a:latin typeface="Arial"/>
                <a:cs typeface="Arial"/>
              </a:rPr>
              <a:t>The </a:t>
            </a:r>
            <a:r>
              <a:rPr dirty="0" sz="3500" spc="-15">
                <a:solidFill>
                  <a:srgbClr val="F5F4F4"/>
                </a:solidFill>
                <a:latin typeface="Arial"/>
                <a:cs typeface="Arial"/>
              </a:rPr>
              <a:t>(Machine)</a:t>
            </a:r>
            <a:r>
              <a:rPr dirty="0" sz="3500" spc="-254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500" spc="-35">
                <a:solidFill>
                  <a:srgbClr val="F5F4F4"/>
                </a:solidFill>
                <a:latin typeface="Arial"/>
                <a:cs typeface="Arial"/>
              </a:rPr>
              <a:t>Learning  </a:t>
            </a:r>
            <a:r>
              <a:rPr dirty="0" sz="3500" spc="-40">
                <a:solidFill>
                  <a:srgbClr val="F5F4F4"/>
                </a:solidFill>
                <a:latin typeface="Arial"/>
                <a:cs typeface="Arial"/>
              </a:rPr>
              <a:t>Enterprise</a:t>
            </a:r>
            <a:endParaRPr sz="3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10"/>
              </a:spcBef>
            </a:pPr>
            <a:r>
              <a:rPr dirty="0" sz="2200" spc="-25" i="1">
                <a:solidFill>
                  <a:srgbClr val="F5F4F4"/>
                </a:solidFill>
                <a:latin typeface="Calibri"/>
                <a:cs typeface="Calibri"/>
              </a:rPr>
              <a:t>Why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plain </a:t>
            </a:r>
            <a:r>
              <a:rPr dirty="0" sz="2200" i="1">
                <a:solidFill>
                  <a:srgbClr val="F5F4F4"/>
                </a:solidFill>
                <a:latin typeface="Calibri"/>
                <a:cs typeface="Calibri"/>
              </a:rPr>
              <a:t>ole </a:t>
            </a:r>
            <a:r>
              <a:rPr dirty="0" sz="2200" spc="110" i="1">
                <a:solidFill>
                  <a:srgbClr val="F5F4F4"/>
                </a:solidFill>
                <a:latin typeface="Calibri"/>
                <a:cs typeface="Calibri"/>
              </a:rPr>
              <a:t>SaaS </a:t>
            </a:r>
            <a:r>
              <a:rPr dirty="0" sz="2200" spc="80" i="1">
                <a:solidFill>
                  <a:srgbClr val="F5F4F4"/>
                </a:solidFill>
                <a:latin typeface="Calibri"/>
                <a:cs typeface="Calibri"/>
              </a:rPr>
              <a:t>is</a:t>
            </a:r>
            <a:r>
              <a:rPr dirty="0" sz="2200" spc="-70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75" i="1">
                <a:solidFill>
                  <a:srgbClr val="F5F4F4"/>
                </a:solidFill>
                <a:latin typeface="Calibri"/>
                <a:cs typeface="Calibri"/>
              </a:rPr>
              <a:t>passé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92550" y="3049651"/>
            <a:ext cx="3111500" cy="1977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9300" y="4711230"/>
            <a:ext cx="2553970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500"/>
              </a:lnSpc>
            </a:pP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IBM </a:t>
            </a: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Is About </a:t>
            </a:r>
            <a:r>
              <a:rPr dirty="0" sz="1400" spc="5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400" spc="-5">
                <a:solidFill>
                  <a:srgbClr val="231F20"/>
                </a:solidFill>
                <a:latin typeface="Arial"/>
                <a:cs typeface="Arial"/>
              </a:rPr>
              <a:t>Become </a:t>
            </a:r>
            <a:r>
              <a:rPr dirty="0" sz="1400" spc="2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400" spc="5">
                <a:solidFill>
                  <a:srgbClr val="231F20"/>
                </a:solidFill>
                <a:latin typeface="Arial"/>
                <a:cs typeface="Arial"/>
              </a:rPr>
              <a:t>Best </a:t>
            </a:r>
            <a:r>
              <a:rPr dirty="0" sz="1400" spc="-10">
                <a:solidFill>
                  <a:srgbClr val="231F20"/>
                </a:solidFill>
                <a:latin typeface="Arial"/>
                <a:cs typeface="Arial"/>
              </a:rPr>
              <a:t>Weather </a:t>
            </a:r>
            <a:r>
              <a:rPr dirty="0" sz="1400" spc="5">
                <a:solidFill>
                  <a:srgbClr val="231F20"/>
                </a:solidFill>
                <a:latin typeface="Arial"/>
                <a:cs typeface="Arial"/>
              </a:rPr>
              <a:t>Forecaster </a:t>
            </a:r>
            <a:r>
              <a:rPr dirty="0" sz="1400" spc="-45">
                <a:solidFill>
                  <a:srgbClr val="231F20"/>
                </a:solidFill>
                <a:latin typeface="Arial"/>
                <a:cs typeface="Arial"/>
              </a:rPr>
              <a:t>Ever</a:t>
            </a:r>
            <a:r>
              <a:rPr dirty="0" sz="1400" spc="-2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00" spc="185">
                <a:solidFill>
                  <a:srgbClr val="231F20"/>
                </a:solidFill>
                <a:latin typeface="Arial"/>
                <a:cs typeface="Arial"/>
              </a:rPr>
              <a:t>– 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WIRED,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10.28.15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5473230"/>
            <a:ext cx="2400300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500"/>
              </a:lnSpc>
            </a:pP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technique  </a:t>
            </a:r>
            <a:r>
              <a:rPr dirty="0" sz="1400" spc="30">
                <a:solidFill>
                  <a:srgbClr val="231F20"/>
                </a:solidFill>
                <a:latin typeface="Arial"/>
                <a:cs typeface="Arial"/>
              </a:rPr>
              <a:t>boosts </a:t>
            </a:r>
            <a:r>
              <a:rPr dirty="0" sz="1400" spc="5">
                <a:solidFill>
                  <a:srgbClr val="231F20"/>
                </a:solidFill>
                <a:latin typeface="Arial"/>
                <a:cs typeface="Arial"/>
              </a:rPr>
              <a:t>lip-reading </a:t>
            </a: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accuracy</a:t>
            </a:r>
            <a:r>
              <a:rPr dirty="0" sz="14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00" spc="185">
                <a:solidFill>
                  <a:srgbClr val="231F20"/>
                </a:solidFill>
                <a:latin typeface="Arial"/>
                <a:cs typeface="Arial"/>
              </a:rPr>
              <a:t>–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TechCrunch,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Mar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24,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6235230"/>
            <a:ext cx="2565400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500"/>
              </a:lnSpc>
            </a:pP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dirty="0" sz="1400" spc="-20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400" spc="-15">
                <a:solidFill>
                  <a:srgbClr val="231F20"/>
                </a:solidFill>
                <a:latin typeface="Arial"/>
                <a:cs typeface="Arial"/>
              </a:rPr>
              <a:t>AI</a:t>
            </a:r>
            <a:r>
              <a:rPr dirty="0" sz="14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Auto-Magically  </a:t>
            </a:r>
            <a:r>
              <a:rPr dirty="0" sz="1400" spc="5">
                <a:solidFill>
                  <a:srgbClr val="231F20"/>
                </a:solidFill>
                <a:latin typeface="Arial"/>
                <a:cs typeface="Arial"/>
              </a:rPr>
              <a:t>Answers </a:t>
            </a:r>
            <a:r>
              <a:rPr dirty="0" sz="1400" spc="-25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dirty="0" sz="1400">
                <a:solidFill>
                  <a:srgbClr val="231F20"/>
                </a:solidFill>
                <a:latin typeface="Arial"/>
                <a:cs typeface="Arial"/>
              </a:rPr>
              <a:t>Emails</a:t>
            </a:r>
            <a:r>
              <a:rPr dirty="0" sz="14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00" spc="185">
                <a:solidFill>
                  <a:srgbClr val="231F20"/>
                </a:solidFill>
                <a:latin typeface="Arial"/>
                <a:cs typeface="Arial"/>
              </a:rPr>
              <a:t>–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WIRED,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03.17.16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" y="6997230"/>
            <a:ext cx="2625725" cy="582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500"/>
              </a:lnSpc>
            </a:pPr>
            <a:r>
              <a:rPr dirty="0" sz="1400" spc="-2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400" spc="5">
                <a:solidFill>
                  <a:srgbClr val="231F20"/>
                </a:solidFill>
                <a:latin typeface="Arial"/>
                <a:cs typeface="Arial"/>
              </a:rPr>
              <a:t>Next </a:t>
            </a:r>
            <a:r>
              <a:rPr dirty="0" sz="1400" spc="-45">
                <a:solidFill>
                  <a:srgbClr val="231F20"/>
                </a:solidFill>
                <a:latin typeface="Arial"/>
                <a:cs typeface="Arial"/>
              </a:rPr>
              <a:t>Wave </a:t>
            </a:r>
            <a:r>
              <a:rPr dirty="0" sz="1400" spc="-25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400" spc="-5">
                <a:solidFill>
                  <a:srgbClr val="231F20"/>
                </a:solidFill>
                <a:latin typeface="Arial"/>
                <a:cs typeface="Arial"/>
              </a:rPr>
              <a:t>Enterprise  </a:t>
            </a:r>
            <a:r>
              <a:rPr dirty="0" sz="1400" spc="15">
                <a:solidFill>
                  <a:srgbClr val="231F20"/>
                </a:solidFill>
                <a:latin typeface="Arial"/>
                <a:cs typeface="Arial"/>
              </a:rPr>
              <a:t>Software </a:t>
            </a:r>
            <a:r>
              <a:rPr dirty="0" sz="1400" spc="-10">
                <a:solidFill>
                  <a:srgbClr val="231F20"/>
                </a:solidFill>
                <a:latin typeface="Arial"/>
                <a:cs typeface="Arial"/>
              </a:rPr>
              <a:t>Powered </a:t>
            </a:r>
            <a:r>
              <a:rPr dirty="0" sz="1400" spc="-20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Machine  </a:t>
            </a:r>
            <a:r>
              <a:rPr dirty="0" sz="1400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400" spc="185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dirty="0" sz="14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TechCrunch,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Jul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27,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313" y="7751549"/>
            <a:ext cx="2598420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(ML)….you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can’t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ignore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buzz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around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days. 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conference you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attend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people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waxing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eloquent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future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IT.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Tech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magazines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seem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ﬁshing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063" y="5294251"/>
            <a:ext cx="261429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reasons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write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another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article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around  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possibilities.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adding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buzz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launch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email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Inbox.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7063" y="6627751"/>
            <a:ext cx="2627630" cy="1156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Before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compare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public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mega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and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mainstreaming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powerful tech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everyone,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everywhere,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let’s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under-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stand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(ML)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does: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7063" y="7961251"/>
            <a:ext cx="262572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science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recognizing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patterns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sets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making predictions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mining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Big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Data.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applications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wide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070" y="1442087"/>
            <a:ext cx="246888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generate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predictive 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prescriptive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insights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guide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deci-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sion-making.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algorithms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improve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use.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070" y="2394587"/>
            <a:ext cx="255714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powering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many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ranging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recommendation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engines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Netflix,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Youtube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Smart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Reply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feature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Gmail.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891" y="3352241"/>
            <a:ext cx="2630805" cy="867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46355" marR="39370">
              <a:lnSpc>
                <a:spcPct val="100000"/>
              </a:lnSpc>
            </a:pPr>
            <a:r>
              <a:rPr dirty="0" sz="1400" spc="50" i="1">
                <a:solidFill>
                  <a:srgbClr val="2C99CF"/>
                </a:solidFill>
                <a:latin typeface="Calibri"/>
                <a:cs typeface="Calibri"/>
              </a:rPr>
              <a:t>Looks </a:t>
            </a:r>
            <a:r>
              <a:rPr dirty="0" sz="1400" spc="-10" i="1">
                <a:solidFill>
                  <a:srgbClr val="2C99CF"/>
                </a:solidFill>
                <a:latin typeface="Calibri"/>
                <a:cs typeface="Calibri"/>
              </a:rPr>
              <a:t>like </a:t>
            </a:r>
            <a:r>
              <a:rPr dirty="0" sz="1400" spc="15" i="1">
                <a:solidFill>
                  <a:srgbClr val="2C99CF"/>
                </a:solidFill>
                <a:latin typeface="Calibri"/>
                <a:cs typeface="Calibri"/>
              </a:rPr>
              <a:t>machine </a:t>
            </a:r>
            <a:r>
              <a:rPr dirty="0" sz="1400" spc="-10" i="1">
                <a:solidFill>
                  <a:srgbClr val="2C99CF"/>
                </a:solidFill>
                <a:latin typeface="Calibri"/>
                <a:cs typeface="Calibri"/>
              </a:rPr>
              <a:t>learning </a:t>
            </a:r>
            <a:r>
              <a:rPr dirty="0" sz="1400" spc="-1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be 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400" spc="20" i="1">
                <a:solidFill>
                  <a:srgbClr val="2C99CF"/>
                </a:solidFill>
                <a:latin typeface="Calibri"/>
                <a:cs typeface="Calibri"/>
              </a:rPr>
              <a:t>magic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potion</a:t>
            </a:r>
            <a:r>
              <a:rPr dirty="0" sz="1400" spc="-55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400" spc="-15" i="1">
                <a:solidFill>
                  <a:srgbClr val="2C99CF"/>
                </a:solidFill>
                <a:latin typeface="Calibri"/>
                <a:cs typeface="Calibri"/>
              </a:rPr>
              <a:t>that</a:t>
            </a:r>
            <a:endParaRPr sz="14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1400" spc="55" i="1">
                <a:solidFill>
                  <a:srgbClr val="2C99CF"/>
                </a:solidFill>
                <a:latin typeface="Calibri"/>
                <a:cs typeface="Calibri"/>
              </a:rPr>
              <a:t>spices </a:t>
            </a: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up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next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wave </a:t>
            </a: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of </a:t>
            </a:r>
            <a:r>
              <a:rPr dirty="0" sz="1400" spc="30" i="1">
                <a:solidFill>
                  <a:srgbClr val="2C99CF"/>
                </a:solidFill>
                <a:latin typeface="Calibri"/>
                <a:cs typeface="Calibri"/>
              </a:rPr>
              <a:t>apps</a:t>
            </a:r>
            <a:r>
              <a:rPr dirty="0" sz="1400" spc="-5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we  </a:t>
            </a:r>
            <a:r>
              <a:rPr dirty="0" sz="1400" spc="20" i="1">
                <a:solidFill>
                  <a:srgbClr val="2C99CF"/>
                </a:solidFill>
                <a:latin typeface="Calibri"/>
                <a:cs typeface="Calibri"/>
              </a:rPr>
              <a:t>use.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4868" y="4419041"/>
            <a:ext cx="2568575" cy="440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Now </a:t>
            </a:r>
            <a:r>
              <a:rPr dirty="0" sz="1400" spc="5">
                <a:solidFill>
                  <a:srgbClr val="202020"/>
                </a:solidFill>
                <a:latin typeface="Arial"/>
                <a:cs typeface="Arial"/>
              </a:rPr>
              <a:t>let’s </a:t>
            </a: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compare </a:t>
            </a:r>
            <a:r>
              <a:rPr dirty="0" sz="1400" spc="-65">
                <a:solidFill>
                  <a:srgbClr val="202020"/>
                </a:solidFill>
                <a:latin typeface="Arial"/>
                <a:cs typeface="Arial"/>
              </a:rPr>
              <a:t>AWS </a:t>
            </a:r>
            <a:r>
              <a:rPr dirty="0" sz="1400" spc="5">
                <a:solidFill>
                  <a:srgbClr val="202020"/>
                </a:solidFill>
                <a:latin typeface="Arial"/>
                <a:cs typeface="Arial"/>
              </a:rPr>
              <a:t>and  </a:t>
            </a:r>
            <a:r>
              <a:rPr dirty="0" sz="1400" spc="-100">
                <a:solidFill>
                  <a:srgbClr val="202020"/>
                </a:solidFill>
                <a:latin typeface="Arial"/>
                <a:cs typeface="Arial"/>
              </a:rPr>
              <a:t>GCP </a:t>
            </a:r>
            <a:r>
              <a:rPr dirty="0" sz="1400" spc="15">
                <a:solidFill>
                  <a:srgbClr val="202020"/>
                </a:solidFill>
                <a:latin typeface="Arial"/>
                <a:cs typeface="Arial"/>
              </a:rPr>
              <a:t>Machine </a:t>
            </a: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learning</a:t>
            </a:r>
            <a:r>
              <a:rPr dirty="0" sz="1400" spc="-10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202020"/>
                </a:solidFill>
                <a:latin typeface="Arial"/>
                <a:cs typeface="Arial"/>
              </a:rPr>
              <a:t>Services: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70" y="5031120"/>
            <a:ext cx="262001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launched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April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2015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existing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customers.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070" y="5798261"/>
            <a:ext cx="2396490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202020"/>
                </a:solidFill>
                <a:latin typeface="Arial"/>
                <a:cs typeface="Arial"/>
              </a:rPr>
              <a:t>Some </a:t>
            </a:r>
            <a:r>
              <a:rPr dirty="0" sz="1400" spc="15">
                <a:solidFill>
                  <a:srgbClr val="202020"/>
                </a:solidFill>
                <a:latin typeface="Arial"/>
                <a:cs typeface="Arial"/>
              </a:rPr>
              <a:t>features </a:t>
            </a:r>
            <a:r>
              <a:rPr dirty="0" sz="1400" spc="50">
                <a:solidFill>
                  <a:srgbClr val="202020"/>
                </a:solidFill>
                <a:latin typeface="Arial"/>
                <a:cs typeface="Arial"/>
              </a:rPr>
              <a:t>of</a:t>
            </a:r>
            <a:r>
              <a:rPr dirty="0" sz="1400" spc="-26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5">
                <a:solidFill>
                  <a:srgbClr val="202020"/>
                </a:solidFill>
                <a:latin typeface="Arial"/>
                <a:cs typeface="Arial"/>
              </a:rPr>
              <a:t>Amazon </a:t>
            </a:r>
            <a:r>
              <a:rPr dirty="0" sz="1400" spc="15">
                <a:solidFill>
                  <a:srgbClr val="202020"/>
                </a:solidFill>
                <a:latin typeface="Arial"/>
                <a:cs typeface="Arial"/>
              </a:rPr>
              <a:t>ML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070" y="6196980"/>
            <a:ext cx="256095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includes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wizard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helps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those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little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no-prior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intro-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duction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get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started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070" y="7149479"/>
            <a:ext cx="260604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designed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work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Redshift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S3.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user  you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ﬁrst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need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move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070" y="8292479"/>
            <a:ext cx="227965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3.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limited data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cleaning 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transformation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capabilities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936" y="1463131"/>
            <a:ext cx="263461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currently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doesn’t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 extension/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creation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algorithms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has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limited settings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tuning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algo-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rithm for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optimization.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6936" y="2415631"/>
            <a:ext cx="252984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5.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supports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evalua-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tion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algorithms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using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performance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metrics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7000" y="3182759"/>
            <a:ext cx="2416810" cy="440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Now </a:t>
            </a:r>
            <a:r>
              <a:rPr dirty="0" sz="1400" spc="5">
                <a:solidFill>
                  <a:srgbClr val="202020"/>
                </a:solidFill>
                <a:latin typeface="Arial"/>
                <a:cs typeface="Arial"/>
              </a:rPr>
              <a:t>let’s </a:t>
            </a:r>
            <a:r>
              <a:rPr dirty="0" sz="1400" spc="-15">
                <a:solidFill>
                  <a:srgbClr val="202020"/>
                </a:solidFill>
                <a:latin typeface="Arial"/>
                <a:cs typeface="Arial"/>
              </a:rPr>
              <a:t>see </a:t>
            </a:r>
            <a:r>
              <a:rPr dirty="0" sz="1400" spc="35">
                <a:solidFill>
                  <a:srgbClr val="202020"/>
                </a:solidFill>
                <a:latin typeface="Arial"/>
                <a:cs typeface="Arial"/>
              </a:rPr>
              <a:t>what</a:t>
            </a:r>
            <a:r>
              <a:rPr dirty="0" sz="1400" spc="-254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-15">
                <a:solidFill>
                  <a:srgbClr val="202020"/>
                </a:solidFill>
                <a:latin typeface="Arial"/>
                <a:cs typeface="Arial"/>
              </a:rPr>
              <a:t>Google </a:t>
            </a:r>
            <a:r>
              <a:rPr dirty="0" sz="1400" spc="20">
                <a:solidFill>
                  <a:srgbClr val="202020"/>
                </a:solidFill>
                <a:latin typeface="Arial"/>
                <a:cs typeface="Arial"/>
              </a:rPr>
              <a:t>did  </a:t>
            </a:r>
            <a:r>
              <a:rPr dirty="0" sz="1400" spc="35">
                <a:solidFill>
                  <a:srgbClr val="202020"/>
                </a:solidFill>
                <a:latin typeface="Arial"/>
                <a:cs typeface="Arial"/>
              </a:rPr>
              <a:t>for </a:t>
            </a:r>
            <a:r>
              <a:rPr dirty="0" sz="1400" spc="25">
                <a:solidFill>
                  <a:srgbClr val="202020"/>
                </a:solidFill>
                <a:latin typeface="Arial"/>
                <a:cs typeface="Arial"/>
              </a:rPr>
              <a:t>cloud </a:t>
            </a:r>
            <a:r>
              <a:rPr dirty="0" sz="1400" spc="15">
                <a:solidFill>
                  <a:srgbClr val="202020"/>
                </a:solidFill>
                <a:latin typeface="Arial"/>
                <a:cs typeface="Arial"/>
              </a:rPr>
              <a:t>machine</a:t>
            </a:r>
            <a:r>
              <a:rPr dirty="0" sz="1400" spc="-23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202020"/>
                </a:solidFill>
                <a:latin typeface="Arial"/>
                <a:cs typeface="Arial"/>
              </a:rPr>
              <a:t>learning…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7000" y="3817698"/>
            <a:ext cx="2590165" cy="2299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32384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launched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NEXT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conference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2016.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include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Prediction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API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pre-trained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Vision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API,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Speech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API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Translate 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API.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also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open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sourced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technology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powers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over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world.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TensorFlow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library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 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 sophisticated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algorithms.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000" y="6310876"/>
            <a:ext cx="2633345" cy="997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699770">
              <a:lnSpc>
                <a:spcPct val="104800"/>
              </a:lnSpc>
            </a:pP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Google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Machine  </a:t>
            </a:r>
            <a:r>
              <a:rPr dirty="0" sz="1850" spc="5">
                <a:solidFill>
                  <a:srgbClr val="2C99CF"/>
                </a:solidFill>
                <a:latin typeface="Arial"/>
                <a:cs typeface="Arial"/>
              </a:rPr>
              <a:t>Learning</a:t>
            </a:r>
            <a:r>
              <a:rPr dirty="0" sz="1850" spc="-13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Platform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00" spc="-20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4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35">
                <a:solidFill>
                  <a:srgbClr val="202020"/>
                </a:solidFill>
                <a:latin typeface="Arial"/>
                <a:cs typeface="Arial"/>
              </a:rPr>
              <a:t>platform</a:t>
            </a:r>
            <a:r>
              <a:rPr dirty="0" sz="1400" spc="-4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has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202020"/>
                </a:solidFill>
                <a:latin typeface="Arial"/>
                <a:cs typeface="Arial"/>
              </a:rPr>
              <a:t>two</a:t>
            </a:r>
            <a:r>
              <a:rPr dirty="0" sz="14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25">
                <a:solidFill>
                  <a:srgbClr val="202020"/>
                </a:solidFill>
                <a:latin typeface="Arial"/>
                <a:cs typeface="Arial"/>
              </a:rPr>
              <a:t>main</a:t>
            </a:r>
            <a:r>
              <a:rPr dirty="0" sz="1400" spc="-55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25">
                <a:solidFill>
                  <a:srgbClr val="202020"/>
                </a:solidFill>
                <a:latin typeface="Arial"/>
                <a:cs typeface="Arial"/>
              </a:rPr>
              <a:t>parts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000" y="7479731"/>
            <a:ext cx="248475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One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000" y="8051231"/>
            <a:ext cx="1980564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Another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pre-trained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330" y="1465023"/>
            <a:ext cx="5815965" cy="308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developers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easy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309245">
              <a:lnSpc>
                <a:spcPct val="104200"/>
              </a:lnSpc>
              <a:spcBef>
                <a:spcPts val="5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Developers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access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Dataflow,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Bigquery,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Dataproc,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Datalab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train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algorithms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202020"/>
                </a:solidFill>
                <a:latin typeface="Arial"/>
                <a:cs typeface="Arial"/>
              </a:rPr>
              <a:t>Some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202020"/>
                </a:solidFill>
                <a:latin typeface="Arial"/>
                <a:cs typeface="Arial"/>
              </a:rPr>
              <a:t>of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02020"/>
                </a:solidFill>
                <a:latin typeface="Arial"/>
                <a:cs typeface="Arial"/>
              </a:rPr>
              <a:t>pre-trained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202020"/>
                </a:solidFill>
                <a:latin typeface="Arial"/>
                <a:cs typeface="Arial"/>
              </a:rPr>
              <a:t>models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15">
                <a:solidFill>
                  <a:srgbClr val="202020"/>
                </a:solidFill>
                <a:latin typeface="Arial"/>
                <a:cs typeface="Arial"/>
              </a:rPr>
              <a:t>offered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202020"/>
                </a:solidFill>
                <a:latin typeface="Arial"/>
                <a:cs typeface="Arial"/>
              </a:rPr>
              <a:t>on</a:t>
            </a: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400" spc="-155">
                <a:solidFill>
                  <a:srgbClr val="202020"/>
                </a:solidFill>
                <a:latin typeface="Arial"/>
                <a:cs typeface="Arial"/>
              </a:rPr>
              <a:t>GCP: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382905" indent="-370205">
              <a:lnSpc>
                <a:spcPct val="100000"/>
              </a:lnSpc>
              <a:buChar char="·"/>
              <a:tabLst>
                <a:tab pos="382905" algn="l"/>
                <a:tab pos="383540" algn="l"/>
              </a:tabLst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Vision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31F20"/>
              </a:buClr>
              <a:buFont typeface="Arial"/>
              <a:buChar char="·"/>
            </a:pPr>
            <a:endParaRPr sz="1350">
              <a:latin typeface="Times New Roman"/>
              <a:cs typeface="Times New Roman"/>
            </a:endParaRPr>
          </a:p>
          <a:p>
            <a:pPr marL="382905" indent="-370205">
              <a:lnSpc>
                <a:spcPct val="100000"/>
              </a:lnSpc>
              <a:buChar char="·"/>
              <a:tabLst>
                <a:tab pos="382905" algn="l"/>
                <a:tab pos="383540" algn="l"/>
              </a:tabLst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Translate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31F20"/>
              </a:buClr>
              <a:buFont typeface="Arial"/>
              <a:buChar char="·"/>
            </a:pPr>
            <a:endParaRPr sz="1350">
              <a:latin typeface="Times New Roman"/>
              <a:cs typeface="Times New Roman"/>
            </a:endParaRPr>
          </a:p>
          <a:p>
            <a:pPr marL="382905" indent="-370205">
              <a:lnSpc>
                <a:spcPct val="100000"/>
              </a:lnSpc>
              <a:buChar char="·"/>
              <a:tabLst>
                <a:tab pos="382905" algn="l"/>
                <a:tab pos="383540" algn="l"/>
              </a:tabLst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Speech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253365">
              <a:lnSpc>
                <a:spcPct val="104200"/>
              </a:lnSpc>
              <a:spcBef>
                <a:spcPts val="5"/>
              </a:spcBef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Several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atop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pre-trained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models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already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being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launched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cus-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tomers.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933" y="5446217"/>
            <a:ext cx="5587365" cy="1691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</a:pPr>
            <a:r>
              <a:rPr dirty="0" sz="2200" spc="5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95" i="1">
                <a:solidFill>
                  <a:srgbClr val="2C99CF"/>
                </a:solidFill>
                <a:latin typeface="Calibri"/>
                <a:cs typeface="Calibri"/>
              </a:rPr>
              <a:t>Buzz seems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real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and </a:t>
            </a:r>
            <a:r>
              <a:rPr dirty="0" sz="2200" spc="40" i="1">
                <a:solidFill>
                  <a:srgbClr val="2C99CF"/>
                </a:solidFill>
                <a:latin typeface="Calibri"/>
                <a:cs typeface="Calibri"/>
              </a:rPr>
              <a:t>looks 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like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Machine 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Learning </a:t>
            </a:r>
            <a:r>
              <a:rPr dirty="0" sz="2200" spc="85" i="1">
                <a:solidFill>
                  <a:srgbClr val="2C99CF"/>
                </a:solidFill>
                <a:latin typeface="Calibri"/>
                <a:cs typeface="Calibri"/>
              </a:rPr>
              <a:t>as </a:t>
            </a:r>
            <a:r>
              <a:rPr dirty="0" sz="2200" spc="-20" i="1">
                <a:solidFill>
                  <a:srgbClr val="2C99CF"/>
                </a:solidFill>
                <a:latin typeface="Calibri"/>
                <a:cs typeface="Calibri"/>
              </a:rPr>
              <a:t>a </a:t>
            </a:r>
            <a:r>
              <a:rPr dirty="0" sz="2200" spc="55" i="1">
                <a:solidFill>
                  <a:srgbClr val="2C99CF"/>
                </a:solidFill>
                <a:latin typeface="Calibri"/>
                <a:cs typeface="Calibri"/>
              </a:rPr>
              <a:t>Service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will 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drive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next </a:t>
            </a:r>
            <a:r>
              <a:rPr dirty="0" sz="2200" i="1">
                <a:solidFill>
                  <a:srgbClr val="2C99CF"/>
                </a:solidFill>
                <a:latin typeface="Calibri"/>
                <a:cs typeface="Calibri"/>
              </a:rPr>
              <a:t>round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of  enterprise </a:t>
            </a:r>
            <a:r>
              <a:rPr dirty="0" sz="2200" spc="30" i="1">
                <a:solidFill>
                  <a:srgbClr val="2C99CF"/>
                </a:solidFill>
                <a:latin typeface="Calibri"/>
                <a:cs typeface="Calibri"/>
              </a:rPr>
              <a:t>cloud 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adoption. </a:t>
            </a:r>
            <a:r>
              <a:rPr dirty="0" sz="2200" spc="5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2200" spc="80" i="1">
                <a:solidFill>
                  <a:srgbClr val="2C99CF"/>
                </a:solidFill>
                <a:latin typeface="Calibri"/>
                <a:cs typeface="Calibri"/>
              </a:rPr>
              <a:t>is </a:t>
            </a:r>
            <a:r>
              <a:rPr dirty="0" sz="22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clear  </a:t>
            </a:r>
            <a:r>
              <a:rPr dirty="0" sz="2200" spc="-15" i="1">
                <a:solidFill>
                  <a:srgbClr val="2C99CF"/>
                </a:solidFill>
                <a:latin typeface="Calibri"/>
                <a:cs typeface="Calibri"/>
              </a:rPr>
              <a:t>frontrunner </a:t>
            </a:r>
            <a:r>
              <a:rPr dirty="0" sz="2200" spc="25" i="1">
                <a:solidFill>
                  <a:srgbClr val="2C99CF"/>
                </a:solidFill>
                <a:latin typeface="Calibri"/>
                <a:cs typeface="Calibri"/>
              </a:rPr>
              <a:t>vis-à-vis </a:t>
            </a:r>
            <a:r>
              <a:rPr dirty="0" sz="2200" spc="-25" i="1">
                <a:solidFill>
                  <a:srgbClr val="2C99CF"/>
                </a:solidFill>
                <a:latin typeface="Calibri"/>
                <a:cs typeface="Calibri"/>
              </a:rPr>
              <a:t>rival </a:t>
            </a:r>
            <a:r>
              <a:rPr dirty="0" sz="2200" spc="35" i="1">
                <a:solidFill>
                  <a:srgbClr val="2C99CF"/>
                </a:solidFill>
                <a:latin typeface="Calibri"/>
                <a:cs typeface="Calibri"/>
              </a:rPr>
              <a:t>Amazon </a:t>
            </a:r>
            <a:r>
              <a:rPr dirty="0" sz="2200" spc="-10" i="1">
                <a:solidFill>
                  <a:srgbClr val="2C99CF"/>
                </a:solidFill>
                <a:latin typeface="Calibri"/>
                <a:cs typeface="Calibri"/>
              </a:rPr>
              <a:t>in </a:t>
            </a:r>
            <a:r>
              <a:rPr dirty="0" sz="2200" spc="10" i="1">
                <a:solidFill>
                  <a:srgbClr val="2C99CF"/>
                </a:solidFill>
                <a:latin typeface="Calibri"/>
                <a:cs typeface="Calibri"/>
              </a:rPr>
              <a:t>Machine  </a:t>
            </a:r>
            <a:r>
              <a:rPr dirty="0" sz="2200" spc="15" i="1">
                <a:solidFill>
                  <a:srgbClr val="2C99CF"/>
                </a:solidFill>
                <a:latin typeface="Calibri"/>
                <a:cs typeface="Calibri"/>
              </a:rPr>
              <a:t>Learning</a:t>
            </a:r>
            <a:r>
              <a:rPr dirty="0" sz="2200" spc="-6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2200" spc="60" i="1">
                <a:solidFill>
                  <a:srgbClr val="2C99CF"/>
                </a:solidFill>
                <a:latin typeface="Calibri"/>
                <a:cs typeface="Calibri"/>
              </a:rPr>
              <a:t>Services.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0"/>
              <a:t> </a:t>
            </a:r>
            <a:r>
              <a:rPr dirty="0" spc="2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00" y="2082939"/>
            <a:ext cx="4676775" cy="1641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300" spc="-85">
                <a:solidFill>
                  <a:srgbClr val="F5F4F4"/>
                </a:solidFill>
                <a:latin typeface="Arial"/>
                <a:cs typeface="Arial"/>
              </a:rPr>
              <a:t>Why </a:t>
            </a:r>
            <a:r>
              <a:rPr dirty="0" sz="4300" spc="-100">
                <a:solidFill>
                  <a:srgbClr val="F5F4F4"/>
                </a:solidFill>
                <a:latin typeface="Arial"/>
                <a:cs typeface="Arial"/>
              </a:rPr>
              <a:t>Google</a:t>
            </a:r>
            <a:r>
              <a:rPr dirty="0" sz="4300" spc="-27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4300" spc="-135">
                <a:solidFill>
                  <a:srgbClr val="F5F4F4"/>
                </a:solidFill>
                <a:latin typeface="Arial"/>
                <a:cs typeface="Arial"/>
              </a:rPr>
              <a:t>Cloud?</a:t>
            </a:r>
            <a:endParaRPr sz="4300">
              <a:latin typeface="Arial"/>
              <a:cs typeface="Arial"/>
            </a:endParaRPr>
          </a:p>
          <a:p>
            <a:pPr marL="38100" marR="2335530">
              <a:lnSpc>
                <a:spcPct val="100000"/>
              </a:lnSpc>
              <a:spcBef>
                <a:spcPts val="2480"/>
              </a:spcBef>
            </a:pPr>
            <a:r>
              <a:rPr dirty="0" sz="2200" spc="5" i="1">
                <a:solidFill>
                  <a:srgbClr val="F5F4F4"/>
                </a:solidFill>
                <a:latin typeface="Calibri"/>
                <a:cs typeface="Calibri"/>
              </a:rPr>
              <a:t>Hear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what </a:t>
            </a:r>
            <a:r>
              <a:rPr dirty="0" sz="2200" spc="30" i="1">
                <a:solidFill>
                  <a:srgbClr val="F5F4F4"/>
                </a:solidFill>
                <a:latin typeface="Calibri"/>
                <a:cs typeface="Calibri"/>
              </a:rPr>
              <a:t>Spotify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229" i="1">
                <a:solidFill>
                  <a:srgbClr val="F5F4F4"/>
                </a:solidFill>
                <a:latin typeface="Calibri"/>
                <a:cs typeface="Calibri"/>
              </a:rPr>
              <a:t>&amp;  </a:t>
            </a:r>
            <a:r>
              <a:rPr dirty="0" sz="2200" spc="40" i="1">
                <a:solidFill>
                  <a:srgbClr val="F5F4F4"/>
                </a:solidFill>
                <a:latin typeface="Calibri"/>
                <a:cs typeface="Calibri"/>
              </a:rPr>
              <a:t>Snapchat</a:t>
            </a:r>
            <a:r>
              <a:rPr dirty="0" sz="2200" spc="-4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-15" i="1">
                <a:solidFill>
                  <a:srgbClr val="F5F4F4"/>
                </a:solidFill>
                <a:latin typeface="Calibri"/>
                <a:cs typeface="Calibri"/>
              </a:rPr>
              <a:t>say!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3903" y="3677005"/>
            <a:ext cx="1022985" cy="1022350"/>
          </a:xfrm>
          <a:custGeom>
            <a:avLst/>
            <a:gdLst/>
            <a:ahLst/>
            <a:cxnLst/>
            <a:rect l="l" t="t" r="r" b="b"/>
            <a:pathLst>
              <a:path w="1022985" h="1022350">
                <a:moveTo>
                  <a:pt x="511517" y="0"/>
                </a:moveTo>
                <a:lnTo>
                  <a:pt x="463858" y="2184"/>
                </a:lnTo>
                <a:lnTo>
                  <a:pt x="417590" y="8556"/>
                </a:lnTo>
                <a:lnTo>
                  <a:pt x="372876" y="18912"/>
                </a:lnTo>
                <a:lnTo>
                  <a:pt x="329881" y="33049"/>
                </a:lnTo>
                <a:lnTo>
                  <a:pt x="288768" y="50763"/>
                </a:lnTo>
                <a:lnTo>
                  <a:pt x="249700" y="71852"/>
                </a:lnTo>
                <a:lnTo>
                  <a:pt x="212842" y="96113"/>
                </a:lnTo>
                <a:lnTo>
                  <a:pt x="178356" y="123341"/>
                </a:lnTo>
                <a:lnTo>
                  <a:pt x="146407" y="153335"/>
                </a:lnTo>
                <a:lnTo>
                  <a:pt x="117157" y="185890"/>
                </a:lnTo>
                <a:lnTo>
                  <a:pt x="90772" y="220803"/>
                </a:lnTo>
                <a:lnTo>
                  <a:pt x="67413" y="257873"/>
                </a:lnTo>
                <a:lnTo>
                  <a:pt x="47246" y="296894"/>
                </a:lnTo>
                <a:lnTo>
                  <a:pt x="30433" y="337664"/>
                </a:lnTo>
                <a:lnTo>
                  <a:pt x="17138" y="379980"/>
                </a:lnTo>
                <a:lnTo>
                  <a:pt x="7526" y="423639"/>
                </a:lnTo>
                <a:lnTo>
                  <a:pt x="1758" y="468437"/>
                </a:lnTo>
                <a:lnTo>
                  <a:pt x="0" y="514172"/>
                </a:lnTo>
                <a:lnTo>
                  <a:pt x="2631" y="563125"/>
                </a:lnTo>
                <a:lnTo>
                  <a:pt x="9736" y="610759"/>
                </a:lnTo>
                <a:lnTo>
                  <a:pt x="21105" y="656862"/>
                </a:lnTo>
                <a:lnTo>
                  <a:pt x="36531" y="701220"/>
                </a:lnTo>
                <a:lnTo>
                  <a:pt x="55803" y="743621"/>
                </a:lnTo>
                <a:lnTo>
                  <a:pt x="78715" y="783852"/>
                </a:lnTo>
                <a:lnTo>
                  <a:pt x="105056" y="821699"/>
                </a:lnTo>
                <a:lnTo>
                  <a:pt x="134618" y="856950"/>
                </a:lnTo>
                <a:lnTo>
                  <a:pt x="167193" y="889392"/>
                </a:lnTo>
                <a:lnTo>
                  <a:pt x="202571" y="918811"/>
                </a:lnTo>
                <a:lnTo>
                  <a:pt x="240544" y="944996"/>
                </a:lnTo>
                <a:lnTo>
                  <a:pt x="280904" y="967732"/>
                </a:lnTo>
                <a:lnTo>
                  <a:pt x="323440" y="986807"/>
                </a:lnTo>
                <a:lnTo>
                  <a:pt x="367946" y="1002007"/>
                </a:lnTo>
                <a:lnTo>
                  <a:pt x="414211" y="1013121"/>
                </a:lnTo>
                <a:lnTo>
                  <a:pt x="462028" y="1019935"/>
                </a:lnTo>
                <a:lnTo>
                  <a:pt x="511187" y="1022235"/>
                </a:lnTo>
                <a:lnTo>
                  <a:pt x="560499" y="1019877"/>
                </a:lnTo>
                <a:lnTo>
                  <a:pt x="608461" y="1012995"/>
                </a:lnTo>
                <a:lnTo>
                  <a:pt x="654863" y="1001803"/>
                </a:lnTo>
                <a:lnTo>
                  <a:pt x="699494" y="986511"/>
                </a:lnTo>
                <a:lnTo>
                  <a:pt x="742142" y="967331"/>
                </a:lnTo>
                <a:lnTo>
                  <a:pt x="782596" y="944474"/>
                </a:lnTo>
                <a:lnTo>
                  <a:pt x="820644" y="918151"/>
                </a:lnTo>
                <a:lnTo>
                  <a:pt x="856076" y="888574"/>
                </a:lnTo>
                <a:lnTo>
                  <a:pt x="888681" y="855954"/>
                </a:lnTo>
                <a:lnTo>
                  <a:pt x="918246" y="820502"/>
                </a:lnTo>
                <a:lnTo>
                  <a:pt x="927968" y="806437"/>
                </a:lnTo>
                <a:lnTo>
                  <a:pt x="743754" y="806437"/>
                </a:lnTo>
                <a:lnTo>
                  <a:pt x="733168" y="804105"/>
                </a:lnTo>
                <a:lnTo>
                  <a:pt x="722769" y="798537"/>
                </a:lnTo>
                <a:lnTo>
                  <a:pt x="700429" y="783968"/>
                </a:lnTo>
                <a:lnTo>
                  <a:pt x="677403" y="770653"/>
                </a:lnTo>
                <a:lnTo>
                  <a:pt x="653737" y="758488"/>
                </a:lnTo>
                <a:lnTo>
                  <a:pt x="629475" y="747369"/>
                </a:lnTo>
                <a:lnTo>
                  <a:pt x="608335" y="739498"/>
                </a:lnTo>
                <a:lnTo>
                  <a:pt x="235510" y="739498"/>
                </a:lnTo>
                <a:lnTo>
                  <a:pt x="223916" y="739408"/>
                </a:lnTo>
                <a:lnTo>
                  <a:pt x="213089" y="735653"/>
                </a:lnTo>
                <a:lnTo>
                  <a:pt x="203288" y="727684"/>
                </a:lnTo>
                <a:lnTo>
                  <a:pt x="195161" y="713022"/>
                </a:lnTo>
                <a:lnTo>
                  <a:pt x="194398" y="697210"/>
                </a:lnTo>
                <a:lnTo>
                  <a:pt x="200656" y="682646"/>
                </a:lnTo>
                <a:lnTo>
                  <a:pt x="233585" y="662813"/>
                </a:lnTo>
                <a:lnTo>
                  <a:pt x="275408" y="650284"/>
                </a:lnTo>
                <a:lnTo>
                  <a:pt x="327817" y="639849"/>
                </a:lnTo>
                <a:lnTo>
                  <a:pt x="385863" y="633283"/>
                </a:lnTo>
                <a:lnTo>
                  <a:pt x="410667" y="632955"/>
                </a:lnTo>
                <a:lnTo>
                  <a:pt x="806016" y="632955"/>
                </a:lnTo>
                <a:lnTo>
                  <a:pt x="805159" y="632672"/>
                </a:lnTo>
                <a:lnTo>
                  <a:pt x="795934" y="627761"/>
                </a:lnTo>
                <a:lnTo>
                  <a:pt x="748795" y="601073"/>
                </a:lnTo>
                <a:lnTo>
                  <a:pt x="700028" y="578234"/>
                </a:lnTo>
                <a:lnTo>
                  <a:pt x="649621" y="559295"/>
                </a:lnTo>
                <a:lnTo>
                  <a:pt x="646878" y="558505"/>
                </a:lnTo>
                <a:lnTo>
                  <a:pt x="194222" y="558505"/>
                </a:lnTo>
                <a:lnTo>
                  <a:pt x="179766" y="555728"/>
                </a:lnTo>
                <a:lnTo>
                  <a:pt x="167594" y="548314"/>
                </a:lnTo>
                <a:lnTo>
                  <a:pt x="158534" y="536765"/>
                </a:lnTo>
                <a:lnTo>
                  <a:pt x="153806" y="522980"/>
                </a:lnTo>
                <a:lnTo>
                  <a:pt x="154152" y="509190"/>
                </a:lnTo>
                <a:lnTo>
                  <a:pt x="177745" y="478597"/>
                </a:lnTo>
                <a:lnTo>
                  <a:pt x="247322" y="459006"/>
                </a:lnTo>
                <a:lnTo>
                  <a:pt x="289793" y="450737"/>
                </a:lnTo>
                <a:lnTo>
                  <a:pt x="332718" y="445032"/>
                </a:lnTo>
                <a:lnTo>
                  <a:pt x="376097" y="441845"/>
                </a:lnTo>
                <a:lnTo>
                  <a:pt x="414866" y="440068"/>
                </a:lnTo>
                <a:lnTo>
                  <a:pt x="430542" y="439635"/>
                </a:lnTo>
                <a:lnTo>
                  <a:pt x="838832" y="439635"/>
                </a:lnTo>
                <a:lnTo>
                  <a:pt x="829716" y="434665"/>
                </a:lnTo>
                <a:lnTo>
                  <a:pt x="784495" y="413184"/>
                </a:lnTo>
                <a:lnTo>
                  <a:pt x="738212" y="394333"/>
                </a:lnTo>
                <a:lnTo>
                  <a:pt x="690860" y="378143"/>
                </a:lnTo>
                <a:lnTo>
                  <a:pt x="680177" y="375165"/>
                </a:lnTo>
                <a:lnTo>
                  <a:pt x="155973" y="375165"/>
                </a:lnTo>
                <a:lnTo>
                  <a:pt x="138934" y="371040"/>
                </a:lnTo>
                <a:lnTo>
                  <a:pt x="125139" y="361223"/>
                </a:lnTo>
                <a:lnTo>
                  <a:pt x="115785" y="346354"/>
                </a:lnTo>
                <a:lnTo>
                  <a:pt x="112555" y="327113"/>
                </a:lnTo>
                <a:lnTo>
                  <a:pt x="117352" y="309022"/>
                </a:lnTo>
                <a:lnTo>
                  <a:pt x="148018" y="284226"/>
                </a:lnTo>
                <a:lnTo>
                  <a:pt x="219059" y="266050"/>
                </a:lnTo>
                <a:lnTo>
                  <a:pt x="291528" y="254266"/>
                </a:lnTo>
                <a:lnTo>
                  <a:pt x="358408" y="247727"/>
                </a:lnTo>
                <a:lnTo>
                  <a:pt x="425564" y="245541"/>
                </a:lnTo>
                <a:lnTo>
                  <a:pt x="947552" y="245541"/>
                </a:lnTo>
                <a:lnTo>
                  <a:pt x="944642" y="240399"/>
                </a:lnTo>
                <a:lnTo>
                  <a:pt x="918286" y="202321"/>
                </a:lnTo>
                <a:lnTo>
                  <a:pt x="888676" y="166828"/>
                </a:lnTo>
                <a:lnTo>
                  <a:pt x="856031" y="134140"/>
                </a:lnTo>
                <a:lnTo>
                  <a:pt x="820565" y="104476"/>
                </a:lnTo>
                <a:lnTo>
                  <a:pt x="782496" y="78057"/>
                </a:lnTo>
                <a:lnTo>
                  <a:pt x="742040" y="55102"/>
                </a:lnTo>
                <a:lnTo>
                  <a:pt x="699412" y="35832"/>
                </a:lnTo>
                <a:lnTo>
                  <a:pt x="654830" y="20467"/>
                </a:lnTo>
                <a:lnTo>
                  <a:pt x="608509" y="9226"/>
                </a:lnTo>
                <a:lnTo>
                  <a:pt x="560666" y="2331"/>
                </a:lnTo>
                <a:lnTo>
                  <a:pt x="511517" y="0"/>
                </a:lnTo>
                <a:close/>
              </a:path>
              <a:path w="1022985" h="1022350">
                <a:moveTo>
                  <a:pt x="806016" y="632955"/>
                </a:moveTo>
                <a:lnTo>
                  <a:pt x="410667" y="632955"/>
                </a:lnTo>
                <a:lnTo>
                  <a:pt x="466743" y="634783"/>
                </a:lnTo>
                <a:lnTo>
                  <a:pt x="520278" y="640864"/>
                </a:lnTo>
                <a:lnTo>
                  <a:pt x="571498" y="651148"/>
                </a:lnTo>
                <a:lnTo>
                  <a:pt x="620632" y="665583"/>
                </a:lnTo>
                <a:lnTo>
                  <a:pt x="667906" y="684118"/>
                </a:lnTo>
                <a:lnTo>
                  <a:pt x="713548" y="706703"/>
                </a:lnTo>
                <a:lnTo>
                  <a:pt x="757783" y="733285"/>
                </a:lnTo>
                <a:lnTo>
                  <a:pt x="782180" y="764235"/>
                </a:lnTo>
                <a:lnTo>
                  <a:pt x="782116" y="775284"/>
                </a:lnTo>
                <a:lnTo>
                  <a:pt x="754443" y="805320"/>
                </a:lnTo>
                <a:lnTo>
                  <a:pt x="743754" y="806437"/>
                </a:lnTo>
                <a:lnTo>
                  <a:pt x="927968" y="806437"/>
                </a:lnTo>
                <a:lnTo>
                  <a:pt x="967414" y="741951"/>
                </a:lnTo>
                <a:lnTo>
                  <a:pt x="986594" y="699273"/>
                </a:lnTo>
                <a:lnTo>
                  <a:pt x="1001891" y="654610"/>
                </a:lnTo>
                <a:lnTo>
                  <a:pt x="1006219" y="636665"/>
                </a:lnTo>
                <a:lnTo>
                  <a:pt x="824496" y="636665"/>
                </a:lnTo>
                <a:lnTo>
                  <a:pt x="814655" y="635809"/>
                </a:lnTo>
                <a:lnTo>
                  <a:pt x="806016" y="632955"/>
                </a:lnTo>
                <a:close/>
              </a:path>
              <a:path w="1022985" h="1022350">
                <a:moveTo>
                  <a:pt x="433294" y="706250"/>
                </a:moveTo>
                <a:lnTo>
                  <a:pt x="382498" y="707517"/>
                </a:lnTo>
                <a:lnTo>
                  <a:pt x="314140" y="717246"/>
                </a:lnTo>
                <a:lnTo>
                  <a:pt x="247611" y="736472"/>
                </a:lnTo>
                <a:lnTo>
                  <a:pt x="235510" y="739498"/>
                </a:lnTo>
                <a:lnTo>
                  <a:pt x="608335" y="739498"/>
                </a:lnTo>
                <a:lnTo>
                  <a:pt x="581629" y="729555"/>
                </a:lnTo>
                <a:lnTo>
                  <a:pt x="532934" y="716966"/>
                </a:lnTo>
                <a:lnTo>
                  <a:pt x="483465" y="709299"/>
                </a:lnTo>
                <a:lnTo>
                  <a:pt x="433294" y="706250"/>
                </a:lnTo>
                <a:close/>
              </a:path>
              <a:path w="1022985" h="1022350">
                <a:moveTo>
                  <a:pt x="838832" y="439635"/>
                </a:moveTo>
                <a:lnTo>
                  <a:pt x="430542" y="439635"/>
                </a:lnTo>
                <a:lnTo>
                  <a:pt x="476805" y="441462"/>
                </a:lnTo>
                <a:lnTo>
                  <a:pt x="523141" y="445956"/>
                </a:lnTo>
                <a:lnTo>
                  <a:pt x="569429" y="453178"/>
                </a:lnTo>
                <a:lnTo>
                  <a:pt x="615554" y="463186"/>
                </a:lnTo>
                <a:lnTo>
                  <a:pt x="661397" y="476038"/>
                </a:lnTo>
                <a:lnTo>
                  <a:pt x="706839" y="491795"/>
                </a:lnTo>
                <a:lnTo>
                  <a:pt x="751763" y="510514"/>
                </a:lnTo>
                <a:lnTo>
                  <a:pt x="797625" y="533069"/>
                </a:lnTo>
                <a:lnTo>
                  <a:pt x="841971" y="558368"/>
                </a:lnTo>
                <a:lnTo>
                  <a:pt x="864184" y="599795"/>
                </a:lnTo>
                <a:lnTo>
                  <a:pt x="860986" y="611800"/>
                </a:lnTo>
                <a:lnTo>
                  <a:pt x="854900" y="621688"/>
                </a:lnTo>
                <a:lnTo>
                  <a:pt x="846099" y="629365"/>
                </a:lnTo>
                <a:lnTo>
                  <a:pt x="834758" y="634733"/>
                </a:lnTo>
                <a:lnTo>
                  <a:pt x="824496" y="636665"/>
                </a:lnTo>
                <a:lnTo>
                  <a:pt x="1006219" y="636665"/>
                </a:lnTo>
                <a:lnTo>
                  <a:pt x="1013091" y="608172"/>
                </a:lnTo>
                <a:lnTo>
                  <a:pt x="1019986" y="560172"/>
                </a:lnTo>
                <a:lnTo>
                  <a:pt x="1022362" y="510819"/>
                </a:lnTo>
                <a:lnTo>
                  <a:pt x="1020242" y="465644"/>
                </a:lnTo>
                <a:lnTo>
                  <a:pt x="892850" y="465644"/>
                </a:lnTo>
                <a:lnTo>
                  <a:pt x="873887" y="458749"/>
                </a:lnTo>
                <a:lnTo>
                  <a:pt x="838832" y="439635"/>
                </a:lnTo>
                <a:close/>
              </a:path>
              <a:path w="1022985" h="1022350">
                <a:moveTo>
                  <a:pt x="448339" y="523669"/>
                </a:moveTo>
                <a:lnTo>
                  <a:pt x="397764" y="523862"/>
                </a:lnTo>
                <a:lnTo>
                  <a:pt x="349980" y="527292"/>
                </a:lnTo>
                <a:lnTo>
                  <a:pt x="302825" y="533812"/>
                </a:lnTo>
                <a:lnTo>
                  <a:pt x="256232" y="543429"/>
                </a:lnTo>
                <a:lnTo>
                  <a:pt x="210134" y="556145"/>
                </a:lnTo>
                <a:lnTo>
                  <a:pt x="194222" y="558505"/>
                </a:lnTo>
                <a:lnTo>
                  <a:pt x="646878" y="558505"/>
                </a:lnTo>
                <a:lnTo>
                  <a:pt x="597560" y="544309"/>
                </a:lnTo>
                <a:lnTo>
                  <a:pt x="548177" y="533936"/>
                </a:lnTo>
                <a:lnTo>
                  <a:pt x="498457" y="527042"/>
                </a:lnTo>
                <a:lnTo>
                  <a:pt x="448339" y="523669"/>
                </a:lnTo>
                <a:close/>
              </a:path>
              <a:path w="1022985" h="1022350">
                <a:moveTo>
                  <a:pt x="947552" y="245541"/>
                </a:moveTo>
                <a:lnTo>
                  <a:pt x="425564" y="245541"/>
                </a:lnTo>
                <a:lnTo>
                  <a:pt x="478567" y="247037"/>
                </a:lnTo>
                <a:lnTo>
                  <a:pt x="530975" y="251272"/>
                </a:lnTo>
                <a:lnTo>
                  <a:pt x="582790" y="258242"/>
                </a:lnTo>
                <a:lnTo>
                  <a:pt x="634014" y="267939"/>
                </a:lnTo>
                <a:lnTo>
                  <a:pt x="684649" y="280359"/>
                </a:lnTo>
                <a:lnTo>
                  <a:pt x="734697" y="295496"/>
                </a:lnTo>
                <a:lnTo>
                  <a:pt x="784161" y="313343"/>
                </a:lnTo>
                <a:lnTo>
                  <a:pt x="833043" y="333895"/>
                </a:lnTo>
                <a:lnTo>
                  <a:pt x="877770" y="355379"/>
                </a:lnTo>
                <a:lnTo>
                  <a:pt x="920953" y="379768"/>
                </a:lnTo>
                <a:lnTo>
                  <a:pt x="946361" y="425779"/>
                </a:lnTo>
                <a:lnTo>
                  <a:pt x="940117" y="443280"/>
                </a:lnTo>
                <a:lnTo>
                  <a:pt x="927668" y="457388"/>
                </a:lnTo>
                <a:lnTo>
                  <a:pt x="911345" y="465016"/>
                </a:lnTo>
                <a:lnTo>
                  <a:pt x="892850" y="465644"/>
                </a:lnTo>
                <a:lnTo>
                  <a:pt x="1020242" y="465644"/>
                </a:lnTo>
                <a:lnTo>
                  <a:pt x="1013216" y="414154"/>
                </a:lnTo>
                <a:lnTo>
                  <a:pt x="1002033" y="367939"/>
                </a:lnTo>
                <a:lnTo>
                  <a:pt x="986732" y="323428"/>
                </a:lnTo>
                <a:lnTo>
                  <a:pt x="967530" y="280841"/>
                </a:lnTo>
                <a:lnTo>
                  <a:pt x="947552" y="245541"/>
                </a:lnTo>
                <a:close/>
              </a:path>
              <a:path w="1022985" h="1022350">
                <a:moveTo>
                  <a:pt x="422616" y="337595"/>
                </a:moveTo>
                <a:lnTo>
                  <a:pt x="375873" y="339180"/>
                </a:lnTo>
                <a:lnTo>
                  <a:pt x="329319" y="343129"/>
                </a:lnTo>
                <a:lnTo>
                  <a:pt x="282879" y="348830"/>
                </a:lnTo>
                <a:lnTo>
                  <a:pt x="228611" y="359005"/>
                </a:lnTo>
                <a:lnTo>
                  <a:pt x="175056" y="372960"/>
                </a:lnTo>
                <a:lnTo>
                  <a:pt x="155973" y="375165"/>
                </a:lnTo>
                <a:lnTo>
                  <a:pt x="680177" y="375165"/>
                </a:lnTo>
                <a:lnTo>
                  <a:pt x="642429" y="364642"/>
                </a:lnTo>
                <a:lnTo>
                  <a:pt x="599713" y="355236"/>
                </a:lnTo>
                <a:lnTo>
                  <a:pt x="556677" y="347976"/>
                </a:lnTo>
                <a:lnTo>
                  <a:pt x="513315" y="342636"/>
                </a:lnTo>
                <a:lnTo>
                  <a:pt x="469620" y="338988"/>
                </a:lnTo>
                <a:lnTo>
                  <a:pt x="422616" y="337595"/>
                </a:lnTo>
                <a:close/>
              </a:path>
            </a:pathLst>
          </a:custGeom>
          <a:solidFill>
            <a:srgbClr val="96C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6458" y="3922547"/>
            <a:ext cx="834390" cy="220345"/>
          </a:xfrm>
          <a:custGeom>
            <a:avLst/>
            <a:gdLst/>
            <a:ahLst/>
            <a:cxnLst/>
            <a:rect l="l" t="t" r="r" b="b"/>
            <a:pathLst>
              <a:path w="834389" h="220345">
                <a:moveTo>
                  <a:pt x="728445" y="92046"/>
                </a:moveTo>
                <a:lnTo>
                  <a:pt x="310059" y="92046"/>
                </a:lnTo>
                <a:lnTo>
                  <a:pt x="357065" y="93446"/>
                </a:lnTo>
                <a:lnTo>
                  <a:pt x="400760" y="97094"/>
                </a:lnTo>
                <a:lnTo>
                  <a:pt x="444122" y="102435"/>
                </a:lnTo>
                <a:lnTo>
                  <a:pt x="487158" y="109695"/>
                </a:lnTo>
                <a:lnTo>
                  <a:pt x="529874" y="119100"/>
                </a:lnTo>
                <a:lnTo>
                  <a:pt x="578304" y="132601"/>
                </a:lnTo>
                <a:lnTo>
                  <a:pt x="625653" y="148790"/>
                </a:lnTo>
                <a:lnTo>
                  <a:pt x="671931" y="167639"/>
                </a:lnTo>
                <a:lnTo>
                  <a:pt x="717150" y="189117"/>
                </a:lnTo>
                <a:lnTo>
                  <a:pt x="761319" y="213194"/>
                </a:lnTo>
                <a:lnTo>
                  <a:pt x="780290" y="220095"/>
                </a:lnTo>
                <a:lnTo>
                  <a:pt x="798788" y="219468"/>
                </a:lnTo>
                <a:lnTo>
                  <a:pt x="815113" y="211841"/>
                </a:lnTo>
                <a:lnTo>
                  <a:pt x="827562" y="197739"/>
                </a:lnTo>
                <a:lnTo>
                  <a:pt x="833806" y="180237"/>
                </a:lnTo>
                <a:lnTo>
                  <a:pt x="832529" y="163187"/>
                </a:lnTo>
                <a:lnTo>
                  <a:pt x="787036" y="121590"/>
                </a:lnTo>
                <a:lnTo>
                  <a:pt x="743007" y="98804"/>
                </a:lnTo>
                <a:lnTo>
                  <a:pt x="728445" y="92046"/>
                </a:lnTo>
                <a:close/>
              </a:path>
              <a:path w="834389" h="220345">
                <a:moveTo>
                  <a:pt x="313009" y="0"/>
                </a:moveTo>
                <a:lnTo>
                  <a:pt x="245848" y="2185"/>
                </a:lnTo>
                <a:lnTo>
                  <a:pt x="178973" y="8724"/>
                </a:lnTo>
                <a:lnTo>
                  <a:pt x="106503" y="20508"/>
                </a:lnTo>
                <a:lnTo>
                  <a:pt x="35463" y="38684"/>
                </a:lnTo>
                <a:lnTo>
                  <a:pt x="4797" y="63474"/>
                </a:lnTo>
                <a:lnTo>
                  <a:pt x="0" y="81564"/>
                </a:lnTo>
                <a:lnTo>
                  <a:pt x="3230" y="100799"/>
                </a:lnTo>
                <a:lnTo>
                  <a:pt x="12584" y="115674"/>
                </a:lnTo>
                <a:lnTo>
                  <a:pt x="26378" y="125491"/>
                </a:lnTo>
                <a:lnTo>
                  <a:pt x="43412" y="129617"/>
                </a:lnTo>
                <a:lnTo>
                  <a:pt x="62488" y="127419"/>
                </a:lnTo>
                <a:lnTo>
                  <a:pt x="89196" y="120114"/>
                </a:lnTo>
                <a:lnTo>
                  <a:pt x="116054" y="113461"/>
                </a:lnTo>
                <a:lnTo>
                  <a:pt x="170324" y="103276"/>
                </a:lnTo>
                <a:lnTo>
                  <a:pt x="216758" y="97575"/>
                </a:lnTo>
                <a:lnTo>
                  <a:pt x="263314" y="93627"/>
                </a:lnTo>
                <a:lnTo>
                  <a:pt x="310059" y="92046"/>
                </a:lnTo>
                <a:lnTo>
                  <a:pt x="728445" y="92046"/>
                </a:lnTo>
                <a:lnTo>
                  <a:pt x="720488" y="88353"/>
                </a:lnTo>
                <a:lnTo>
                  <a:pt x="671606" y="67798"/>
                </a:lnTo>
                <a:lnTo>
                  <a:pt x="622140" y="49949"/>
                </a:lnTo>
                <a:lnTo>
                  <a:pt x="572090" y="34812"/>
                </a:lnTo>
                <a:lnTo>
                  <a:pt x="521454" y="22393"/>
                </a:lnTo>
                <a:lnTo>
                  <a:pt x="470229" y="12697"/>
                </a:lnTo>
                <a:lnTo>
                  <a:pt x="418415" y="5729"/>
                </a:lnTo>
                <a:lnTo>
                  <a:pt x="366008" y="1495"/>
                </a:lnTo>
                <a:lnTo>
                  <a:pt x="313009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27704" y="4116641"/>
            <a:ext cx="710565" cy="197485"/>
          </a:xfrm>
          <a:custGeom>
            <a:avLst/>
            <a:gdLst/>
            <a:ahLst/>
            <a:cxnLst/>
            <a:rect l="l" t="t" r="r" b="b"/>
            <a:pathLst>
              <a:path w="710564" h="197485">
                <a:moveTo>
                  <a:pt x="625442" y="84033"/>
                </a:moveTo>
                <a:lnTo>
                  <a:pt x="294528" y="84033"/>
                </a:lnTo>
                <a:lnTo>
                  <a:pt x="344648" y="87406"/>
                </a:lnTo>
                <a:lnTo>
                  <a:pt x="394369" y="94300"/>
                </a:lnTo>
                <a:lnTo>
                  <a:pt x="443746" y="104673"/>
                </a:lnTo>
                <a:lnTo>
                  <a:pt x="495815" y="119659"/>
                </a:lnTo>
                <a:lnTo>
                  <a:pt x="546226" y="138598"/>
                </a:lnTo>
                <a:lnTo>
                  <a:pt x="594994" y="161437"/>
                </a:lnTo>
                <a:lnTo>
                  <a:pt x="642133" y="188125"/>
                </a:lnTo>
                <a:lnTo>
                  <a:pt x="651357" y="193036"/>
                </a:lnTo>
                <a:lnTo>
                  <a:pt x="660850" y="196173"/>
                </a:lnTo>
                <a:lnTo>
                  <a:pt x="670690" y="197029"/>
                </a:lnTo>
                <a:lnTo>
                  <a:pt x="680957" y="195097"/>
                </a:lnTo>
                <a:lnTo>
                  <a:pt x="692299" y="189729"/>
                </a:lnTo>
                <a:lnTo>
                  <a:pt x="701099" y="182052"/>
                </a:lnTo>
                <a:lnTo>
                  <a:pt x="707185" y="172164"/>
                </a:lnTo>
                <a:lnTo>
                  <a:pt x="710383" y="160159"/>
                </a:lnTo>
                <a:lnTo>
                  <a:pt x="710064" y="147191"/>
                </a:lnTo>
                <a:lnTo>
                  <a:pt x="666176" y="105752"/>
                </a:lnTo>
                <a:lnTo>
                  <a:pt x="643824" y="93438"/>
                </a:lnTo>
                <a:lnTo>
                  <a:pt x="625442" y="84033"/>
                </a:lnTo>
                <a:close/>
              </a:path>
              <a:path w="710564" h="197485">
                <a:moveTo>
                  <a:pt x="276741" y="0"/>
                </a:moveTo>
                <a:lnTo>
                  <a:pt x="222297" y="2209"/>
                </a:lnTo>
                <a:lnTo>
                  <a:pt x="178917" y="5396"/>
                </a:lnTo>
                <a:lnTo>
                  <a:pt x="135991" y="11101"/>
                </a:lnTo>
                <a:lnTo>
                  <a:pt x="93516" y="19370"/>
                </a:lnTo>
                <a:lnTo>
                  <a:pt x="42224" y="32700"/>
                </a:lnTo>
                <a:lnTo>
                  <a:pt x="5651" y="56394"/>
                </a:lnTo>
                <a:lnTo>
                  <a:pt x="0" y="83344"/>
                </a:lnTo>
                <a:lnTo>
                  <a:pt x="4720" y="97129"/>
                </a:lnTo>
                <a:lnTo>
                  <a:pt x="13788" y="108678"/>
                </a:lnTo>
                <a:lnTo>
                  <a:pt x="25962" y="116092"/>
                </a:lnTo>
                <a:lnTo>
                  <a:pt x="40416" y="118869"/>
                </a:lnTo>
                <a:lnTo>
                  <a:pt x="56320" y="116509"/>
                </a:lnTo>
                <a:lnTo>
                  <a:pt x="102418" y="103793"/>
                </a:lnTo>
                <a:lnTo>
                  <a:pt x="149011" y="94176"/>
                </a:lnTo>
                <a:lnTo>
                  <a:pt x="196166" y="87656"/>
                </a:lnTo>
                <a:lnTo>
                  <a:pt x="243950" y="84226"/>
                </a:lnTo>
                <a:lnTo>
                  <a:pt x="625442" y="84033"/>
                </a:lnTo>
                <a:lnTo>
                  <a:pt x="621093" y="81808"/>
                </a:lnTo>
                <a:lnTo>
                  <a:pt x="553038" y="52159"/>
                </a:lnTo>
                <a:lnTo>
                  <a:pt x="507596" y="36402"/>
                </a:lnTo>
                <a:lnTo>
                  <a:pt x="461753" y="23550"/>
                </a:lnTo>
                <a:lnTo>
                  <a:pt x="415629" y="13542"/>
                </a:lnTo>
                <a:lnTo>
                  <a:pt x="369340" y="6320"/>
                </a:lnTo>
                <a:lnTo>
                  <a:pt x="323005" y="1826"/>
                </a:lnTo>
                <a:lnTo>
                  <a:pt x="276741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68302" y="4309960"/>
            <a:ext cx="588010" cy="173990"/>
          </a:xfrm>
          <a:custGeom>
            <a:avLst/>
            <a:gdLst/>
            <a:ahLst/>
            <a:cxnLst/>
            <a:rect l="l" t="t" r="r" b="b"/>
            <a:pathLst>
              <a:path w="588010" h="173989">
                <a:moveTo>
                  <a:pt x="518235" y="73295"/>
                </a:moveTo>
                <a:lnTo>
                  <a:pt x="238895" y="73295"/>
                </a:lnTo>
                <a:lnTo>
                  <a:pt x="289066" y="76344"/>
                </a:lnTo>
                <a:lnTo>
                  <a:pt x="338535" y="84011"/>
                </a:lnTo>
                <a:lnTo>
                  <a:pt x="387230" y="96599"/>
                </a:lnTo>
                <a:lnTo>
                  <a:pt x="435076" y="114414"/>
                </a:lnTo>
                <a:lnTo>
                  <a:pt x="483004" y="137698"/>
                </a:lnTo>
                <a:lnTo>
                  <a:pt x="528370" y="165582"/>
                </a:lnTo>
                <a:lnTo>
                  <a:pt x="538769" y="171150"/>
                </a:lnTo>
                <a:lnTo>
                  <a:pt x="549355" y="173482"/>
                </a:lnTo>
                <a:lnTo>
                  <a:pt x="560044" y="172365"/>
                </a:lnTo>
                <a:lnTo>
                  <a:pt x="570750" y="167589"/>
                </a:lnTo>
                <a:lnTo>
                  <a:pt x="579216" y="160626"/>
                </a:lnTo>
                <a:lnTo>
                  <a:pt x="584866" y="152158"/>
                </a:lnTo>
                <a:lnTo>
                  <a:pt x="587717" y="142328"/>
                </a:lnTo>
                <a:lnTo>
                  <a:pt x="587781" y="131279"/>
                </a:lnTo>
                <a:lnTo>
                  <a:pt x="584869" y="121086"/>
                </a:lnTo>
                <a:lnTo>
                  <a:pt x="579288" y="112947"/>
                </a:lnTo>
                <a:lnTo>
                  <a:pt x="571854" y="106237"/>
                </a:lnTo>
                <a:lnTo>
                  <a:pt x="563384" y="100330"/>
                </a:lnTo>
                <a:lnTo>
                  <a:pt x="519149" y="73747"/>
                </a:lnTo>
                <a:lnTo>
                  <a:pt x="518235" y="73295"/>
                </a:lnTo>
                <a:close/>
              </a:path>
              <a:path w="588010" h="173989">
                <a:moveTo>
                  <a:pt x="216268" y="0"/>
                </a:moveTo>
                <a:lnTo>
                  <a:pt x="163477" y="2708"/>
                </a:lnTo>
                <a:lnTo>
                  <a:pt x="102400" y="12636"/>
                </a:lnTo>
                <a:lnTo>
                  <a:pt x="59866" y="22890"/>
                </a:lnTo>
                <a:lnTo>
                  <a:pt x="19189" y="38773"/>
                </a:lnTo>
                <a:lnTo>
                  <a:pt x="0" y="64255"/>
                </a:lnTo>
                <a:lnTo>
                  <a:pt x="762" y="80067"/>
                </a:lnTo>
                <a:lnTo>
                  <a:pt x="8889" y="94729"/>
                </a:lnTo>
                <a:lnTo>
                  <a:pt x="18690" y="102697"/>
                </a:lnTo>
                <a:lnTo>
                  <a:pt x="29517" y="106452"/>
                </a:lnTo>
                <a:lnTo>
                  <a:pt x="41111" y="106543"/>
                </a:lnTo>
                <a:lnTo>
                  <a:pt x="53212" y="103517"/>
                </a:lnTo>
                <a:lnTo>
                  <a:pt x="86233" y="92808"/>
                </a:lnTo>
                <a:lnTo>
                  <a:pt x="119741" y="84291"/>
                </a:lnTo>
                <a:lnTo>
                  <a:pt x="153707" y="78148"/>
                </a:lnTo>
                <a:lnTo>
                  <a:pt x="188099" y="74561"/>
                </a:lnTo>
                <a:lnTo>
                  <a:pt x="238895" y="73295"/>
                </a:lnTo>
                <a:lnTo>
                  <a:pt x="518235" y="73295"/>
                </a:lnTo>
                <a:lnTo>
                  <a:pt x="473508" y="51163"/>
                </a:lnTo>
                <a:lnTo>
                  <a:pt x="426234" y="32628"/>
                </a:lnTo>
                <a:lnTo>
                  <a:pt x="377100" y="18193"/>
                </a:lnTo>
                <a:lnTo>
                  <a:pt x="325879" y="7909"/>
                </a:lnTo>
                <a:lnTo>
                  <a:pt x="272344" y="1828"/>
                </a:lnTo>
                <a:lnTo>
                  <a:pt x="216268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49305" y="4032897"/>
            <a:ext cx="305435" cy="309245"/>
          </a:xfrm>
          <a:custGeom>
            <a:avLst/>
            <a:gdLst/>
            <a:ahLst/>
            <a:cxnLst/>
            <a:rect l="l" t="t" r="r" b="b"/>
            <a:pathLst>
              <a:path w="305435" h="309245">
                <a:moveTo>
                  <a:pt x="152298" y="0"/>
                </a:moveTo>
                <a:lnTo>
                  <a:pt x="101818" y="8035"/>
                </a:lnTo>
                <a:lnTo>
                  <a:pt x="59514" y="29748"/>
                </a:lnTo>
                <a:lnTo>
                  <a:pt x="27221" y="63398"/>
                </a:lnTo>
                <a:lnTo>
                  <a:pt x="6771" y="107245"/>
                </a:lnTo>
                <a:lnTo>
                  <a:pt x="0" y="159550"/>
                </a:lnTo>
                <a:lnTo>
                  <a:pt x="5178" y="198334"/>
                </a:lnTo>
                <a:lnTo>
                  <a:pt x="19853" y="234211"/>
                </a:lnTo>
                <a:lnTo>
                  <a:pt x="44180" y="265187"/>
                </a:lnTo>
                <a:lnTo>
                  <a:pt x="78312" y="289265"/>
                </a:lnTo>
                <a:lnTo>
                  <a:pt x="122407" y="304450"/>
                </a:lnTo>
                <a:lnTo>
                  <a:pt x="176618" y="308749"/>
                </a:lnTo>
                <a:lnTo>
                  <a:pt x="214273" y="299278"/>
                </a:lnTo>
                <a:lnTo>
                  <a:pt x="249231" y="275669"/>
                </a:lnTo>
                <a:lnTo>
                  <a:pt x="278234" y="241674"/>
                </a:lnTo>
                <a:lnTo>
                  <a:pt x="298025" y="201048"/>
                </a:lnTo>
                <a:lnTo>
                  <a:pt x="305346" y="157543"/>
                </a:lnTo>
                <a:lnTo>
                  <a:pt x="297875" y="107315"/>
                </a:lnTo>
                <a:lnTo>
                  <a:pt x="276666" y="63833"/>
                </a:lnTo>
                <a:lnTo>
                  <a:pt x="243888" y="29711"/>
                </a:lnTo>
                <a:lnTo>
                  <a:pt x="201709" y="7562"/>
                </a:lnTo>
                <a:lnTo>
                  <a:pt x="1522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66603" y="3713210"/>
            <a:ext cx="817244" cy="474980"/>
          </a:xfrm>
          <a:custGeom>
            <a:avLst/>
            <a:gdLst/>
            <a:ahLst/>
            <a:cxnLst/>
            <a:rect l="l" t="t" r="r" b="b"/>
            <a:pathLst>
              <a:path w="817245" h="474979">
                <a:moveTo>
                  <a:pt x="359816" y="0"/>
                </a:moveTo>
                <a:lnTo>
                  <a:pt x="205778" y="333"/>
                </a:lnTo>
                <a:lnTo>
                  <a:pt x="156121" y="19778"/>
                </a:lnTo>
                <a:lnTo>
                  <a:pt x="129717" y="59667"/>
                </a:lnTo>
                <a:lnTo>
                  <a:pt x="0" y="286375"/>
                </a:lnTo>
                <a:lnTo>
                  <a:pt x="108800" y="474970"/>
                </a:lnTo>
                <a:lnTo>
                  <a:pt x="242887" y="239982"/>
                </a:lnTo>
                <a:lnTo>
                  <a:pt x="243204" y="239563"/>
                </a:lnTo>
                <a:lnTo>
                  <a:pt x="243484" y="239106"/>
                </a:lnTo>
                <a:lnTo>
                  <a:pt x="250276" y="225919"/>
                </a:lnTo>
                <a:lnTo>
                  <a:pt x="256587" y="212172"/>
                </a:lnTo>
                <a:lnTo>
                  <a:pt x="263979" y="200040"/>
                </a:lnTo>
                <a:lnTo>
                  <a:pt x="274015" y="191697"/>
                </a:lnTo>
                <a:lnTo>
                  <a:pt x="286807" y="188139"/>
                </a:lnTo>
                <a:lnTo>
                  <a:pt x="301097" y="187680"/>
                </a:lnTo>
                <a:lnTo>
                  <a:pt x="595209" y="187680"/>
                </a:lnTo>
                <a:lnTo>
                  <a:pt x="596785" y="187137"/>
                </a:lnTo>
                <a:lnTo>
                  <a:pt x="814756" y="187137"/>
                </a:lnTo>
                <a:lnTo>
                  <a:pt x="798777" y="158226"/>
                </a:lnTo>
                <a:lnTo>
                  <a:pt x="789619" y="141794"/>
                </a:lnTo>
                <a:lnTo>
                  <a:pt x="780300" y="125453"/>
                </a:lnTo>
                <a:lnTo>
                  <a:pt x="768411" y="105627"/>
                </a:lnTo>
                <a:lnTo>
                  <a:pt x="756272" y="85933"/>
                </a:lnTo>
                <a:lnTo>
                  <a:pt x="744485" y="66069"/>
                </a:lnTo>
                <a:lnTo>
                  <a:pt x="722053" y="27438"/>
                </a:lnTo>
                <a:lnTo>
                  <a:pt x="688822" y="3516"/>
                </a:lnTo>
                <a:lnTo>
                  <a:pt x="667893" y="92"/>
                </a:lnTo>
                <a:lnTo>
                  <a:pt x="359816" y="0"/>
                </a:lnTo>
                <a:close/>
              </a:path>
              <a:path w="817245" h="474979">
                <a:moveTo>
                  <a:pt x="814756" y="187137"/>
                </a:moveTo>
                <a:lnTo>
                  <a:pt x="596785" y="187137"/>
                </a:lnTo>
                <a:lnTo>
                  <a:pt x="602043" y="192674"/>
                </a:lnTo>
                <a:lnTo>
                  <a:pt x="816978" y="191150"/>
                </a:lnTo>
                <a:lnTo>
                  <a:pt x="814756" y="187137"/>
                </a:lnTo>
                <a:close/>
              </a:path>
              <a:path w="817245" h="474979">
                <a:moveTo>
                  <a:pt x="590450" y="189320"/>
                </a:moveTo>
                <a:lnTo>
                  <a:pt x="482633" y="189320"/>
                </a:lnTo>
                <a:lnTo>
                  <a:pt x="589965" y="189487"/>
                </a:lnTo>
                <a:lnTo>
                  <a:pt x="590450" y="189320"/>
                </a:lnTo>
                <a:close/>
              </a:path>
              <a:path w="817245" h="474979">
                <a:moveTo>
                  <a:pt x="595209" y="187680"/>
                </a:moveTo>
                <a:lnTo>
                  <a:pt x="301097" y="187680"/>
                </a:lnTo>
                <a:lnTo>
                  <a:pt x="316045" y="188635"/>
                </a:lnTo>
                <a:lnTo>
                  <a:pt x="330809" y="189322"/>
                </a:lnTo>
                <a:lnTo>
                  <a:pt x="590450" y="189320"/>
                </a:lnTo>
                <a:lnTo>
                  <a:pt x="595209" y="187680"/>
                </a:lnTo>
                <a:close/>
              </a:path>
            </a:pathLst>
          </a:custGeom>
          <a:solidFill>
            <a:srgbClr val="5C8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68045" y="3999585"/>
            <a:ext cx="695960" cy="663575"/>
          </a:xfrm>
          <a:custGeom>
            <a:avLst/>
            <a:gdLst/>
            <a:ahLst/>
            <a:cxnLst/>
            <a:rect l="l" t="t" r="r" b="b"/>
            <a:pathLst>
              <a:path w="695960" h="663575">
                <a:moveTo>
                  <a:pt x="98558" y="0"/>
                </a:moveTo>
                <a:lnTo>
                  <a:pt x="31867" y="115387"/>
                </a:lnTo>
                <a:lnTo>
                  <a:pt x="9836" y="153962"/>
                </a:lnTo>
                <a:lnTo>
                  <a:pt x="2247" y="172182"/>
                </a:lnTo>
                <a:lnTo>
                  <a:pt x="0" y="190482"/>
                </a:lnTo>
                <a:lnTo>
                  <a:pt x="2953" y="208785"/>
                </a:lnTo>
                <a:lnTo>
                  <a:pt x="10966" y="227012"/>
                </a:lnTo>
                <a:lnTo>
                  <a:pt x="152827" y="474281"/>
                </a:lnTo>
                <a:lnTo>
                  <a:pt x="240201" y="626833"/>
                </a:lnTo>
                <a:lnTo>
                  <a:pt x="277920" y="660080"/>
                </a:lnTo>
                <a:lnTo>
                  <a:pt x="393383" y="663231"/>
                </a:lnTo>
                <a:lnTo>
                  <a:pt x="590010" y="663028"/>
                </a:lnTo>
                <a:lnTo>
                  <a:pt x="679367" y="505180"/>
                </a:lnTo>
                <a:lnTo>
                  <a:pt x="683589" y="497520"/>
                </a:lnTo>
                <a:lnTo>
                  <a:pt x="687689" y="489788"/>
                </a:lnTo>
                <a:lnTo>
                  <a:pt x="695801" y="474281"/>
                </a:lnTo>
                <a:lnTo>
                  <a:pt x="389934" y="474129"/>
                </a:lnTo>
                <a:lnTo>
                  <a:pt x="380002" y="473198"/>
                </a:lnTo>
                <a:lnTo>
                  <a:pt x="372178" y="470134"/>
                </a:lnTo>
                <a:lnTo>
                  <a:pt x="365818" y="464699"/>
                </a:lnTo>
                <a:lnTo>
                  <a:pt x="360279" y="456653"/>
                </a:lnTo>
                <a:lnTo>
                  <a:pt x="336830" y="415408"/>
                </a:lnTo>
                <a:lnTo>
                  <a:pt x="214687" y="202806"/>
                </a:lnTo>
                <a:lnTo>
                  <a:pt x="211118" y="195643"/>
                </a:lnTo>
                <a:lnTo>
                  <a:pt x="207359" y="188595"/>
                </a:lnTo>
                <a:lnTo>
                  <a:pt x="98558" y="0"/>
                </a:lnTo>
                <a:close/>
              </a:path>
              <a:path w="695960" h="663575">
                <a:moveTo>
                  <a:pt x="440912" y="473924"/>
                </a:moveTo>
                <a:lnTo>
                  <a:pt x="389934" y="474129"/>
                </a:lnTo>
                <a:lnTo>
                  <a:pt x="634627" y="474129"/>
                </a:lnTo>
                <a:lnTo>
                  <a:pt x="440912" y="473924"/>
                </a:lnTo>
                <a:close/>
              </a:path>
            </a:pathLst>
          </a:custGeom>
          <a:solidFill>
            <a:srgbClr val="FFCF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58042" y="3904360"/>
            <a:ext cx="478790" cy="758825"/>
          </a:xfrm>
          <a:custGeom>
            <a:avLst/>
            <a:gdLst/>
            <a:ahLst/>
            <a:cxnLst/>
            <a:rect l="l" t="t" r="r" b="b"/>
            <a:pathLst>
              <a:path w="478789" h="758825">
                <a:moveTo>
                  <a:pt x="325526" y="0"/>
                </a:moveTo>
                <a:lnTo>
                  <a:pt x="110591" y="1523"/>
                </a:lnTo>
                <a:lnTo>
                  <a:pt x="265811" y="270903"/>
                </a:lnTo>
                <a:lnTo>
                  <a:pt x="268694" y="276439"/>
                </a:lnTo>
                <a:lnTo>
                  <a:pt x="270321" y="281849"/>
                </a:lnTo>
                <a:lnTo>
                  <a:pt x="270102" y="287571"/>
                </a:lnTo>
                <a:lnTo>
                  <a:pt x="267449" y="294043"/>
                </a:lnTo>
                <a:lnTo>
                  <a:pt x="241731" y="338324"/>
                </a:lnTo>
                <a:lnTo>
                  <a:pt x="111861" y="563740"/>
                </a:lnTo>
                <a:lnTo>
                  <a:pt x="110629" y="568236"/>
                </a:lnTo>
                <a:lnTo>
                  <a:pt x="105803" y="569493"/>
                </a:lnTo>
                <a:lnTo>
                  <a:pt x="97682" y="585006"/>
                </a:lnTo>
                <a:lnTo>
                  <a:pt x="93584" y="592739"/>
                </a:lnTo>
                <a:lnTo>
                  <a:pt x="89369" y="600405"/>
                </a:lnTo>
                <a:lnTo>
                  <a:pt x="0" y="758253"/>
                </a:lnTo>
                <a:lnTo>
                  <a:pt x="174663" y="758723"/>
                </a:lnTo>
                <a:lnTo>
                  <a:pt x="213602" y="748480"/>
                </a:lnTo>
                <a:lnTo>
                  <a:pt x="240855" y="718845"/>
                </a:lnTo>
                <a:lnTo>
                  <a:pt x="466598" y="325069"/>
                </a:lnTo>
                <a:lnTo>
                  <a:pt x="478532" y="284211"/>
                </a:lnTo>
                <a:lnTo>
                  <a:pt x="475413" y="264027"/>
                </a:lnTo>
                <a:lnTo>
                  <a:pt x="466217" y="243687"/>
                </a:lnTo>
                <a:lnTo>
                  <a:pt x="453889" y="222637"/>
                </a:lnTo>
                <a:lnTo>
                  <a:pt x="441807" y="201442"/>
                </a:lnTo>
                <a:lnTo>
                  <a:pt x="429801" y="180202"/>
                </a:lnTo>
                <a:lnTo>
                  <a:pt x="417703" y="159016"/>
                </a:lnTo>
                <a:lnTo>
                  <a:pt x="325526" y="0"/>
                </a:lnTo>
                <a:close/>
              </a:path>
            </a:pathLst>
          </a:custGeom>
          <a:solidFill>
            <a:srgbClr val="D846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75404" y="3900347"/>
            <a:ext cx="653415" cy="574040"/>
          </a:xfrm>
          <a:custGeom>
            <a:avLst/>
            <a:gdLst/>
            <a:ahLst/>
            <a:cxnLst/>
            <a:rect l="l" t="t" r="r" b="b"/>
            <a:pathLst>
              <a:path w="653414" h="574039">
                <a:moveTo>
                  <a:pt x="490038" y="573104"/>
                </a:moveTo>
                <a:lnTo>
                  <a:pt x="284530" y="573104"/>
                </a:lnTo>
                <a:lnTo>
                  <a:pt x="488441" y="573519"/>
                </a:lnTo>
                <a:lnTo>
                  <a:pt x="490038" y="573104"/>
                </a:lnTo>
                <a:close/>
              </a:path>
              <a:path w="653414" h="574039">
                <a:moveTo>
                  <a:pt x="192292" y="542"/>
                </a:moveTo>
                <a:lnTo>
                  <a:pt x="155178" y="12902"/>
                </a:lnTo>
                <a:lnTo>
                  <a:pt x="141475" y="38781"/>
                </a:lnTo>
                <a:lnTo>
                  <a:pt x="134683" y="51968"/>
                </a:lnTo>
                <a:lnTo>
                  <a:pt x="134404" y="52425"/>
                </a:lnTo>
                <a:lnTo>
                  <a:pt x="134086" y="52857"/>
                </a:lnTo>
                <a:lnTo>
                  <a:pt x="0" y="287832"/>
                </a:lnTo>
                <a:lnTo>
                  <a:pt x="3759" y="294881"/>
                </a:lnTo>
                <a:lnTo>
                  <a:pt x="7327" y="302044"/>
                </a:lnTo>
                <a:lnTo>
                  <a:pt x="129471" y="514651"/>
                </a:lnTo>
                <a:lnTo>
                  <a:pt x="152920" y="555891"/>
                </a:lnTo>
                <a:lnTo>
                  <a:pt x="182575" y="573366"/>
                </a:lnTo>
                <a:lnTo>
                  <a:pt x="490038" y="573104"/>
                </a:lnTo>
                <a:lnTo>
                  <a:pt x="493280" y="572262"/>
                </a:lnTo>
                <a:lnTo>
                  <a:pt x="494499" y="567766"/>
                </a:lnTo>
                <a:lnTo>
                  <a:pt x="571113" y="434619"/>
                </a:lnTo>
                <a:lnTo>
                  <a:pt x="346925" y="434619"/>
                </a:lnTo>
                <a:lnTo>
                  <a:pt x="287429" y="428530"/>
                </a:lnTo>
                <a:lnTo>
                  <a:pt x="241470" y="408365"/>
                </a:lnTo>
                <a:lnTo>
                  <a:pt x="208796" y="377339"/>
                </a:lnTo>
                <a:lnTo>
                  <a:pt x="189159" y="338664"/>
                </a:lnTo>
                <a:lnTo>
                  <a:pt x="182308" y="295554"/>
                </a:lnTo>
                <a:lnTo>
                  <a:pt x="188620" y="246797"/>
                </a:lnTo>
                <a:lnTo>
                  <a:pt x="207682" y="205925"/>
                </a:lnTo>
                <a:lnTo>
                  <a:pt x="237782" y="174560"/>
                </a:lnTo>
                <a:lnTo>
                  <a:pt x="277210" y="154324"/>
                </a:lnTo>
                <a:lnTo>
                  <a:pt x="324256" y="146837"/>
                </a:lnTo>
                <a:lnTo>
                  <a:pt x="574609" y="146837"/>
                </a:lnTo>
                <a:lnTo>
                  <a:pt x="493242" y="5549"/>
                </a:lnTo>
                <a:lnTo>
                  <a:pt x="490210" y="2349"/>
                </a:lnTo>
                <a:lnTo>
                  <a:pt x="222008" y="2184"/>
                </a:lnTo>
                <a:lnTo>
                  <a:pt x="207242" y="1498"/>
                </a:lnTo>
                <a:lnTo>
                  <a:pt x="192292" y="542"/>
                </a:lnTo>
                <a:close/>
              </a:path>
              <a:path w="653414" h="574039">
                <a:moveTo>
                  <a:pt x="574609" y="146837"/>
                </a:moveTo>
                <a:lnTo>
                  <a:pt x="324256" y="146837"/>
                </a:lnTo>
                <a:lnTo>
                  <a:pt x="370317" y="153883"/>
                </a:lnTo>
                <a:lnTo>
                  <a:pt x="409634" y="174526"/>
                </a:lnTo>
                <a:lnTo>
                  <a:pt x="440186" y="206330"/>
                </a:lnTo>
                <a:lnTo>
                  <a:pt x="459953" y="246858"/>
                </a:lnTo>
                <a:lnTo>
                  <a:pt x="466915" y="293674"/>
                </a:lnTo>
                <a:lnTo>
                  <a:pt x="456452" y="344075"/>
                </a:lnTo>
                <a:lnTo>
                  <a:pt x="429013" y="388921"/>
                </a:lnTo>
                <a:lnTo>
                  <a:pt x="390529" y="421380"/>
                </a:lnTo>
                <a:lnTo>
                  <a:pt x="346925" y="434619"/>
                </a:lnTo>
                <a:lnTo>
                  <a:pt x="571113" y="434619"/>
                </a:lnTo>
                <a:lnTo>
                  <a:pt x="624375" y="342346"/>
                </a:lnTo>
                <a:lnTo>
                  <a:pt x="650087" y="298069"/>
                </a:lnTo>
                <a:lnTo>
                  <a:pt x="652746" y="291590"/>
                </a:lnTo>
                <a:lnTo>
                  <a:pt x="652965" y="285865"/>
                </a:lnTo>
                <a:lnTo>
                  <a:pt x="651339" y="280457"/>
                </a:lnTo>
                <a:lnTo>
                  <a:pt x="648461" y="274929"/>
                </a:lnTo>
                <a:lnTo>
                  <a:pt x="590555" y="174526"/>
                </a:lnTo>
                <a:lnTo>
                  <a:pt x="574609" y="146837"/>
                </a:lnTo>
                <a:close/>
              </a:path>
              <a:path w="653414" h="574039">
                <a:moveTo>
                  <a:pt x="487984" y="0"/>
                </a:moveTo>
                <a:lnTo>
                  <a:pt x="481164" y="2349"/>
                </a:lnTo>
                <a:lnTo>
                  <a:pt x="490210" y="2349"/>
                </a:lnTo>
                <a:lnTo>
                  <a:pt x="487984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395622" y="4799723"/>
            <a:ext cx="1599565" cy="532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3510" marR="5080" indent="-131445">
              <a:lnSpc>
                <a:spcPct val="100000"/>
              </a:lnSpc>
            </a:pPr>
            <a:r>
              <a:rPr dirty="0" sz="1700" spc="-40" b="1">
                <a:solidFill>
                  <a:srgbClr val="5D5E5E"/>
                </a:solidFill>
                <a:latin typeface="Arial"/>
                <a:cs typeface="Arial"/>
              </a:rPr>
              <a:t>Spotify </a:t>
            </a:r>
            <a:r>
              <a:rPr dirty="0" sz="1700" spc="95" b="1">
                <a:solidFill>
                  <a:srgbClr val="5D5E5E"/>
                </a:solidFill>
                <a:latin typeface="Arial"/>
                <a:cs typeface="Arial"/>
              </a:rPr>
              <a:t>-</a:t>
            </a:r>
            <a:r>
              <a:rPr dirty="0" sz="1700" spc="-120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90" b="1">
                <a:solidFill>
                  <a:srgbClr val="5D5E5E"/>
                </a:solidFill>
                <a:latin typeface="Arial"/>
                <a:cs typeface="Arial"/>
              </a:rPr>
              <a:t>Google  </a:t>
            </a:r>
            <a:r>
              <a:rPr dirty="0" sz="1700" spc="-35" b="1">
                <a:solidFill>
                  <a:srgbClr val="5D5E5E"/>
                </a:solidFill>
                <a:latin typeface="Arial"/>
                <a:cs typeface="Arial"/>
              </a:rPr>
              <a:t>Music </a:t>
            </a:r>
            <a:r>
              <a:rPr dirty="0" sz="1700" spc="-30" b="1">
                <a:solidFill>
                  <a:srgbClr val="5D5E5E"/>
                </a:solidFill>
                <a:latin typeface="Arial"/>
                <a:cs typeface="Arial"/>
              </a:rPr>
              <a:t>to</a:t>
            </a:r>
            <a:r>
              <a:rPr dirty="0" sz="1700" spc="-150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5D5E5E"/>
                </a:solidFill>
                <a:latin typeface="Arial"/>
                <a:cs typeface="Arial"/>
              </a:rPr>
              <a:t>ears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300" y="4684181"/>
            <a:ext cx="240157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Spotify,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popular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music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streaming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announced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shift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Feb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2016.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5446169"/>
            <a:ext cx="260731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story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Spotify’s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shift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words: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300" y="6017681"/>
            <a:ext cx="262763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Note: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Excerpts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Spotify’s</a:t>
            </a:r>
            <a:r>
              <a:rPr dirty="0" sz="1200" spc="-1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company  blog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explaining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shift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used.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9300" y="6787362"/>
            <a:ext cx="2603500" cy="768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Let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us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introduce</a:t>
            </a:r>
            <a:r>
              <a:rPr dirty="0" sz="1200" spc="-16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ourselves: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Company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often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associated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amazing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music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recommendations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awesome</a:t>
            </a:r>
            <a:r>
              <a:rPr dirty="0" sz="1200" spc="-1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parties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300" y="7739850"/>
            <a:ext cx="2389505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65">
                <a:solidFill>
                  <a:srgbClr val="2C99CF"/>
                </a:solidFill>
                <a:latin typeface="Arial"/>
                <a:cs typeface="Arial"/>
              </a:rPr>
              <a:t>We</a:t>
            </a:r>
            <a:r>
              <a:rPr dirty="0" sz="1200" spc="-13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C99CF"/>
                </a:solidFill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Announcing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Spotify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Infrastructure’s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Googley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Future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9300" y="8501850"/>
            <a:ext cx="2160905" cy="387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Why </a:t>
            </a: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it’s </a:t>
            </a: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big</a:t>
            </a:r>
            <a:r>
              <a:rPr dirty="0" sz="1200" spc="-18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C99CF"/>
                </a:solidFill>
                <a:latin typeface="Arial"/>
                <a:cs typeface="Arial"/>
              </a:rPr>
              <a:t>deal: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At Spotify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obsessed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53662" y="5745342"/>
            <a:ext cx="257365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providing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streaming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experience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feels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though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music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world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phone.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53662" y="6515024"/>
            <a:ext cx="2438400" cy="1149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How</a:t>
            </a:r>
            <a:r>
              <a:rPr dirty="0" sz="1200" spc="-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we</a:t>
            </a:r>
            <a:r>
              <a:rPr dirty="0" sz="1200" spc="-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did</a:t>
            </a:r>
            <a:r>
              <a:rPr dirty="0" sz="1200" spc="-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C99CF"/>
                </a:solidFill>
                <a:latin typeface="Arial"/>
                <a:cs typeface="Arial"/>
              </a:rPr>
              <a:t>it</a:t>
            </a:r>
            <a:r>
              <a:rPr dirty="0" sz="1200" spc="-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C99CF"/>
                </a:solidFill>
                <a:latin typeface="Arial"/>
                <a:cs typeface="Arial"/>
              </a:rPr>
              <a:t>until</a:t>
            </a:r>
            <a:r>
              <a:rPr dirty="0" sz="1200" spc="-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now: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Historically,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we’ve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taken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traditional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approach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doing this: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buying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leasing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center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space,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server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hardware 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gear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 close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customers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possible.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53662" y="7840843"/>
            <a:ext cx="249364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Why </a:t>
            </a:r>
            <a:r>
              <a:rPr dirty="0" sz="1200" spc="20">
                <a:solidFill>
                  <a:srgbClr val="2C99CF"/>
                </a:solidFill>
                <a:latin typeface="Arial"/>
                <a:cs typeface="Arial"/>
              </a:rPr>
              <a:t>not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use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Cloud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like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others?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Operating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centers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may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pain,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at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level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quality,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perfor-  mance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34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6672" y="1911741"/>
            <a:ext cx="887094" cy="515620"/>
          </a:xfrm>
          <a:custGeom>
            <a:avLst/>
            <a:gdLst/>
            <a:ahLst/>
            <a:cxnLst/>
            <a:rect l="l" t="t" r="r" b="b"/>
            <a:pathLst>
              <a:path w="887095" h="515619">
                <a:moveTo>
                  <a:pt x="373794" y="0"/>
                </a:moveTo>
                <a:lnTo>
                  <a:pt x="223329" y="344"/>
                </a:lnTo>
                <a:lnTo>
                  <a:pt x="185073" y="9795"/>
                </a:lnTo>
                <a:lnTo>
                  <a:pt x="156476" y="37657"/>
                </a:lnTo>
                <a:lnTo>
                  <a:pt x="140779" y="64733"/>
                </a:lnTo>
                <a:lnTo>
                  <a:pt x="0" y="310783"/>
                </a:lnTo>
                <a:lnTo>
                  <a:pt x="118084" y="515469"/>
                </a:lnTo>
                <a:lnTo>
                  <a:pt x="263601" y="260440"/>
                </a:lnTo>
                <a:lnTo>
                  <a:pt x="263956" y="259970"/>
                </a:lnTo>
                <a:lnTo>
                  <a:pt x="264261" y="259488"/>
                </a:lnTo>
                <a:lnTo>
                  <a:pt x="271630" y="245170"/>
                </a:lnTo>
                <a:lnTo>
                  <a:pt x="278480" y="230248"/>
                </a:lnTo>
                <a:lnTo>
                  <a:pt x="286505" y="217081"/>
                </a:lnTo>
                <a:lnTo>
                  <a:pt x="297395" y="208027"/>
                </a:lnTo>
                <a:lnTo>
                  <a:pt x="311276" y="204165"/>
                </a:lnTo>
                <a:lnTo>
                  <a:pt x="326783" y="203667"/>
                </a:lnTo>
                <a:lnTo>
                  <a:pt x="645982" y="203667"/>
                </a:lnTo>
                <a:lnTo>
                  <a:pt x="647700" y="203074"/>
                </a:lnTo>
                <a:lnTo>
                  <a:pt x="884263" y="203074"/>
                </a:lnTo>
                <a:lnTo>
                  <a:pt x="866922" y="171701"/>
                </a:lnTo>
                <a:lnTo>
                  <a:pt x="856984" y="153868"/>
                </a:lnTo>
                <a:lnTo>
                  <a:pt x="846874" y="136133"/>
                </a:lnTo>
                <a:lnTo>
                  <a:pt x="833968" y="114616"/>
                </a:lnTo>
                <a:lnTo>
                  <a:pt x="820794" y="93242"/>
                </a:lnTo>
                <a:lnTo>
                  <a:pt x="808001" y="71682"/>
                </a:lnTo>
                <a:lnTo>
                  <a:pt x="783651" y="29755"/>
                </a:lnTo>
                <a:lnTo>
                  <a:pt x="747588" y="3793"/>
                </a:lnTo>
                <a:lnTo>
                  <a:pt x="724877" y="78"/>
                </a:lnTo>
                <a:lnTo>
                  <a:pt x="373794" y="0"/>
                </a:lnTo>
                <a:close/>
              </a:path>
              <a:path w="887095" h="515619">
                <a:moveTo>
                  <a:pt x="884263" y="203074"/>
                </a:moveTo>
                <a:lnTo>
                  <a:pt x="647700" y="203074"/>
                </a:lnTo>
                <a:lnTo>
                  <a:pt x="653402" y="209094"/>
                </a:lnTo>
                <a:lnTo>
                  <a:pt x="886675" y="207431"/>
                </a:lnTo>
                <a:lnTo>
                  <a:pt x="884263" y="203074"/>
                </a:lnTo>
                <a:close/>
              </a:path>
              <a:path w="887095" h="515619">
                <a:moveTo>
                  <a:pt x="645982" y="203667"/>
                </a:moveTo>
                <a:lnTo>
                  <a:pt x="326783" y="203667"/>
                </a:lnTo>
                <a:lnTo>
                  <a:pt x="343005" y="204704"/>
                </a:lnTo>
                <a:lnTo>
                  <a:pt x="359029" y="205449"/>
                </a:lnTo>
                <a:lnTo>
                  <a:pt x="640295" y="205627"/>
                </a:lnTo>
                <a:lnTo>
                  <a:pt x="645982" y="203667"/>
                </a:lnTo>
                <a:close/>
              </a:path>
            </a:pathLst>
          </a:custGeom>
          <a:solidFill>
            <a:srgbClr val="5C8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49707" y="2222525"/>
            <a:ext cx="755650" cy="720090"/>
          </a:xfrm>
          <a:custGeom>
            <a:avLst/>
            <a:gdLst/>
            <a:ahLst/>
            <a:cxnLst/>
            <a:rect l="l" t="t" r="r" b="b"/>
            <a:pathLst>
              <a:path w="755650" h="720089">
                <a:moveTo>
                  <a:pt x="106964" y="0"/>
                </a:moveTo>
                <a:lnTo>
                  <a:pt x="34581" y="125229"/>
                </a:lnTo>
                <a:lnTo>
                  <a:pt x="10672" y="167093"/>
                </a:lnTo>
                <a:lnTo>
                  <a:pt x="2438" y="186870"/>
                </a:lnTo>
                <a:lnTo>
                  <a:pt x="0" y="206730"/>
                </a:lnTo>
                <a:lnTo>
                  <a:pt x="3202" y="226590"/>
                </a:lnTo>
                <a:lnTo>
                  <a:pt x="11891" y="246367"/>
                </a:lnTo>
                <a:lnTo>
                  <a:pt x="165863" y="514743"/>
                </a:lnTo>
                <a:lnTo>
                  <a:pt x="260684" y="680300"/>
                </a:lnTo>
                <a:lnTo>
                  <a:pt x="301622" y="716394"/>
                </a:lnTo>
                <a:lnTo>
                  <a:pt x="426941" y="719812"/>
                </a:lnTo>
                <a:lnTo>
                  <a:pt x="640338" y="719594"/>
                </a:lnTo>
                <a:lnTo>
                  <a:pt x="737328" y="548284"/>
                </a:lnTo>
                <a:lnTo>
                  <a:pt x="741906" y="539966"/>
                </a:lnTo>
                <a:lnTo>
                  <a:pt x="746353" y="531575"/>
                </a:lnTo>
                <a:lnTo>
                  <a:pt x="755159" y="514743"/>
                </a:lnTo>
                <a:lnTo>
                  <a:pt x="423194" y="514578"/>
                </a:lnTo>
                <a:lnTo>
                  <a:pt x="412416" y="513571"/>
                </a:lnTo>
                <a:lnTo>
                  <a:pt x="403926" y="510246"/>
                </a:lnTo>
                <a:lnTo>
                  <a:pt x="397024" y="504346"/>
                </a:lnTo>
                <a:lnTo>
                  <a:pt x="391012" y="495617"/>
                </a:lnTo>
                <a:lnTo>
                  <a:pt x="365564" y="450851"/>
                </a:lnTo>
                <a:lnTo>
                  <a:pt x="237316" y="227609"/>
                </a:lnTo>
                <a:lnTo>
                  <a:pt x="234151" y="221936"/>
                </a:lnTo>
                <a:lnTo>
                  <a:pt x="231092" y="216200"/>
                </a:lnTo>
                <a:lnTo>
                  <a:pt x="225048" y="204685"/>
                </a:lnTo>
                <a:lnTo>
                  <a:pt x="106964" y="0"/>
                </a:lnTo>
                <a:close/>
              </a:path>
              <a:path w="755650" h="720089">
                <a:moveTo>
                  <a:pt x="470617" y="514373"/>
                </a:moveTo>
                <a:lnTo>
                  <a:pt x="423194" y="514578"/>
                </a:lnTo>
                <a:lnTo>
                  <a:pt x="688494" y="514578"/>
                </a:lnTo>
                <a:lnTo>
                  <a:pt x="470617" y="514373"/>
                </a:lnTo>
                <a:close/>
              </a:path>
            </a:pathLst>
          </a:custGeom>
          <a:solidFill>
            <a:srgbClr val="FFCF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90046" y="2119172"/>
            <a:ext cx="519430" cy="823594"/>
          </a:xfrm>
          <a:custGeom>
            <a:avLst/>
            <a:gdLst/>
            <a:ahLst/>
            <a:cxnLst/>
            <a:rect l="l" t="t" r="r" b="b"/>
            <a:pathLst>
              <a:path w="519429" h="823594">
                <a:moveTo>
                  <a:pt x="353301" y="0"/>
                </a:moveTo>
                <a:lnTo>
                  <a:pt x="120027" y="1663"/>
                </a:lnTo>
                <a:lnTo>
                  <a:pt x="288493" y="294017"/>
                </a:lnTo>
                <a:lnTo>
                  <a:pt x="291617" y="300023"/>
                </a:lnTo>
                <a:lnTo>
                  <a:pt x="293381" y="305896"/>
                </a:lnTo>
                <a:lnTo>
                  <a:pt x="293141" y="312111"/>
                </a:lnTo>
                <a:lnTo>
                  <a:pt x="290258" y="319138"/>
                </a:lnTo>
                <a:lnTo>
                  <a:pt x="266333" y="360326"/>
                </a:lnTo>
                <a:lnTo>
                  <a:pt x="121399" y="611847"/>
                </a:lnTo>
                <a:lnTo>
                  <a:pt x="120078" y="616724"/>
                </a:lnTo>
                <a:lnTo>
                  <a:pt x="114833" y="618083"/>
                </a:lnTo>
                <a:lnTo>
                  <a:pt x="106016" y="634926"/>
                </a:lnTo>
                <a:lnTo>
                  <a:pt x="101567" y="643318"/>
                </a:lnTo>
                <a:lnTo>
                  <a:pt x="96989" y="651636"/>
                </a:lnTo>
                <a:lnTo>
                  <a:pt x="0" y="822947"/>
                </a:lnTo>
                <a:lnTo>
                  <a:pt x="189572" y="823455"/>
                </a:lnTo>
                <a:lnTo>
                  <a:pt x="231827" y="812339"/>
                </a:lnTo>
                <a:lnTo>
                  <a:pt x="261404" y="780173"/>
                </a:lnTo>
                <a:lnTo>
                  <a:pt x="506399" y="352818"/>
                </a:lnTo>
                <a:lnTo>
                  <a:pt x="519355" y="308467"/>
                </a:lnTo>
                <a:lnTo>
                  <a:pt x="515974" y="286556"/>
                </a:lnTo>
                <a:lnTo>
                  <a:pt x="505993" y="264477"/>
                </a:lnTo>
                <a:lnTo>
                  <a:pt x="492613" y="241635"/>
                </a:lnTo>
                <a:lnTo>
                  <a:pt x="479499" y="218635"/>
                </a:lnTo>
                <a:lnTo>
                  <a:pt x="466468" y="195584"/>
                </a:lnTo>
                <a:lnTo>
                  <a:pt x="453339" y="172592"/>
                </a:lnTo>
                <a:lnTo>
                  <a:pt x="353301" y="0"/>
                </a:lnTo>
                <a:close/>
              </a:path>
            </a:pathLst>
          </a:custGeom>
          <a:solidFill>
            <a:srgbClr val="D846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74769" y="2114816"/>
            <a:ext cx="708660" cy="622935"/>
          </a:xfrm>
          <a:custGeom>
            <a:avLst/>
            <a:gdLst/>
            <a:ahLst/>
            <a:cxnLst/>
            <a:rect l="l" t="t" r="r" b="b"/>
            <a:pathLst>
              <a:path w="708660" h="622935">
                <a:moveTo>
                  <a:pt x="531757" y="622021"/>
                </a:moveTo>
                <a:lnTo>
                  <a:pt x="340406" y="622021"/>
                </a:lnTo>
                <a:lnTo>
                  <a:pt x="530110" y="622452"/>
                </a:lnTo>
                <a:lnTo>
                  <a:pt x="531757" y="622021"/>
                </a:lnTo>
                <a:close/>
              </a:path>
              <a:path w="708660" h="622935">
                <a:moveTo>
                  <a:pt x="208692" y="592"/>
                </a:moveTo>
                <a:lnTo>
                  <a:pt x="168410" y="14008"/>
                </a:lnTo>
                <a:lnTo>
                  <a:pt x="153543" y="42100"/>
                </a:lnTo>
                <a:lnTo>
                  <a:pt x="146177" y="56413"/>
                </a:lnTo>
                <a:lnTo>
                  <a:pt x="145872" y="56895"/>
                </a:lnTo>
                <a:lnTo>
                  <a:pt x="145516" y="57365"/>
                </a:lnTo>
                <a:lnTo>
                  <a:pt x="0" y="312394"/>
                </a:lnTo>
                <a:lnTo>
                  <a:pt x="6037" y="323910"/>
                </a:lnTo>
                <a:lnTo>
                  <a:pt x="9092" y="329650"/>
                </a:lnTo>
                <a:lnTo>
                  <a:pt x="12255" y="335330"/>
                </a:lnTo>
                <a:lnTo>
                  <a:pt x="140506" y="558560"/>
                </a:lnTo>
                <a:lnTo>
                  <a:pt x="165950" y="603326"/>
                </a:lnTo>
                <a:lnTo>
                  <a:pt x="171965" y="612055"/>
                </a:lnTo>
                <a:lnTo>
                  <a:pt x="178871" y="617955"/>
                </a:lnTo>
                <a:lnTo>
                  <a:pt x="187366" y="621280"/>
                </a:lnTo>
                <a:lnTo>
                  <a:pt x="198145" y="622287"/>
                </a:lnTo>
                <a:lnTo>
                  <a:pt x="531757" y="622021"/>
                </a:lnTo>
                <a:lnTo>
                  <a:pt x="535355" y="621080"/>
                </a:lnTo>
                <a:lnTo>
                  <a:pt x="536676" y="616203"/>
                </a:lnTo>
                <a:lnTo>
                  <a:pt x="619842" y="471690"/>
                </a:lnTo>
                <a:lnTo>
                  <a:pt x="376516" y="471690"/>
                </a:lnTo>
                <a:lnTo>
                  <a:pt x="321683" y="467340"/>
                </a:lnTo>
                <a:lnTo>
                  <a:pt x="277079" y="451978"/>
                </a:lnTo>
                <a:lnTo>
                  <a:pt x="242550" y="427621"/>
                </a:lnTo>
                <a:lnTo>
                  <a:pt x="217940" y="396288"/>
                </a:lnTo>
                <a:lnTo>
                  <a:pt x="203093" y="359996"/>
                </a:lnTo>
                <a:lnTo>
                  <a:pt x="197853" y="320763"/>
                </a:lnTo>
                <a:lnTo>
                  <a:pt x="204705" y="267852"/>
                </a:lnTo>
                <a:lnTo>
                  <a:pt x="225394" y="223496"/>
                </a:lnTo>
                <a:lnTo>
                  <a:pt x="258063" y="189455"/>
                </a:lnTo>
                <a:lnTo>
                  <a:pt x="300857" y="167489"/>
                </a:lnTo>
                <a:lnTo>
                  <a:pt x="351917" y="159359"/>
                </a:lnTo>
                <a:lnTo>
                  <a:pt x="623613" y="159359"/>
                </a:lnTo>
                <a:lnTo>
                  <a:pt x="535317" y="6019"/>
                </a:lnTo>
                <a:lnTo>
                  <a:pt x="532033" y="2552"/>
                </a:lnTo>
                <a:lnTo>
                  <a:pt x="240944" y="2374"/>
                </a:lnTo>
                <a:lnTo>
                  <a:pt x="224918" y="1629"/>
                </a:lnTo>
                <a:lnTo>
                  <a:pt x="208692" y="592"/>
                </a:lnTo>
                <a:close/>
              </a:path>
              <a:path w="708660" h="622935">
                <a:moveTo>
                  <a:pt x="623613" y="159359"/>
                </a:moveTo>
                <a:lnTo>
                  <a:pt x="351917" y="159359"/>
                </a:lnTo>
                <a:lnTo>
                  <a:pt x="401902" y="167014"/>
                </a:lnTo>
                <a:lnTo>
                  <a:pt x="444571" y="189422"/>
                </a:lnTo>
                <a:lnTo>
                  <a:pt x="477730" y="223939"/>
                </a:lnTo>
                <a:lnTo>
                  <a:pt x="499184" y="267923"/>
                </a:lnTo>
                <a:lnTo>
                  <a:pt x="506742" y="318731"/>
                </a:lnTo>
                <a:lnTo>
                  <a:pt x="499336" y="362738"/>
                </a:lnTo>
                <a:lnTo>
                  <a:pt x="479315" y="403834"/>
                </a:lnTo>
                <a:lnTo>
                  <a:pt x="449974" y="438223"/>
                </a:lnTo>
                <a:lnTo>
                  <a:pt x="414610" y="462108"/>
                </a:lnTo>
                <a:lnTo>
                  <a:pt x="376516" y="471690"/>
                </a:lnTo>
                <a:lnTo>
                  <a:pt x="619842" y="471690"/>
                </a:lnTo>
                <a:lnTo>
                  <a:pt x="681618" y="364682"/>
                </a:lnTo>
                <a:lnTo>
                  <a:pt x="705548" y="323494"/>
                </a:lnTo>
                <a:lnTo>
                  <a:pt x="708431" y="316469"/>
                </a:lnTo>
                <a:lnTo>
                  <a:pt x="708669" y="310259"/>
                </a:lnTo>
                <a:lnTo>
                  <a:pt x="706902" y="304390"/>
                </a:lnTo>
                <a:lnTo>
                  <a:pt x="703770" y="298386"/>
                </a:lnTo>
                <a:lnTo>
                  <a:pt x="623613" y="159359"/>
                </a:lnTo>
                <a:close/>
              </a:path>
              <a:path w="708660" h="622935">
                <a:moveTo>
                  <a:pt x="529615" y="0"/>
                </a:moveTo>
                <a:lnTo>
                  <a:pt x="522198" y="2552"/>
                </a:lnTo>
                <a:lnTo>
                  <a:pt x="532033" y="2552"/>
                </a:lnTo>
                <a:lnTo>
                  <a:pt x="529615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76801" y="1486966"/>
            <a:ext cx="1819910" cy="273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5" b="1">
                <a:solidFill>
                  <a:srgbClr val="5D5E5E"/>
                </a:solidFill>
                <a:latin typeface="Arial"/>
                <a:cs typeface="Arial"/>
              </a:rPr>
              <a:t>Snapchat </a:t>
            </a:r>
            <a:r>
              <a:rPr dirty="0" sz="1700" spc="95" b="1">
                <a:solidFill>
                  <a:srgbClr val="5D5E5E"/>
                </a:solidFill>
                <a:latin typeface="Arial"/>
                <a:cs typeface="Arial"/>
              </a:rPr>
              <a:t>-</a:t>
            </a:r>
            <a:r>
              <a:rPr dirty="0" sz="1700" spc="-105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90" b="1">
                <a:solidFill>
                  <a:srgbClr val="5D5E5E"/>
                </a:solidFill>
                <a:latin typeface="Arial"/>
                <a:cs typeface="Arial"/>
              </a:rPr>
              <a:t>Google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166" y="3041446"/>
            <a:ext cx="2466975" cy="273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70" b="1">
                <a:solidFill>
                  <a:srgbClr val="5D5E5E"/>
                </a:solidFill>
                <a:latin typeface="Arial"/>
                <a:cs typeface="Arial"/>
              </a:rPr>
              <a:t>Snap </a:t>
            </a:r>
            <a:r>
              <a:rPr dirty="0" sz="1700" spc="-114" b="1">
                <a:solidFill>
                  <a:srgbClr val="5D5E5E"/>
                </a:solidFill>
                <a:latin typeface="Arial"/>
                <a:cs typeface="Arial"/>
              </a:rPr>
              <a:t>&amp; </a:t>
            </a:r>
            <a:r>
              <a:rPr dirty="0" sz="1700" spc="-60" b="1">
                <a:solidFill>
                  <a:srgbClr val="5D5E5E"/>
                </a:solidFill>
                <a:latin typeface="Arial"/>
                <a:cs typeface="Arial"/>
              </a:rPr>
              <a:t>Share </a:t>
            </a:r>
            <a:r>
              <a:rPr dirty="0" sz="1700" spc="-45" b="1">
                <a:solidFill>
                  <a:srgbClr val="5D5E5E"/>
                </a:solidFill>
                <a:latin typeface="Arial"/>
                <a:cs typeface="Arial"/>
              </a:rPr>
              <a:t>via</a:t>
            </a:r>
            <a:r>
              <a:rPr dirty="0" sz="1700" spc="-25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90" b="1">
                <a:solidFill>
                  <a:srgbClr val="5D5E5E"/>
                </a:solidFill>
                <a:latin typeface="Arial"/>
                <a:cs typeface="Arial"/>
              </a:rPr>
              <a:t>Google!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004" y="1465023"/>
            <a:ext cx="247142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signiﬁcantly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Spotify 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long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run.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say: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 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devil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2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know…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004" y="2234704"/>
            <a:ext cx="2621915" cy="1530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What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changed</a:t>
            </a:r>
            <a:r>
              <a:rPr dirty="0" sz="120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now?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Recently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balance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shifted.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storage,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available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providers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quality,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high performance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low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cost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traditional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approach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provides.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makes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move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brainer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004" y="3949204"/>
            <a:ext cx="2632710" cy="1911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Why</a:t>
            </a:r>
            <a:r>
              <a:rPr dirty="0" sz="1200" spc="-1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C99CF"/>
                </a:solidFill>
                <a:latin typeface="Arial"/>
                <a:cs typeface="Arial"/>
              </a:rPr>
              <a:t>Google?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really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tipped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scales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towards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however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experience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tools.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infrastructure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isn’t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just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keeping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things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running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it’s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making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teams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efﬁcient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more effective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Goo-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gle’s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stack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does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spades.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004" y="6037023"/>
            <a:ext cx="2614930" cy="2299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one </a:t>
            </a:r>
            <a:r>
              <a:rPr dirty="0" sz="1200" spc="10">
                <a:solidFill>
                  <a:srgbClr val="2C99CF"/>
                </a:solidFill>
                <a:latin typeface="Arial"/>
                <a:cs typeface="Arial"/>
              </a:rPr>
              <a:t>thing </a:t>
            </a:r>
            <a:r>
              <a:rPr dirty="0" sz="1200" spc="25">
                <a:solidFill>
                  <a:srgbClr val="2C99CF"/>
                </a:solidFill>
                <a:latin typeface="Arial"/>
                <a:cs typeface="Arial"/>
              </a:rPr>
              <a:t>that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tipped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the </a:t>
            </a:r>
            <a:r>
              <a:rPr dirty="0" sz="1200" spc="-20">
                <a:solidFill>
                  <a:srgbClr val="2C99CF"/>
                </a:solidFill>
                <a:latin typeface="Arial"/>
                <a:cs typeface="Arial"/>
              </a:rPr>
              <a:t>balance: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 long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been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thought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leader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space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(data warehousing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analytics), 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shows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sophistication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quality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offerings. From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traditional batch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Dataproc,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rock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solid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event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delivery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Pub/Sub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nearly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magical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abilities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BigQuery,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building on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infrastruc-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ture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provides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signiﬁcant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advantage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where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matters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most.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5004" y="8521204"/>
            <a:ext cx="2618105" cy="768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</a:pPr>
            <a:r>
              <a:rPr dirty="0" sz="1200" spc="-40">
                <a:solidFill>
                  <a:srgbClr val="2C99CF"/>
                </a:solidFill>
                <a:latin typeface="Arial"/>
                <a:cs typeface="Arial"/>
              </a:rPr>
              <a:t>Our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Final</a:t>
            </a:r>
            <a:r>
              <a:rPr dirty="0" sz="1200" spc="-11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thoughts: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4200"/>
              </a:lnSpc>
            </a:pP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We’re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pretty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excited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Googley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future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hope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you’ll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ﬁnd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interesting  too.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6478" y="1888210"/>
            <a:ext cx="1054417" cy="10544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37000" y="3568258"/>
            <a:ext cx="2587625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Unlike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others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ilk,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Snapchat,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facto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social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for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millennials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wildly successful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bypassing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AWS.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000" y="4520758"/>
            <a:ext cx="2374900" cy="775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Here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what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Snapchat co-founder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Bobby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Murphy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said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about why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they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chose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Engine: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000" y="5480939"/>
            <a:ext cx="2637155" cy="1334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40">
                <a:solidFill>
                  <a:srgbClr val="2C99CF"/>
                </a:solidFill>
                <a:latin typeface="Arial"/>
                <a:cs typeface="Arial"/>
              </a:rPr>
              <a:t>Easy </a:t>
            </a:r>
            <a:r>
              <a:rPr dirty="0" sz="1200" spc="2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20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C99CF"/>
                </a:solidFill>
                <a:latin typeface="Arial"/>
                <a:cs typeface="Arial"/>
              </a:rPr>
              <a:t>Use</a:t>
            </a:r>
            <a:endParaRPr sz="1200">
              <a:latin typeface="Arial"/>
              <a:cs typeface="Arial"/>
            </a:endParaRPr>
          </a:p>
          <a:p>
            <a:pPr marL="12700" marR="100965">
              <a:lnSpc>
                <a:spcPct val="104200"/>
              </a:lnSpc>
            </a:pP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“App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enabled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focus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developing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application.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We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wouldn’t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have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gotten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here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without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 gave</a:t>
            </a:r>
            <a:r>
              <a:rPr dirty="0" sz="1200" spc="-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us.”</a:t>
            </a:r>
            <a:endParaRPr sz="1200">
              <a:latin typeface="Arial"/>
              <a:cs typeface="Arial"/>
            </a:endParaRPr>
          </a:p>
          <a:p>
            <a:pPr marL="635635">
              <a:lnSpc>
                <a:spcPct val="100000"/>
              </a:lnSpc>
              <a:spcBef>
                <a:spcPts val="260"/>
              </a:spcBef>
            </a:pP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Bobby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Murphy </a:t>
            </a:r>
            <a:r>
              <a:rPr dirty="0" sz="1000" spc="-80">
                <a:solidFill>
                  <a:srgbClr val="231F20"/>
                </a:solidFill>
                <a:latin typeface="Arial"/>
                <a:cs typeface="Arial"/>
              </a:rPr>
              <a:t>CTO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0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co-Founder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000" y="7004939"/>
            <a:ext cx="2637155" cy="1144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Auto</a:t>
            </a:r>
            <a:r>
              <a:rPr dirty="0" sz="120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12700" marR="17780">
              <a:lnSpc>
                <a:spcPct val="1042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"Cloud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gives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upfront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ease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added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comfort of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knowing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whatever 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building,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needs to,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scale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ad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inﬁnitum."</a:t>
            </a:r>
            <a:endParaRPr sz="1200">
              <a:latin typeface="Arial"/>
              <a:cs typeface="Arial"/>
            </a:endParaRPr>
          </a:p>
          <a:p>
            <a:pPr marL="495934">
              <a:lnSpc>
                <a:spcPct val="100000"/>
              </a:lnSpc>
              <a:spcBef>
                <a:spcPts val="259"/>
              </a:spcBef>
            </a:pPr>
            <a:r>
              <a:rPr dirty="0" sz="1000" spc="-190">
                <a:solidFill>
                  <a:srgbClr val="231F20"/>
                </a:solidFill>
                <a:latin typeface="Arial"/>
                <a:cs typeface="Arial"/>
              </a:rPr>
              <a:t>—   </a:t>
            </a:r>
            <a:r>
              <a:rPr dirty="0" sz="1000" spc="-15">
                <a:solidFill>
                  <a:srgbClr val="231F20"/>
                </a:solidFill>
                <a:latin typeface="Arial"/>
                <a:cs typeface="Arial"/>
              </a:rPr>
              <a:t>Bobby </a:t>
            </a:r>
            <a:r>
              <a:rPr dirty="0" sz="1000" spc="-20">
                <a:solidFill>
                  <a:srgbClr val="231F20"/>
                </a:solidFill>
                <a:latin typeface="Arial"/>
                <a:cs typeface="Arial"/>
              </a:rPr>
              <a:t>Murphy, </a:t>
            </a:r>
            <a:r>
              <a:rPr dirty="0" sz="1000" spc="-95">
                <a:solidFill>
                  <a:srgbClr val="231F20"/>
                </a:solidFill>
                <a:latin typeface="Arial"/>
                <a:cs typeface="Arial"/>
              </a:rPr>
              <a:t>CTO,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0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co-founder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7000" y="8338439"/>
            <a:ext cx="2606040" cy="57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Launch</a:t>
            </a:r>
            <a:r>
              <a:rPr dirty="0" sz="1200" spc="-9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C99CF"/>
                </a:solidFill>
                <a:latin typeface="Arial"/>
                <a:cs typeface="Arial"/>
              </a:rPr>
              <a:t>Quickly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“And,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time,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obviously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our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biggest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priority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24592" y="9469677"/>
            <a:ext cx="262826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z="800" spc="-35">
                <a:solidFill>
                  <a:srgbClr val="5D5E5E"/>
                </a:solidFill>
                <a:latin typeface="Arial"/>
                <a:cs typeface="Arial"/>
              </a:rPr>
              <a:t>A </a:t>
            </a:r>
            <a:r>
              <a:rPr dirty="0" sz="800" spc="-45">
                <a:solidFill>
                  <a:srgbClr val="5D5E5E"/>
                </a:solidFill>
                <a:latin typeface="Arial"/>
                <a:cs typeface="Arial"/>
              </a:rPr>
              <a:t>COMPLETE </a:t>
            </a:r>
            <a:r>
              <a:rPr dirty="0" sz="800" spc="-55">
                <a:solidFill>
                  <a:srgbClr val="5D5E5E"/>
                </a:solidFill>
                <a:latin typeface="Arial"/>
                <a:cs typeface="Arial"/>
              </a:rPr>
              <a:t>GUIDE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TO </a:t>
            </a:r>
            <a:r>
              <a:rPr dirty="0" sz="800" spc="-75">
                <a:solidFill>
                  <a:srgbClr val="5D5E5E"/>
                </a:solidFill>
                <a:latin typeface="Arial"/>
                <a:cs typeface="Arial"/>
              </a:rPr>
              <a:t>GOOGLE </a:t>
            </a:r>
            <a:r>
              <a:rPr dirty="0" sz="800" spc="-60">
                <a:solidFill>
                  <a:srgbClr val="5D5E5E"/>
                </a:solidFill>
                <a:latin typeface="Arial"/>
                <a:cs typeface="Arial"/>
              </a:rPr>
              <a:t>CLOUD </a:t>
            </a:r>
            <a:r>
              <a:rPr dirty="0" sz="800" spc="-40">
                <a:solidFill>
                  <a:srgbClr val="5D5E5E"/>
                </a:solidFill>
                <a:latin typeface="Arial"/>
                <a:cs typeface="Arial"/>
              </a:rPr>
              <a:t>PLATFORM </a:t>
            </a:r>
            <a:r>
              <a:rPr dirty="0" sz="800" spc="50">
                <a:solidFill>
                  <a:srgbClr val="5D5E5E"/>
                </a:solidFill>
                <a:latin typeface="Arial"/>
                <a:cs typeface="Arial"/>
              </a:rPr>
              <a:t>//</a:t>
            </a:r>
            <a:r>
              <a:rPr dirty="0" sz="800" spc="80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800" spc="5">
                <a:solidFill>
                  <a:srgbClr val="5D5E5E"/>
                </a:solidFill>
                <a:latin typeface="Arial"/>
                <a:cs typeface="Arial"/>
              </a:rPr>
              <a:t>40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002" y="1457404"/>
            <a:ext cx="2637155" cy="588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18135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hands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users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world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-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worl</a:t>
            </a:r>
            <a:r>
              <a:rPr dirty="0" sz="1200" spc="-10">
                <a:solidFill>
                  <a:srgbClr val="231F20"/>
                </a:solidFill>
                <a:latin typeface="Lucida Sans"/>
                <a:cs typeface="Lucida Sans"/>
              </a:rPr>
              <a:t>d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-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quickly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possible”</a:t>
            </a:r>
            <a:endParaRPr sz="1200">
              <a:latin typeface="Arial"/>
              <a:cs typeface="Arial"/>
            </a:endParaRPr>
          </a:p>
          <a:p>
            <a:pPr marL="594360">
              <a:lnSpc>
                <a:spcPct val="100000"/>
              </a:lnSpc>
              <a:spcBef>
                <a:spcPts val="320"/>
              </a:spcBef>
            </a:pP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-Bobby </a:t>
            </a:r>
            <a:r>
              <a:rPr dirty="0" sz="1000" spc="-20">
                <a:solidFill>
                  <a:srgbClr val="231F20"/>
                </a:solidFill>
                <a:latin typeface="Arial"/>
                <a:cs typeface="Arial"/>
              </a:rPr>
              <a:t>Murphy, </a:t>
            </a:r>
            <a:r>
              <a:rPr dirty="0" sz="1000" spc="-95">
                <a:solidFill>
                  <a:srgbClr val="231F20"/>
                </a:solidFill>
                <a:latin typeface="Arial"/>
                <a:cs typeface="Arial"/>
              </a:rPr>
              <a:t>CTO,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 co-founder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004" y="2227023"/>
            <a:ext cx="2637155" cy="1151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47625">
              <a:lnSpc>
                <a:spcPct val="104200"/>
              </a:lnSpc>
            </a:pP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Let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us </a:t>
            </a:r>
            <a:r>
              <a:rPr dirty="0" sz="1200" spc="15">
                <a:solidFill>
                  <a:srgbClr val="2C99CF"/>
                </a:solidFill>
                <a:latin typeface="Arial"/>
                <a:cs typeface="Arial"/>
              </a:rPr>
              <a:t>focus </a:t>
            </a:r>
            <a:r>
              <a:rPr dirty="0" sz="1200">
                <a:solidFill>
                  <a:srgbClr val="2C99CF"/>
                </a:solidFill>
                <a:latin typeface="Arial"/>
                <a:cs typeface="Arial"/>
              </a:rPr>
              <a:t>on </a:t>
            </a: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Adding New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features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“Biggest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beneﬁt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fact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we  can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focus much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less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maintaining  infrastructure,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much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 building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stuff.”</a:t>
            </a:r>
            <a:endParaRPr sz="1200">
              <a:latin typeface="Arial"/>
              <a:cs typeface="Arial"/>
            </a:endParaRPr>
          </a:p>
          <a:p>
            <a:pPr marL="594360">
              <a:lnSpc>
                <a:spcPct val="100000"/>
              </a:lnSpc>
              <a:spcBef>
                <a:spcPts val="260"/>
              </a:spcBef>
            </a:pPr>
            <a:r>
              <a:rPr dirty="0" sz="1000" spc="-25">
                <a:solidFill>
                  <a:srgbClr val="231F20"/>
                </a:solidFill>
                <a:latin typeface="Arial"/>
                <a:cs typeface="Arial"/>
              </a:rPr>
              <a:t>-Bobby </a:t>
            </a:r>
            <a:r>
              <a:rPr dirty="0" sz="1000" spc="-20">
                <a:solidFill>
                  <a:srgbClr val="231F20"/>
                </a:solidFill>
                <a:latin typeface="Arial"/>
                <a:cs typeface="Arial"/>
              </a:rPr>
              <a:t>Murphy, </a:t>
            </a:r>
            <a:r>
              <a:rPr dirty="0" sz="1000" spc="-95">
                <a:solidFill>
                  <a:srgbClr val="231F20"/>
                </a:solidFill>
                <a:latin typeface="Arial"/>
                <a:cs typeface="Arial"/>
              </a:rPr>
              <a:t>CTO, </a:t>
            </a:r>
            <a:r>
              <a:rPr dirty="0" sz="10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000" spc="-5">
                <a:solidFill>
                  <a:srgbClr val="231F20"/>
                </a:solidFill>
                <a:latin typeface="Arial"/>
                <a:cs typeface="Arial"/>
              </a:rPr>
              <a:t> co-founder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995" y="3560129"/>
            <a:ext cx="2628265" cy="608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</a:pPr>
            <a:r>
              <a:rPr dirty="0" sz="1400" spc="-5">
                <a:solidFill>
                  <a:srgbClr val="202020"/>
                </a:solidFill>
                <a:latin typeface="Arial"/>
                <a:cs typeface="Arial"/>
              </a:rPr>
              <a:t>Update: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Snapchat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now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third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most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popular social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among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millen-  nials.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995" y="4345396"/>
            <a:ext cx="244411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#Snapchat: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100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million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active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users,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9000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snaps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shared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second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Click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Tweet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064" y="5112537"/>
            <a:ext cx="2566670" cy="654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</a:pP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Despite </a:t>
            </a:r>
            <a:r>
              <a:rPr dirty="0" sz="1400" spc="-10" i="1">
                <a:solidFill>
                  <a:srgbClr val="2C99CF"/>
                </a:solidFill>
                <a:latin typeface="Calibri"/>
                <a:cs typeface="Calibri"/>
              </a:rPr>
              <a:t>rapid </a:t>
            </a:r>
            <a:r>
              <a:rPr dirty="0" sz="1400" spc="-25" i="1">
                <a:solidFill>
                  <a:srgbClr val="2C99CF"/>
                </a:solidFill>
                <a:latin typeface="Calibri"/>
                <a:cs typeface="Calibri"/>
              </a:rPr>
              <a:t>growth,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the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app </a:t>
            </a:r>
            <a:r>
              <a:rPr dirty="0" sz="1400" spc="-15" i="1">
                <a:solidFill>
                  <a:srgbClr val="2C99CF"/>
                </a:solidFill>
                <a:latin typeface="Calibri"/>
                <a:cs typeface="Calibri"/>
              </a:rPr>
              <a:t>built  </a:t>
            </a: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on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Google </a:t>
            </a:r>
            <a:r>
              <a:rPr dirty="0" sz="1400" spc="5" i="1">
                <a:solidFill>
                  <a:srgbClr val="2C99CF"/>
                </a:solidFill>
                <a:latin typeface="Calibri"/>
                <a:cs typeface="Calibri"/>
              </a:rPr>
              <a:t>App </a:t>
            </a:r>
            <a:r>
              <a:rPr dirty="0" sz="1400" spc="15" i="1">
                <a:solidFill>
                  <a:srgbClr val="2C99CF"/>
                </a:solidFill>
                <a:latin typeface="Calibri"/>
                <a:cs typeface="Calibri"/>
              </a:rPr>
              <a:t>Engine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hasn't expe-  </a:t>
            </a: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rienced </a:t>
            </a:r>
            <a:r>
              <a:rPr dirty="0" sz="1400" i="1">
                <a:solidFill>
                  <a:srgbClr val="2C99CF"/>
                </a:solidFill>
                <a:latin typeface="Calibri"/>
                <a:cs typeface="Calibri"/>
              </a:rPr>
              <a:t>any </a:t>
            </a:r>
            <a:r>
              <a:rPr dirty="0" sz="1400" spc="-5" i="1">
                <a:solidFill>
                  <a:srgbClr val="2C99CF"/>
                </a:solidFill>
                <a:latin typeface="Calibri"/>
                <a:cs typeface="Calibri"/>
              </a:rPr>
              <a:t>major</a:t>
            </a:r>
            <a:r>
              <a:rPr dirty="0" sz="1400" spc="-20" i="1">
                <a:solidFill>
                  <a:srgbClr val="2C99CF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2C99CF"/>
                </a:solidFill>
                <a:latin typeface="Calibri"/>
                <a:cs typeface="Calibri"/>
              </a:rPr>
              <a:t>outages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5297" y="6521041"/>
            <a:ext cx="887094" cy="515620"/>
          </a:xfrm>
          <a:custGeom>
            <a:avLst/>
            <a:gdLst/>
            <a:ahLst/>
            <a:cxnLst/>
            <a:rect l="l" t="t" r="r" b="b"/>
            <a:pathLst>
              <a:path w="887094" h="515620">
                <a:moveTo>
                  <a:pt x="373794" y="0"/>
                </a:moveTo>
                <a:lnTo>
                  <a:pt x="223329" y="344"/>
                </a:lnTo>
                <a:lnTo>
                  <a:pt x="185073" y="9795"/>
                </a:lnTo>
                <a:lnTo>
                  <a:pt x="156476" y="37657"/>
                </a:lnTo>
                <a:lnTo>
                  <a:pt x="140779" y="64733"/>
                </a:lnTo>
                <a:lnTo>
                  <a:pt x="0" y="310783"/>
                </a:lnTo>
                <a:lnTo>
                  <a:pt x="118084" y="515469"/>
                </a:lnTo>
                <a:lnTo>
                  <a:pt x="263601" y="260440"/>
                </a:lnTo>
                <a:lnTo>
                  <a:pt x="263956" y="259970"/>
                </a:lnTo>
                <a:lnTo>
                  <a:pt x="264261" y="259488"/>
                </a:lnTo>
                <a:lnTo>
                  <a:pt x="271630" y="245170"/>
                </a:lnTo>
                <a:lnTo>
                  <a:pt x="278480" y="230248"/>
                </a:lnTo>
                <a:lnTo>
                  <a:pt x="286505" y="217081"/>
                </a:lnTo>
                <a:lnTo>
                  <a:pt x="297395" y="208027"/>
                </a:lnTo>
                <a:lnTo>
                  <a:pt x="311276" y="204165"/>
                </a:lnTo>
                <a:lnTo>
                  <a:pt x="326783" y="203667"/>
                </a:lnTo>
                <a:lnTo>
                  <a:pt x="645982" y="203667"/>
                </a:lnTo>
                <a:lnTo>
                  <a:pt x="647700" y="203074"/>
                </a:lnTo>
                <a:lnTo>
                  <a:pt x="884263" y="203074"/>
                </a:lnTo>
                <a:lnTo>
                  <a:pt x="866922" y="171701"/>
                </a:lnTo>
                <a:lnTo>
                  <a:pt x="856984" y="153868"/>
                </a:lnTo>
                <a:lnTo>
                  <a:pt x="846874" y="136133"/>
                </a:lnTo>
                <a:lnTo>
                  <a:pt x="833968" y="114616"/>
                </a:lnTo>
                <a:lnTo>
                  <a:pt x="820794" y="93242"/>
                </a:lnTo>
                <a:lnTo>
                  <a:pt x="808001" y="71682"/>
                </a:lnTo>
                <a:lnTo>
                  <a:pt x="783651" y="29755"/>
                </a:lnTo>
                <a:lnTo>
                  <a:pt x="747588" y="3793"/>
                </a:lnTo>
                <a:lnTo>
                  <a:pt x="724877" y="78"/>
                </a:lnTo>
                <a:lnTo>
                  <a:pt x="373794" y="0"/>
                </a:lnTo>
                <a:close/>
              </a:path>
              <a:path w="887094" h="515620">
                <a:moveTo>
                  <a:pt x="884263" y="203074"/>
                </a:moveTo>
                <a:lnTo>
                  <a:pt x="647700" y="203074"/>
                </a:lnTo>
                <a:lnTo>
                  <a:pt x="653402" y="209094"/>
                </a:lnTo>
                <a:lnTo>
                  <a:pt x="886675" y="207431"/>
                </a:lnTo>
                <a:lnTo>
                  <a:pt x="884263" y="203074"/>
                </a:lnTo>
                <a:close/>
              </a:path>
              <a:path w="887094" h="515620">
                <a:moveTo>
                  <a:pt x="645982" y="203667"/>
                </a:moveTo>
                <a:lnTo>
                  <a:pt x="326783" y="203667"/>
                </a:lnTo>
                <a:lnTo>
                  <a:pt x="343005" y="204704"/>
                </a:lnTo>
                <a:lnTo>
                  <a:pt x="359029" y="205449"/>
                </a:lnTo>
                <a:lnTo>
                  <a:pt x="640295" y="205627"/>
                </a:lnTo>
                <a:lnTo>
                  <a:pt x="645982" y="203667"/>
                </a:lnTo>
                <a:close/>
              </a:path>
            </a:pathLst>
          </a:custGeom>
          <a:solidFill>
            <a:srgbClr val="5C8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8333" y="6831825"/>
            <a:ext cx="755650" cy="720090"/>
          </a:xfrm>
          <a:custGeom>
            <a:avLst/>
            <a:gdLst/>
            <a:ahLst/>
            <a:cxnLst/>
            <a:rect l="l" t="t" r="r" b="b"/>
            <a:pathLst>
              <a:path w="755650" h="720090">
                <a:moveTo>
                  <a:pt x="106964" y="0"/>
                </a:moveTo>
                <a:lnTo>
                  <a:pt x="34581" y="125229"/>
                </a:lnTo>
                <a:lnTo>
                  <a:pt x="10672" y="167093"/>
                </a:lnTo>
                <a:lnTo>
                  <a:pt x="2438" y="186870"/>
                </a:lnTo>
                <a:lnTo>
                  <a:pt x="0" y="206730"/>
                </a:lnTo>
                <a:lnTo>
                  <a:pt x="3202" y="226590"/>
                </a:lnTo>
                <a:lnTo>
                  <a:pt x="11891" y="246367"/>
                </a:lnTo>
                <a:lnTo>
                  <a:pt x="165849" y="514743"/>
                </a:lnTo>
                <a:lnTo>
                  <a:pt x="260697" y="680300"/>
                </a:lnTo>
                <a:lnTo>
                  <a:pt x="301622" y="716394"/>
                </a:lnTo>
                <a:lnTo>
                  <a:pt x="426941" y="719812"/>
                </a:lnTo>
                <a:lnTo>
                  <a:pt x="640338" y="719594"/>
                </a:lnTo>
                <a:lnTo>
                  <a:pt x="737328" y="548284"/>
                </a:lnTo>
                <a:lnTo>
                  <a:pt x="741906" y="539966"/>
                </a:lnTo>
                <a:lnTo>
                  <a:pt x="746353" y="531575"/>
                </a:lnTo>
                <a:lnTo>
                  <a:pt x="755159" y="514743"/>
                </a:lnTo>
                <a:lnTo>
                  <a:pt x="423194" y="514578"/>
                </a:lnTo>
                <a:lnTo>
                  <a:pt x="412416" y="513571"/>
                </a:lnTo>
                <a:lnTo>
                  <a:pt x="403926" y="510246"/>
                </a:lnTo>
                <a:lnTo>
                  <a:pt x="397024" y="504346"/>
                </a:lnTo>
                <a:lnTo>
                  <a:pt x="391012" y="495617"/>
                </a:lnTo>
                <a:lnTo>
                  <a:pt x="365564" y="450851"/>
                </a:lnTo>
                <a:lnTo>
                  <a:pt x="237316" y="227609"/>
                </a:lnTo>
                <a:lnTo>
                  <a:pt x="234151" y="221936"/>
                </a:lnTo>
                <a:lnTo>
                  <a:pt x="231092" y="216200"/>
                </a:lnTo>
                <a:lnTo>
                  <a:pt x="225048" y="204685"/>
                </a:lnTo>
                <a:lnTo>
                  <a:pt x="106964" y="0"/>
                </a:lnTo>
                <a:close/>
              </a:path>
              <a:path w="755650" h="720090">
                <a:moveTo>
                  <a:pt x="470617" y="514373"/>
                </a:moveTo>
                <a:lnTo>
                  <a:pt x="423194" y="514578"/>
                </a:lnTo>
                <a:lnTo>
                  <a:pt x="688494" y="514578"/>
                </a:lnTo>
                <a:lnTo>
                  <a:pt x="470617" y="514373"/>
                </a:lnTo>
                <a:close/>
              </a:path>
            </a:pathLst>
          </a:custGeom>
          <a:solidFill>
            <a:srgbClr val="FFCF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58671" y="6728473"/>
            <a:ext cx="519430" cy="823594"/>
          </a:xfrm>
          <a:custGeom>
            <a:avLst/>
            <a:gdLst/>
            <a:ahLst/>
            <a:cxnLst/>
            <a:rect l="l" t="t" r="r" b="b"/>
            <a:pathLst>
              <a:path w="519430" h="823595">
                <a:moveTo>
                  <a:pt x="353301" y="0"/>
                </a:moveTo>
                <a:lnTo>
                  <a:pt x="120027" y="1663"/>
                </a:lnTo>
                <a:lnTo>
                  <a:pt x="288493" y="294017"/>
                </a:lnTo>
                <a:lnTo>
                  <a:pt x="291617" y="300023"/>
                </a:lnTo>
                <a:lnTo>
                  <a:pt x="293381" y="305896"/>
                </a:lnTo>
                <a:lnTo>
                  <a:pt x="293141" y="312111"/>
                </a:lnTo>
                <a:lnTo>
                  <a:pt x="290258" y="319138"/>
                </a:lnTo>
                <a:lnTo>
                  <a:pt x="266333" y="360326"/>
                </a:lnTo>
                <a:lnTo>
                  <a:pt x="121399" y="611847"/>
                </a:lnTo>
                <a:lnTo>
                  <a:pt x="120078" y="616724"/>
                </a:lnTo>
                <a:lnTo>
                  <a:pt x="114833" y="618083"/>
                </a:lnTo>
                <a:lnTo>
                  <a:pt x="106016" y="634926"/>
                </a:lnTo>
                <a:lnTo>
                  <a:pt x="101567" y="643318"/>
                </a:lnTo>
                <a:lnTo>
                  <a:pt x="96989" y="651637"/>
                </a:lnTo>
                <a:lnTo>
                  <a:pt x="0" y="822947"/>
                </a:lnTo>
                <a:lnTo>
                  <a:pt x="189572" y="823455"/>
                </a:lnTo>
                <a:lnTo>
                  <a:pt x="231827" y="812339"/>
                </a:lnTo>
                <a:lnTo>
                  <a:pt x="261404" y="780173"/>
                </a:lnTo>
                <a:lnTo>
                  <a:pt x="506399" y="352818"/>
                </a:lnTo>
                <a:lnTo>
                  <a:pt x="519355" y="308467"/>
                </a:lnTo>
                <a:lnTo>
                  <a:pt x="515974" y="286556"/>
                </a:lnTo>
                <a:lnTo>
                  <a:pt x="505993" y="264477"/>
                </a:lnTo>
                <a:lnTo>
                  <a:pt x="492613" y="241635"/>
                </a:lnTo>
                <a:lnTo>
                  <a:pt x="479499" y="218635"/>
                </a:lnTo>
                <a:lnTo>
                  <a:pt x="466468" y="195584"/>
                </a:lnTo>
                <a:lnTo>
                  <a:pt x="453339" y="172593"/>
                </a:lnTo>
                <a:lnTo>
                  <a:pt x="353301" y="0"/>
                </a:lnTo>
                <a:close/>
              </a:path>
            </a:pathLst>
          </a:custGeom>
          <a:solidFill>
            <a:srgbClr val="D846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43393" y="6724116"/>
            <a:ext cx="708660" cy="622935"/>
          </a:xfrm>
          <a:custGeom>
            <a:avLst/>
            <a:gdLst/>
            <a:ahLst/>
            <a:cxnLst/>
            <a:rect l="l" t="t" r="r" b="b"/>
            <a:pathLst>
              <a:path w="708660" h="622934">
                <a:moveTo>
                  <a:pt x="531757" y="622021"/>
                </a:moveTo>
                <a:lnTo>
                  <a:pt x="340406" y="622021"/>
                </a:lnTo>
                <a:lnTo>
                  <a:pt x="530110" y="622452"/>
                </a:lnTo>
                <a:lnTo>
                  <a:pt x="531757" y="622021"/>
                </a:lnTo>
                <a:close/>
              </a:path>
              <a:path w="708660" h="622934">
                <a:moveTo>
                  <a:pt x="208692" y="592"/>
                </a:moveTo>
                <a:lnTo>
                  <a:pt x="168410" y="14008"/>
                </a:lnTo>
                <a:lnTo>
                  <a:pt x="153543" y="42100"/>
                </a:lnTo>
                <a:lnTo>
                  <a:pt x="146176" y="56413"/>
                </a:lnTo>
                <a:lnTo>
                  <a:pt x="145872" y="56895"/>
                </a:lnTo>
                <a:lnTo>
                  <a:pt x="145516" y="57365"/>
                </a:lnTo>
                <a:lnTo>
                  <a:pt x="0" y="312394"/>
                </a:lnTo>
                <a:lnTo>
                  <a:pt x="6037" y="323910"/>
                </a:lnTo>
                <a:lnTo>
                  <a:pt x="9092" y="329650"/>
                </a:lnTo>
                <a:lnTo>
                  <a:pt x="12255" y="335330"/>
                </a:lnTo>
                <a:lnTo>
                  <a:pt x="140506" y="558560"/>
                </a:lnTo>
                <a:lnTo>
                  <a:pt x="165950" y="603326"/>
                </a:lnTo>
                <a:lnTo>
                  <a:pt x="171965" y="612055"/>
                </a:lnTo>
                <a:lnTo>
                  <a:pt x="178871" y="617955"/>
                </a:lnTo>
                <a:lnTo>
                  <a:pt x="187366" y="621280"/>
                </a:lnTo>
                <a:lnTo>
                  <a:pt x="198145" y="622287"/>
                </a:lnTo>
                <a:lnTo>
                  <a:pt x="531757" y="622021"/>
                </a:lnTo>
                <a:lnTo>
                  <a:pt x="535355" y="621080"/>
                </a:lnTo>
                <a:lnTo>
                  <a:pt x="536676" y="616203"/>
                </a:lnTo>
                <a:lnTo>
                  <a:pt x="619842" y="471690"/>
                </a:lnTo>
                <a:lnTo>
                  <a:pt x="376516" y="471690"/>
                </a:lnTo>
                <a:lnTo>
                  <a:pt x="321683" y="467340"/>
                </a:lnTo>
                <a:lnTo>
                  <a:pt x="277079" y="451978"/>
                </a:lnTo>
                <a:lnTo>
                  <a:pt x="242550" y="427621"/>
                </a:lnTo>
                <a:lnTo>
                  <a:pt x="217940" y="396288"/>
                </a:lnTo>
                <a:lnTo>
                  <a:pt x="203093" y="359996"/>
                </a:lnTo>
                <a:lnTo>
                  <a:pt x="197853" y="320763"/>
                </a:lnTo>
                <a:lnTo>
                  <a:pt x="204705" y="267852"/>
                </a:lnTo>
                <a:lnTo>
                  <a:pt x="225394" y="223496"/>
                </a:lnTo>
                <a:lnTo>
                  <a:pt x="258063" y="189455"/>
                </a:lnTo>
                <a:lnTo>
                  <a:pt x="300857" y="167489"/>
                </a:lnTo>
                <a:lnTo>
                  <a:pt x="351916" y="159359"/>
                </a:lnTo>
                <a:lnTo>
                  <a:pt x="623613" y="159359"/>
                </a:lnTo>
                <a:lnTo>
                  <a:pt x="535317" y="6019"/>
                </a:lnTo>
                <a:lnTo>
                  <a:pt x="532045" y="2565"/>
                </a:lnTo>
                <a:lnTo>
                  <a:pt x="240944" y="2374"/>
                </a:lnTo>
                <a:lnTo>
                  <a:pt x="224918" y="1629"/>
                </a:lnTo>
                <a:lnTo>
                  <a:pt x="208692" y="592"/>
                </a:lnTo>
                <a:close/>
              </a:path>
              <a:path w="708660" h="622934">
                <a:moveTo>
                  <a:pt x="623613" y="159359"/>
                </a:moveTo>
                <a:lnTo>
                  <a:pt x="351916" y="159359"/>
                </a:lnTo>
                <a:lnTo>
                  <a:pt x="401902" y="167014"/>
                </a:lnTo>
                <a:lnTo>
                  <a:pt x="444571" y="189422"/>
                </a:lnTo>
                <a:lnTo>
                  <a:pt x="477730" y="223939"/>
                </a:lnTo>
                <a:lnTo>
                  <a:pt x="499184" y="267923"/>
                </a:lnTo>
                <a:lnTo>
                  <a:pt x="506742" y="318731"/>
                </a:lnTo>
                <a:lnTo>
                  <a:pt x="499336" y="362738"/>
                </a:lnTo>
                <a:lnTo>
                  <a:pt x="479315" y="403834"/>
                </a:lnTo>
                <a:lnTo>
                  <a:pt x="449974" y="438223"/>
                </a:lnTo>
                <a:lnTo>
                  <a:pt x="414610" y="462108"/>
                </a:lnTo>
                <a:lnTo>
                  <a:pt x="376516" y="471690"/>
                </a:lnTo>
                <a:lnTo>
                  <a:pt x="619842" y="471690"/>
                </a:lnTo>
                <a:lnTo>
                  <a:pt x="681618" y="364682"/>
                </a:lnTo>
                <a:lnTo>
                  <a:pt x="705548" y="323494"/>
                </a:lnTo>
                <a:lnTo>
                  <a:pt x="708431" y="316469"/>
                </a:lnTo>
                <a:lnTo>
                  <a:pt x="708669" y="310259"/>
                </a:lnTo>
                <a:lnTo>
                  <a:pt x="706902" y="304390"/>
                </a:lnTo>
                <a:lnTo>
                  <a:pt x="703770" y="298386"/>
                </a:lnTo>
                <a:lnTo>
                  <a:pt x="623613" y="159359"/>
                </a:lnTo>
                <a:close/>
              </a:path>
              <a:path w="708660" h="622934">
                <a:moveTo>
                  <a:pt x="529615" y="0"/>
                </a:moveTo>
                <a:lnTo>
                  <a:pt x="522198" y="2565"/>
                </a:lnTo>
                <a:lnTo>
                  <a:pt x="532045" y="2565"/>
                </a:lnTo>
                <a:lnTo>
                  <a:pt x="529615" y="0"/>
                </a:lnTo>
                <a:close/>
              </a:path>
            </a:pathLst>
          </a:custGeom>
          <a:solidFill>
            <a:srgbClr val="F0F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5221" y="7569479"/>
            <a:ext cx="1831975" cy="273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45" b="1">
                <a:solidFill>
                  <a:srgbClr val="5D5E5E"/>
                </a:solidFill>
                <a:latin typeface="Arial"/>
                <a:cs typeface="Arial"/>
              </a:rPr>
              <a:t>Data </a:t>
            </a:r>
            <a:r>
              <a:rPr dirty="0" sz="1700" spc="-40" b="1">
                <a:solidFill>
                  <a:srgbClr val="5D5E5E"/>
                </a:solidFill>
                <a:latin typeface="Arial"/>
                <a:cs typeface="Arial"/>
              </a:rPr>
              <a:t>meets</a:t>
            </a:r>
            <a:r>
              <a:rPr dirty="0" sz="1700" spc="-114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5D5E5E"/>
                </a:solidFill>
                <a:latin typeface="Arial"/>
                <a:cs typeface="Arial"/>
              </a:rPr>
              <a:t>design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03390" y="6653933"/>
            <a:ext cx="1025525" cy="926465"/>
          </a:xfrm>
          <a:custGeom>
            <a:avLst/>
            <a:gdLst/>
            <a:ahLst/>
            <a:cxnLst/>
            <a:rect l="l" t="t" r="r" b="b"/>
            <a:pathLst>
              <a:path w="1025525" h="926465">
                <a:moveTo>
                  <a:pt x="308530" y="2862"/>
                </a:moveTo>
                <a:lnTo>
                  <a:pt x="267127" y="7178"/>
                </a:lnTo>
                <a:lnTo>
                  <a:pt x="217432" y="20828"/>
                </a:lnTo>
                <a:lnTo>
                  <a:pt x="172761" y="40297"/>
                </a:lnTo>
                <a:lnTo>
                  <a:pt x="133089" y="65503"/>
                </a:lnTo>
                <a:lnTo>
                  <a:pt x="98392" y="96359"/>
                </a:lnTo>
                <a:lnTo>
                  <a:pt x="68648" y="132781"/>
                </a:lnTo>
                <a:lnTo>
                  <a:pt x="43832" y="174685"/>
                </a:lnTo>
                <a:lnTo>
                  <a:pt x="23922" y="221986"/>
                </a:lnTo>
                <a:lnTo>
                  <a:pt x="10054" y="271113"/>
                </a:lnTo>
                <a:lnTo>
                  <a:pt x="2292" y="320429"/>
                </a:lnTo>
                <a:lnTo>
                  <a:pt x="0" y="369882"/>
                </a:lnTo>
                <a:lnTo>
                  <a:pt x="2540" y="419418"/>
                </a:lnTo>
                <a:lnTo>
                  <a:pt x="9279" y="468985"/>
                </a:lnTo>
                <a:lnTo>
                  <a:pt x="19578" y="518531"/>
                </a:lnTo>
                <a:lnTo>
                  <a:pt x="33379" y="568985"/>
                </a:lnTo>
                <a:lnTo>
                  <a:pt x="50212" y="617803"/>
                </a:lnTo>
                <a:lnTo>
                  <a:pt x="70099" y="664962"/>
                </a:lnTo>
                <a:lnTo>
                  <a:pt x="93064" y="710437"/>
                </a:lnTo>
                <a:lnTo>
                  <a:pt x="119127" y="754203"/>
                </a:lnTo>
                <a:lnTo>
                  <a:pt x="148312" y="796237"/>
                </a:lnTo>
                <a:lnTo>
                  <a:pt x="180641" y="836513"/>
                </a:lnTo>
                <a:lnTo>
                  <a:pt x="216136" y="875007"/>
                </a:lnTo>
                <a:lnTo>
                  <a:pt x="273658" y="916609"/>
                </a:lnTo>
                <a:lnTo>
                  <a:pt x="306976" y="926210"/>
                </a:lnTo>
                <a:lnTo>
                  <a:pt x="343733" y="925807"/>
                </a:lnTo>
                <a:lnTo>
                  <a:pt x="364278" y="921727"/>
                </a:lnTo>
                <a:lnTo>
                  <a:pt x="384622" y="916169"/>
                </a:lnTo>
                <a:lnTo>
                  <a:pt x="404692" y="909500"/>
                </a:lnTo>
                <a:lnTo>
                  <a:pt x="424416" y="902083"/>
                </a:lnTo>
                <a:lnTo>
                  <a:pt x="462144" y="888901"/>
                </a:lnTo>
                <a:lnTo>
                  <a:pt x="500329" y="880025"/>
                </a:lnTo>
                <a:lnTo>
                  <a:pt x="539139" y="877228"/>
                </a:lnTo>
                <a:lnTo>
                  <a:pt x="849931" y="877228"/>
                </a:lnTo>
                <a:lnTo>
                  <a:pt x="858413" y="870168"/>
                </a:lnTo>
                <a:lnTo>
                  <a:pt x="886939" y="836793"/>
                </a:lnTo>
                <a:lnTo>
                  <a:pt x="913858" y="801922"/>
                </a:lnTo>
                <a:lnTo>
                  <a:pt x="939305" y="765912"/>
                </a:lnTo>
                <a:lnTo>
                  <a:pt x="963417" y="729122"/>
                </a:lnTo>
                <a:lnTo>
                  <a:pt x="995821" y="667902"/>
                </a:lnTo>
                <a:lnTo>
                  <a:pt x="1010233" y="636125"/>
                </a:lnTo>
                <a:lnTo>
                  <a:pt x="1024910" y="604472"/>
                </a:lnTo>
                <a:lnTo>
                  <a:pt x="983202" y="582189"/>
                </a:lnTo>
                <a:lnTo>
                  <a:pt x="947181" y="555207"/>
                </a:lnTo>
                <a:lnTo>
                  <a:pt x="916924" y="524231"/>
                </a:lnTo>
                <a:lnTo>
                  <a:pt x="892510" y="489967"/>
                </a:lnTo>
                <a:lnTo>
                  <a:pt x="874016" y="453119"/>
                </a:lnTo>
                <a:lnTo>
                  <a:pt x="861520" y="414393"/>
                </a:lnTo>
                <a:lnTo>
                  <a:pt x="855100" y="374495"/>
                </a:lnTo>
                <a:lnTo>
                  <a:pt x="854834" y="334130"/>
                </a:lnTo>
                <a:lnTo>
                  <a:pt x="860799" y="294003"/>
                </a:lnTo>
                <a:lnTo>
                  <a:pt x="873073" y="254820"/>
                </a:lnTo>
                <a:lnTo>
                  <a:pt x="891735" y="217285"/>
                </a:lnTo>
                <a:lnTo>
                  <a:pt x="916862" y="182105"/>
                </a:lnTo>
                <a:lnTo>
                  <a:pt x="948532" y="149985"/>
                </a:lnTo>
                <a:lnTo>
                  <a:pt x="986823" y="121630"/>
                </a:lnTo>
                <a:lnTo>
                  <a:pt x="986518" y="120221"/>
                </a:lnTo>
                <a:lnTo>
                  <a:pt x="986582" y="118544"/>
                </a:lnTo>
                <a:lnTo>
                  <a:pt x="985794" y="117452"/>
                </a:lnTo>
                <a:lnTo>
                  <a:pt x="954251" y="80873"/>
                </a:lnTo>
                <a:lnTo>
                  <a:pt x="922478" y="54941"/>
                </a:lnTo>
                <a:lnTo>
                  <a:pt x="518009" y="54941"/>
                </a:lnTo>
                <a:lnTo>
                  <a:pt x="491697" y="52327"/>
                </a:lnTo>
                <a:lnTo>
                  <a:pt x="465310" y="43894"/>
                </a:lnTo>
                <a:lnTo>
                  <a:pt x="456070" y="40077"/>
                </a:lnTo>
                <a:lnTo>
                  <a:pt x="428061" y="29276"/>
                </a:lnTo>
                <a:lnTo>
                  <a:pt x="388908" y="15390"/>
                </a:lnTo>
                <a:lnTo>
                  <a:pt x="349094" y="6092"/>
                </a:lnTo>
                <a:lnTo>
                  <a:pt x="308530" y="2862"/>
                </a:lnTo>
                <a:close/>
              </a:path>
              <a:path w="1025525" h="926465">
                <a:moveTo>
                  <a:pt x="849931" y="877228"/>
                </a:moveTo>
                <a:lnTo>
                  <a:pt x="539139" y="877228"/>
                </a:lnTo>
                <a:lnTo>
                  <a:pt x="578746" y="882284"/>
                </a:lnTo>
                <a:lnTo>
                  <a:pt x="600620" y="888242"/>
                </a:lnTo>
                <a:lnTo>
                  <a:pt x="622234" y="895330"/>
                </a:lnTo>
                <a:lnTo>
                  <a:pt x="643644" y="903147"/>
                </a:lnTo>
                <a:lnTo>
                  <a:pt x="664903" y="911291"/>
                </a:lnTo>
                <a:lnTo>
                  <a:pt x="718826" y="925080"/>
                </a:lnTo>
                <a:lnTo>
                  <a:pt x="769521" y="923300"/>
                </a:lnTo>
                <a:lnTo>
                  <a:pt x="816285" y="905235"/>
                </a:lnTo>
                <a:lnTo>
                  <a:pt x="849931" y="877228"/>
                </a:lnTo>
                <a:close/>
              </a:path>
              <a:path w="1025525" h="926465">
                <a:moveTo>
                  <a:pt x="743521" y="0"/>
                </a:moveTo>
                <a:lnTo>
                  <a:pt x="698038" y="4130"/>
                </a:lnTo>
                <a:lnTo>
                  <a:pt x="633977" y="21095"/>
                </a:lnTo>
                <a:lnTo>
                  <a:pt x="571279" y="44338"/>
                </a:lnTo>
                <a:lnTo>
                  <a:pt x="544463" y="52143"/>
                </a:lnTo>
                <a:lnTo>
                  <a:pt x="518009" y="54941"/>
                </a:lnTo>
                <a:lnTo>
                  <a:pt x="922478" y="54941"/>
                </a:lnTo>
                <a:lnTo>
                  <a:pt x="917789" y="51114"/>
                </a:lnTo>
                <a:lnTo>
                  <a:pt x="877448" y="28162"/>
                </a:lnTo>
                <a:lnTo>
                  <a:pt x="834264" y="12001"/>
                </a:lnTo>
                <a:lnTo>
                  <a:pt x="789276" y="2619"/>
                </a:lnTo>
                <a:lnTo>
                  <a:pt x="7435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0364" y="6361125"/>
            <a:ext cx="253365" cy="278765"/>
          </a:xfrm>
          <a:custGeom>
            <a:avLst/>
            <a:gdLst/>
            <a:ahLst/>
            <a:cxnLst/>
            <a:rect l="l" t="t" r="r" b="b"/>
            <a:pathLst>
              <a:path w="253364" h="278765">
                <a:moveTo>
                  <a:pt x="252926" y="0"/>
                </a:moveTo>
                <a:lnTo>
                  <a:pt x="210115" y="3280"/>
                </a:lnTo>
                <a:lnTo>
                  <a:pt x="167058" y="18013"/>
                </a:lnTo>
                <a:lnTo>
                  <a:pt x="125477" y="42256"/>
                </a:lnTo>
                <a:lnTo>
                  <a:pt x="87095" y="74065"/>
                </a:lnTo>
                <a:lnTo>
                  <a:pt x="53633" y="111497"/>
                </a:lnTo>
                <a:lnTo>
                  <a:pt x="26815" y="152607"/>
                </a:lnTo>
                <a:lnTo>
                  <a:pt x="8363" y="195453"/>
                </a:lnTo>
                <a:lnTo>
                  <a:pt x="0" y="238090"/>
                </a:lnTo>
                <a:lnTo>
                  <a:pt x="3447" y="278574"/>
                </a:lnTo>
                <a:lnTo>
                  <a:pt x="47078" y="278383"/>
                </a:lnTo>
                <a:lnTo>
                  <a:pt x="89580" y="267380"/>
                </a:lnTo>
                <a:lnTo>
                  <a:pt x="129730" y="246903"/>
                </a:lnTo>
                <a:lnTo>
                  <a:pt x="166310" y="218291"/>
                </a:lnTo>
                <a:lnTo>
                  <a:pt x="198098" y="182880"/>
                </a:lnTo>
                <a:lnTo>
                  <a:pt x="223874" y="142008"/>
                </a:lnTo>
                <a:lnTo>
                  <a:pt x="242418" y="97012"/>
                </a:lnTo>
                <a:lnTo>
                  <a:pt x="252508" y="49230"/>
                </a:lnTo>
                <a:lnTo>
                  <a:pt x="25292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5067" y="8115962"/>
            <a:ext cx="260286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Tech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news site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CRN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reported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signed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deal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use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search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giant’s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March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2016.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news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generated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47858" y="1461124"/>
            <a:ext cx="2555240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715">
              <a:lnSpc>
                <a:spcPct val="1042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interest,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speculating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signaled 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domina-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tion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world.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7858" y="2223124"/>
            <a:ext cx="238633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truth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is,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migrated 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Lock,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stock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barrel.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uses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AWS,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Azure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alongside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own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centers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host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inter-net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47858" y="3366124"/>
            <a:ext cx="244157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Feb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2016,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Morgan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Stanley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had  reported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spent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around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$1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billion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per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year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Amazon’s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AWS. 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part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money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will now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flow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Google’s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coffers.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7858" y="4509124"/>
            <a:ext cx="240982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But,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Apple’s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move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should</a:t>
            </a:r>
            <a:r>
              <a:rPr dirty="0" sz="1200" spc="-2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 seen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diversiﬁcation strategy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instead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competitive</a:t>
            </a:r>
            <a:r>
              <a:rPr dirty="0" sz="1200" spc="-2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defection.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7871" y="5283847"/>
            <a:ext cx="2470785" cy="748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 sz="1400" spc="-50">
                <a:solidFill>
                  <a:srgbClr val="202020"/>
                </a:solidFill>
                <a:latin typeface="Arial"/>
                <a:cs typeface="Arial"/>
              </a:rPr>
              <a:t>Why?</a:t>
            </a:r>
            <a:endParaRPr sz="1400">
              <a:latin typeface="Arial"/>
              <a:cs typeface="Arial"/>
            </a:endParaRPr>
          </a:p>
          <a:p>
            <a:pPr marL="160655">
              <a:lnSpc>
                <a:spcPts val="1420"/>
              </a:lnSpc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still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uses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Microsoft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300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Azure </a:t>
            </a:r>
            <a:r>
              <a:rPr dirty="0" sz="1200" spc="-60">
                <a:solidFill>
                  <a:srgbClr val="231F20"/>
                </a:solidFill>
                <a:latin typeface="Lucida Sans"/>
                <a:cs typeface="Lucida Sans"/>
              </a:rPr>
              <a:t>platforms </a:t>
            </a:r>
            <a:r>
              <a:rPr dirty="0" sz="1200" spc="-55">
                <a:solidFill>
                  <a:srgbClr val="231F20"/>
                </a:solidFill>
                <a:latin typeface="Lucida Sans"/>
                <a:cs typeface="Lucida Sans"/>
              </a:rPr>
              <a:t>besides </a:t>
            </a:r>
            <a:r>
              <a:rPr dirty="0" sz="1200" spc="-10">
                <a:solidFill>
                  <a:srgbClr val="231F20"/>
                </a:solidFill>
                <a:latin typeface="Lucida Sans"/>
                <a:cs typeface="Lucida Sans"/>
              </a:rPr>
              <a:t>GCP </a:t>
            </a:r>
            <a:r>
              <a:rPr dirty="0" sz="1200" spc="-65">
                <a:solidFill>
                  <a:srgbClr val="231F20"/>
                </a:solidFill>
                <a:latin typeface="Lucida Sans"/>
                <a:cs typeface="Lucida Sans"/>
              </a:rPr>
              <a:t>and</a:t>
            </a:r>
            <a:r>
              <a:rPr dirty="0" sz="1200" spc="-235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Lucida Sans"/>
                <a:cs typeface="Lucida Sans"/>
              </a:rPr>
              <a:t>its  </a:t>
            </a:r>
            <a:r>
              <a:rPr dirty="0" sz="1200" spc="-55">
                <a:solidFill>
                  <a:srgbClr val="231F20"/>
                </a:solidFill>
                <a:latin typeface="Lucida Sans"/>
                <a:cs typeface="Lucida Sans"/>
              </a:rPr>
              <a:t>own </a:t>
            </a:r>
            <a:r>
              <a:rPr dirty="0" sz="1200" spc="-50">
                <a:solidFill>
                  <a:srgbClr val="231F20"/>
                </a:solidFill>
                <a:latin typeface="Lucida Sans"/>
                <a:cs typeface="Lucida Sans"/>
              </a:rPr>
              <a:t>data</a:t>
            </a:r>
            <a:r>
              <a:rPr dirty="0" sz="1200" spc="-195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dirty="0" sz="1200" spc="-55">
                <a:solidFill>
                  <a:srgbClr val="231F20"/>
                </a:solidFill>
                <a:latin typeface="Lucida Sans"/>
                <a:cs typeface="Lucida Sans"/>
              </a:rPr>
              <a:t>center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47871" y="6208676"/>
            <a:ext cx="2438400" cy="586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 indent="147955">
              <a:lnSpc>
                <a:spcPct val="104200"/>
              </a:lnSpc>
            </a:pPr>
            <a:r>
              <a:rPr dirty="0" sz="1200" spc="-45">
                <a:solidFill>
                  <a:srgbClr val="231F20"/>
                </a:solidFill>
                <a:latin typeface="Lucida Sans"/>
                <a:cs typeface="Lucida Sans"/>
              </a:rPr>
              <a:t>It </a:t>
            </a:r>
            <a:r>
              <a:rPr dirty="0" sz="1200" spc="-40">
                <a:solidFill>
                  <a:srgbClr val="231F20"/>
                </a:solidFill>
                <a:latin typeface="Lucida Sans"/>
                <a:cs typeface="Lucida Sans"/>
              </a:rPr>
              <a:t>is </a:t>
            </a:r>
            <a:r>
              <a:rPr dirty="0" sz="1200" spc="-70">
                <a:solidFill>
                  <a:srgbClr val="231F20"/>
                </a:solidFill>
                <a:latin typeface="Lucida Sans"/>
                <a:cs typeface="Lucida Sans"/>
              </a:rPr>
              <a:t>spending billions </a:t>
            </a:r>
            <a:r>
              <a:rPr dirty="0" sz="1200" spc="-65">
                <a:solidFill>
                  <a:srgbClr val="231F20"/>
                </a:solidFill>
                <a:latin typeface="Lucida Sans"/>
                <a:cs typeface="Lucida Sans"/>
              </a:rPr>
              <a:t>of </a:t>
            </a:r>
            <a:r>
              <a:rPr dirty="0" sz="1200" spc="-60">
                <a:solidFill>
                  <a:srgbClr val="231F20"/>
                </a:solidFill>
                <a:latin typeface="Lucida Sans"/>
                <a:cs typeface="Lucida Sans"/>
              </a:rPr>
              <a:t>dollars</a:t>
            </a:r>
            <a:r>
              <a:rPr dirty="0" sz="1200" spc="-254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dirty="0" sz="1200" spc="-75">
                <a:solidFill>
                  <a:srgbClr val="231F20"/>
                </a:solidFill>
                <a:latin typeface="Lucida Sans"/>
                <a:cs typeface="Lucida Sans"/>
              </a:rPr>
              <a:t>on  </a:t>
            </a:r>
            <a:r>
              <a:rPr dirty="0" sz="1200" spc="-80">
                <a:solidFill>
                  <a:srgbClr val="231F20"/>
                </a:solidFill>
                <a:latin typeface="Lucida Sans"/>
                <a:cs typeface="Lucida Sans"/>
              </a:rPr>
              <a:t>building </a:t>
            </a:r>
            <a:r>
              <a:rPr dirty="0" sz="1200" spc="-50">
                <a:solidFill>
                  <a:srgbClr val="231F20"/>
                </a:solidFill>
                <a:latin typeface="Lucida Sans"/>
                <a:cs typeface="Lucida Sans"/>
              </a:rPr>
              <a:t>new data centers </a:t>
            </a:r>
            <a:r>
              <a:rPr dirty="0" sz="1200" spc="-70">
                <a:solidFill>
                  <a:srgbClr val="231F20"/>
                </a:solidFill>
                <a:latin typeface="Lucida Sans"/>
                <a:cs typeface="Lucida Sans"/>
              </a:rPr>
              <a:t>to </a:t>
            </a:r>
            <a:r>
              <a:rPr dirty="0" sz="1200" spc="-60">
                <a:solidFill>
                  <a:srgbClr val="231F20"/>
                </a:solidFill>
                <a:latin typeface="Lucida Sans"/>
                <a:cs typeface="Lucida Sans"/>
              </a:rPr>
              <a:t>reduce  </a:t>
            </a:r>
            <a:r>
              <a:rPr dirty="0" sz="1200" spc="-50">
                <a:solidFill>
                  <a:srgbClr val="231F20"/>
                </a:solidFill>
                <a:latin typeface="Lucida Sans"/>
                <a:cs typeface="Lucida Sans"/>
              </a:rPr>
              <a:t>its </a:t>
            </a:r>
            <a:r>
              <a:rPr dirty="0" sz="1200" spc="-65">
                <a:solidFill>
                  <a:srgbClr val="231F20"/>
                </a:solidFill>
                <a:latin typeface="Lucida Sans"/>
                <a:cs typeface="Lucida Sans"/>
              </a:rPr>
              <a:t>dependence </a:t>
            </a:r>
            <a:r>
              <a:rPr dirty="0" sz="1200" spc="-75">
                <a:solidFill>
                  <a:srgbClr val="231F20"/>
                </a:solidFill>
                <a:latin typeface="Lucida Sans"/>
                <a:cs typeface="Lucida Sans"/>
              </a:rPr>
              <a:t>on </a:t>
            </a:r>
            <a:r>
              <a:rPr dirty="0" sz="1200" spc="-65">
                <a:solidFill>
                  <a:srgbClr val="231F20"/>
                </a:solidFill>
                <a:latin typeface="Lucida Sans"/>
                <a:cs typeface="Lucida Sans"/>
              </a:rPr>
              <a:t>cloud</a:t>
            </a:r>
            <a:r>
              <a:rPr dirty="0" sz="1200" spc="-17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dirty="0" sz="1200" spc="-65">
                <a:solidFill>
                  <a:srgbClr val="231F20"/>
                </a:solidFill>
                <a:latin typeface="Lucida Sans"/>
                <a:cs typeface="Lucida Sans"/>
              </a:rPr>
              <a:t>vendors.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0370" y="6223279"/>
            <a:ext cx="1452880" cy="273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80" b="1">
                <a:solidFill>
                  <a:srgbClr val="5D5E5E"/>
                </a:solidFill>
                <a:latin typeface="Arial"/>
                <a:cs typeface="Arial"/>
              </a:rPr>
              <a:t>Apple </a:t>
            </a:r>
            <a:r>
              <a:rPr dirty="0" sz="1700" spc="95" b="1">
                <a:solidFill>
                  <a:srgbClr val="5D5E5E"/>
                </a:solidFill>
                <a:latin typeface="Arial"/>
                <a:cs typeface="Arial"/>
              </a:rPr>
              <a:t>-</a:t>
            </a:r>
            <a:r>
              <a:rPr dirty="0" sz="1700" spc="-90" b="1">
                <a:solidFill>
                  <a:srgbClr val="5D5E5E"/>
                </a:solidFill>
                <a:latin typeface="Arial"/>
                <a:cs typeface="Arial"/>
              </a:rPr>
              <a:t> </a:t>
            </a:r>
            <a:r>
              <a:rPr dirty="0" sz="1700" spc="-85" b="1">
                <a:solidFill>
                  <a:srgbClr val="5D5E5E"/>
                </a:solidFill>
                <a:latin typeface="Arial"/>
                <a:cs typeface="Arial"/>
              </a:rPr>
              <a:t>Google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71706" y="5581506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5727" y="0"/>
                </a:moveTo>
                <a:lnTo>
                  <a:pt x="16044" y="1883"/>
                </a:lnTo>
                <a:lnTo>
                  <a:pt x="7534" y="7534"/>
                </a:lnTo>
                <a:lnTo>
                  <a:pt x="1883" y="16044"/>
                </a:lnTo>
                <a:lnTo>
                  <a:pt x="0" y="25727"/>
                </a:lnTo>
                <a:lnTo>
                  <a:pt x="1883" y="35409"/>
                </a:lnTo>
                <a:lnTo>
                  <a:pt x="7534" y="43919"/>
                </a:lnTo>
                <a:lnTo>
                  <a:pt x="16044" y="49570"/>
                </a:lnTo>
                <a:lnTo>
                  <a:pt x="25727" y="51454"/>
                </a:lnTo>
                <a:lnTo>
                  <a:pt x="35409" y="49570"/>
                </a:lnTo>
                <a:lnTo>
                  <a:pt x="43919" y="43919"/>
                </a:lnTo>
                <a:lnTo>
                  <a:pt x="49570" y="35409"/>
                </a:lnTo>
                <a:lnTo>
                  <a:pt x="51454" y="25727"/>
                </a:lnTo>
                <a:lnTo>
                  <a:pt x="49570" y="16044"/>
                </a:lnTo>
                <a:lnTo>
                  <a:pt x="43919" y="7534"/>
                </a:lnTo>
                <a:lnTo>
                  <a:pt x="35409" y="1883"/>
                </a:lnTo>
                <a:lnTo>
                  <a:pt x="2572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59007" y="6296936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51454" y="25727"/>
                </a:moveTo>
                <a:lnTo>
                  <a:pt x="49570" y="16044"/>
                </a:lnTo>
                <a:lnTo>
                  <a:pt x="43919" y="7534"/>
                </a:lnTo>
                <a:lnTo>
                  <a:pt x="35409" y="1883"/>
                </a:lnTo>
                <a:lnTo>
                  <a:pt x="25727" y="0"/>
                </a:lnTo>
                <a:lnTo>
                  <a:pt x="16044" y="1883"/>
                </a:lnTo>
                <a:lnTo>
                  <a:pt x="7534" y="7534"/>
                </a:lnTo>
                <a:lnTo>
                  <a:pt x="1883" y="16044"/>
                </a:lnTo>
                <a:lnTo>
                  <a:pt x="0" y="25727"/>
                </a:lnTo>
                <a:lnTo>
                  <a:pt x="1883" y="35409"/>
                </a:lnTo>
                <a:lnTo>
                  <a:pt x="7534" y="43919"/>
                </a:lnTo>
                <a:lnTo>
                  <a:pt x="16044" y="49570"/>
                </a:lnTo>
                <a:lnTo>
                  <a:pt x="25727" y="51454"/>
                </a:lnTo>
                <a:lnTo>
                  <a:pt x="35409" y="49570"/>
                </a:lnTo>
                <a:lnTo>
                  <a:pt x="43919" y="43919"/>
                </a:lnTo>
                <a:lnTo>
                  <a:pt x="49570" y="35409"/>
                </a:lnTo>
                <a:lnTo>
                  <a:pt x="51454" y="2572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969664" y="7014707"/>
            <a:ext cx="2625090" cy="153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9017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Apple’s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move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‘shot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arm’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Google.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deal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said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worth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$400-$600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million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revenue,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comes 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when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trying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hard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win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enterprise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clients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plat- 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form.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deal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puts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stamp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approv-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al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its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major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rival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Apple.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5298516"/>
            <a:ext cx="4303395" cy="285750"/>
          </a:xfrm>
          <a:custGeom>
            <a:avLst/>
            <a:gdLst/>
            <a:ahLst/>
            <a:cxnLst/>
            <a:rect l="l" t="t" r="r" b="b"/>
            <a:pathLst>
              <a:path w="4303395" h="285750">
                <a:moveTo>
                  <a:pt x="4303242" y="285661"/>
                </a:moveTo>
                <a:lnTo>
                  <a:pt x="0" y="285661"/>
                </a:lnTo>
                <a:lnTo>
                  <a:pt x="0" y="0"/>
                </a:lnTo>
                <a:lnTo>
                  <a:pt x="4303242" y="0"/>
                </a:lnTo>
                <a:lnTo>
                  <a:pt x="4303242" y="285661"/>
                </a:lnTo>
                <a:close/>
              </a:path>
            </a:pathLst>
          </a:custGeom>
          <a:solidFill>
            <a:srgbClr val="CD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0" y="9109862"/>
            <a:ext cx="4303395" cy="285750"/>
          </a:xfrm>
          <a:custGeom>
            <a:avLst/>
            <a:gdLst/>
            <a:ahLst/>
            <a:cxnLst/>
            <a:rect l="l" t="t" r="r" b="b"/>
            <a:pathLst>
              <a:path w="4303395" h="285750">
                <a:moveTo>
                  <a:pt x="4303242" y="285661"/>
                </a:moveTo>
                <a:lnTo>
                  <a:pt x="0" y="285661"/>
                </a:lnTo>
                <a:lnTo>
                  <a:pt x="0" y="0"/>
                </a:lnTo>
                <a:lnTo>
                  <a:pt x="4303242" y="0"/>
                </a:lnTo>
                <a:lnTo>
                  <a:pt x="4303242" y="285661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24000" y="5718974"/>
            <a:ext cx="4303395" cy="428625"/>
          </a:xfrm>
          <a:custGeom>
            <a:avLst/>
            <a:gdLst/>
            <a:ahLst/>
            <a:cxnLst/>
            <a:rect l="l" t="t" r="r" b="b"/>
            <a:pathLst>
              <a:path w="4303395" h="428625">
                <a:moveTo>
                  <a:pt x="4303242" y="428142"/>
                </a:moveTo>
                <a:lnTo>
                  <a:pt x="0" y="428142"/>
                </a:lnTo>
                <a:lnTo>
                  <a:pt x="0" y="0"/>
                </a:lnTo>
                <a:lnTo>
                  <a:pt x="4303242" y="0"/>
                </a:lnTo>
                <a:lnTo>
                  <a:pt x="4303242" y="428142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0070" y="4872304"/>
            <a:ext cx="4274820" cy="304165"/>
          </a:xfrm>
          <a:custGeom>
            <a:avLst/>
            <a:gdLst/>
            <a:ahLst/>
            <a:cxnLst/>
            <a:rect l="l" t="t" r="r" b="b"/>
            <a:pathLst>
              <a:path w="4274820" h="304164">
                <a:moveTo>
                  <a:pt x="4274693" y="303987"/>
                </a:moveTo>
                <a:lnTo>
                  <a:pt x="0" y="303987"/>
                </a:lnTo>
                <a:lnTo>
                  <a:pt x="0" y="0"/>
                </a:lnTo>
                <a:lnTo>
                  <a:pt x="4274693" y="0"/>
                </a:lnTo>
                <a:lnTo>
                  <a:pt x="4274693" y="303987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0"/>
            <a:ext cx="7315200" cy="4203700"/>
          </a:xfrm>
          <a:custGeom>
            <a:avLst/>
            <a:gdLst/>
            <a:ahLst/>
            <a:cxnLst/>
            <a:rect l="l" t="t" r="r" b="b"/>
            <a:pathLst>
              <a:path w="7315200" h="4203700">
                <a:moveTo>
                  <a:pt x="0" y="4203700"/>
                </a:moveTo>
                <a:lnTo>
                  <a:pt x="7315200" y="4203700"/>
                </a:lnTo>
                <a:lnTo>
                  <a:pt x="7315200" y="0"/>
                </a:lnTo>
                <a:lnTo>
                  <a:pt x="0" y="0"/>
                </a:lnTo>
                <a:lnTo>
                  <a:pt x="0" y="42037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9300" y="3396450"/>
            <a:ext cx="2471420" cy="685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200" spc="-40" i="1">
                <a:solidFill>
                  <a:srgbClr val="F5F4F4"/>
                </a:solidFill>
                <a:latin typeface="Calibri"/>
                <a:cs typeface="Calibri"/>
              </a:rPr>
              <a:t>What </a:t>
            </a:r>
            <a:r>
              <a:rPr dirty="0" sz="2200" spc="50" i="1">
                <a:solidFill>
                  <a:srgbClr val="F5F4F4"/>
                </a:solidFill>
                <a:latin typeface="Calibri"/>
                <a:cs typeface="Calibri"/>
              </a:rPr>
              <a:t>You </a:t>
            </a:r>
            <a:r>
              <a:rPr dirty="0" sz="2200" spc="45" i="1">
                <a:solidFill>
                  <a:srgbClr val="F5F4F4"/>
                </a:solidFill>
                <a:latin typeface="Calibri"/>
                <a:cs typeface="Calibri"/>
              </a:rPr>
              <a:t>Should</a:t>
            </a:r>
            <a:r>
              <a:rPr dirty="0" sz="2200" spc="-5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35" i="1">
                <a:solidFill>
                  <a:srgbClr val="F5F4F4"/>
                </a:solidFill>
                <a:latin typeface="Calibri"/>
                <a:cs typeface="Calibri"/>
              </a:rPr>
              <a:t>Put  </a:t>
            </a:r>
            <a:r>
              <a:rPr dirty="0" sz="2200" spc="-20" i="1">
                <a:solidFill>
                  <a:srgbClr val="F5F4F4"/>
                </a:solidFill>
                <a:latin typeface="Calibri"/>
                <a:cs typeface="Calibri"/>
              </a:rPr>
              <a:t>On </a:t>
            </a:r>
            <a:r>
              <a:rPr dirty="0" sz="2200" spc="20" i="1">
                <a:solidFill>
                  <a:srgbClr val="F5F4F4"/>
                </a:solidFill>
                <a:latin typeface="Calibri"/>
                <a:cs typeface="Calibri"/>
              </a:rPr>
              <a:t>Your </a:t>
            </a:r>
            <a:r>
              <a:rPr dirty="0" sz="2200" spc="15" i="1">
                <a:solidFill>
                  <a:srgbClr val="F5F4F4"/>
                </a:solidFill>
                <a:latin typeface="Calibri"/>
                <a:cs typeface="Calibri"/>
              </a:rPr>
              <a:t>Wish</a:t>
            </a:r>
            <a:r>
              <a:rPr dirty="0" sz="2200" spc="-35" i="1">
                <a:solidFill>
                  <a:srgbClr val="F5F4F4"/>
                </a:solidFill>
                <a:latin typeface="Calibri"/>
                <a:cs typeface="Calibri"/>
              </a:rPr>
              <a:t> </a:t>
            </a:r>
            <a:r>
              <a:rPr dirty="0" sz="2200" spc="10" i="1">
                <a:solidFill>
                  <a:srgbClr val="F5F4F4"/>
                </a:solidFill>
                <a:latin typeface="Calibri"/>
                <a:cs typeface="Calibri"/>
              </a:rPr>
              <a:t>List!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30"/>
              <a:t>CHAPTER</a:t>
            </a:r>
            <a:r>
              <a:rPr dirty="0" spc="-130"/>
              <a:t> </a:t>
            </a:r>
            <a:r>
              <a:rPr dirty="0" spc="20"/>
              <a:t>12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3900" y="2067699"/>
            <a:ext cx="5109210" cy="1127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3700" spc="-30">
                <a:solidFill>
                  <a:srgbClr val="F5F4F4"/>
                </a:solidFill>
                <a:latin typeface="Arial"/>
                <a:cs typeface="Arial"/>
              </a:rPr>
              <a:t>Planning </a:t>
            </a:r>
            <a:r>
              <a:rPr dirty="0" sz="3700" spc="-80">
                <a:solidFill>
                  <a:srgbClr val="F5F4F4"/>
                </a:solidFill>
                <a:latin typeface="Arial"/>
                <a:cs typeface="Arial"/>
              </a:rPr>
              <a:t>Your</a:t>
            </a:r>
            <a:r>
              <a:rPr dirty="0" sz="3700" spc="-28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700" spc="-40">
                <a:solidFill>
                  <a:srgbClr val="F5F4F4"/>
                </a:solidFill>
                <a:latin typeface="Arial"/>
                <a:cs typeface="Arial"/>
              </a:rPr>
              <a:t>Enterprise  </a:t>
            </a:r>
            <a:r>
              <a:rPr dirty="0" sz="3700" spc="-60">
                <a:solidFill>
                  <a:srgbClr val="F5F4F4"/>
                </a:solidFill>
                <a:latin typeface="Arial"/>
                <a:cs typeface="Arial"/>
              </a:rPr>
              <a:t>Cloud</a:t>
            </a:r>
            <a:r>
              <a:rPr dirty="0" sz="3700" spc="-215">
                <a:solidFill>
                  <a:srgbClr val="F5F4F4"/>
                </a:solidFill>
                <a:latin typeface="Arial"/>
                <a:cs typeface="Arial"/>
              </a:rPr>
              <a:t> </a:t>
            </a:r>
            <a:r>
              <a:rPr dirty="0" sz="3700" spc="-15">
                <a:solidFill>
                  <a:srgbClr val="F5F4F4"/>
                </a:solidFill>
                <a:latin typeface="Arial"/>
                <a:cs typeface="Arial"/>
              </a:rPr>
              <a:t>Strategy</a:t>
            </a:r>
            <a:endParaRPr sz="3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68318" y="3186709"/>
            <a:ext cx="2003425" cy="1040765"/>
          </a:xfrm>
          <a:custGeom>
            <a:avLst/>
            <a:gdLst/>
            <a:ahLst/>
            <a:cxnLst/>
            <a:rect l="l" t="t" r="r" b="b"/>
            <a:pathLst>
              <a:path w="2003425" h="1040764">
                <a:moveTo>
                  <a:pt x="222986" y="562787"/>
                </a:moveTo>
                <a:lnTo>
                  <a:pt x="178039" y="567318"/>
                </a:lnTo>
                <a:lnTo>
                  <a:pt x="136179" y="580311"/>
                </a:lnTo>
                <a:lnTo>
                  <a:pt x="98301" y="600871"/>
                </a:lnTo>
                <a:lnTo>
                  <a:pt x="65301" y="628100"/>
                </a:lnTo>
                <a:lnTo>
                  <a:pt x="38075" y="661103"/>
                </a:lnTo>
                <a:lnTo>
                  <a:pt x="17519" y="698983"/>
                </a:lnTo>
                <a:lnTo>
                  <a:pt x="4529" y="740843"/>
                </a:lnTo>
                <a:lnTo>
                  <a:pt x="0" y="785787"/>
                </a:lnTo>
                <a:lnTo>
                  <a:pt x="0" y="792175"/>
                </a:lnTo>
                <a:lnTo>
                  <a:pt x="330" y="798487"/>
                </a:lnTo>
                <a:lnTo>
                  <a:pt x="850" y="804748"/>
                </a:lnTo>
                <a:lnTo>
                  <a:pt x="330" y="811047"/>
                </a:lnTo>
                <a:lnTo>
                  <a:pt x="0" y="817397"/>
                </a:lnTo>
                <a:lnTo>
                  <a:pt x="0" y="823836"/>
                </a:lnTo>
                <a:lnTo>
                  <a:pt x="5560" y="873540"/>
                </a:lnTo>
                <a:lnTo>
                  <a:pt x="21399" y="919166"/>
                </a:lnTo>
                <a:lnTo>
                  <a:pt x="46254" y="959414"/>
                </a:lnTo>
                <a:lnTo>
                  <a:pt x="78861" y="992981"/>
                </a:lnTo>
                <a:lnTo>
                  <a:pt x="117958" y="1018569"/>
                </a:lnTo>
                <a:lnTo>
                  <a:pt x="162280" y="1034875"/>
                </a:lnTo>
                <a:lnTo>
                  <a:pt x="210565" y="1040599"/>
                </a:lnTo>
                <a:lnTo>
                  <a:pt x="1792376" y="1040599"/>
                </a:lnTo>
                <a:lnTo>
                  <a:pt x="1840657" y="1034875"/>
                </a:lnTo>
                <a:lnTo>
                  <a:pt x="1884978" y="1018569"/>
                </a:lnTo>
                <a:lnTo>
                  <a:pt x="1924075" y="992981"/>
                </a:lnTo>
                <a:lnTo>
                  <a:pt x="1956683" y="959414"/>
                </a:lnTo>
                <a:lnTo>
                  <a:pt x="1981540" y="919166"/>
                </a:lnTo>
                <a:lnTo>
                  <a:pt x="1997381" y="873540"/>
                </a:lnTo>
                <a:lnTo>
                  <a:pt x="2002942" y="823836"/>
                </a:lnTo>
                <a:lnTo>
                  <a:pt x="1998027" y="777070"/>
                </a:lnTo>
                <a:lnTo>
                  <a:pt x="1983980" y="733833"/>
                </a:lnTo>
                <a:lnTo>
                  <a:pt x="1961848" y="695197"/>
                </a:lnTo>
                <a:lnTo>
                  <a:pt x="1932678" y="662239"/>
                </a:lnTo>
                <a:lnTo>
                  <a:pt x="1897517" y="636032"/>
                </a:lnTo>
                <a:lnTo>
                  <a:pt x="1857413" y="617651"/>
                </a:lnTo>
                <a:lnTo>
                  <a:pt x="1831767" y="607059"/>
                </a:lnTo>
                <a:lnTo>
                  <a:pt x="356361" y="607059"/>
                </a:lnTo>
                <a:lnTo>
                  <a:pt x="326862" y="588414"/>
                </a:lnTo>
                <a:lnTo>
                  <a:pt x="294479" y="574498"/>
                </a:lnTo>
                <a:lnTo>
                  <a:pt x="259694" y="565795"/>
                </a:lnTo>
                <a:lnTo>
                  <a:pt x="222986" y="562787"/>
                </a:lnTo>
                <a:close/>
              </a:path>
              <a:path w="2003425" h="1040764">
                <a:moveTo>
                  <a:pt x="594626" y="403504"/>
                </a:moveTo>
                <a:lnTo>
                  <a:pt x="546127" y="408795"/>
                </a:lnTo>
                <a:lnTo>
                  <a:pt x="501328" y="423909"/>
                </a:lnTo>
                <a:lnTo>
                  <a:pt x="461364" y="447711"/>
                </a:lnTo>
                <a:lnTo>
                  <a:pt x="427367" y="479063"/>
                </a:lnTo>
                <a:lnTo>
                  <a:pt x="400473" y="516830"/>
                </a:lnTo>
                <a:lnTo>
                  <a:pt x="381816" y="559874"/>
                </a:lnTo>
                <a:lnTo>
                  <a:pt x="372529" y="607059"/>
                </a:lnTo>
                <a:lnTo>
                  <a:pt x="1654302" y="607059"/>
                </a:lnTo>
                <a:lnTo>
                  <a:pt x="1664334" y="572254"/>
                </a:lnTo>
                <a:lnTo>
                  <a:pt x="1671672" y="536390"/>
                </a:lnTo>
                <a:lnTo>
                  <a:pt x="1676176" y="499575"/>
                </a:lnTo>
                <a:lnTo>
                  <a:pt x="1677349" y="470725"/>
                </a:lnTo>
                <a:lnTo>
                  <a:pt x="754100" y="470725"/>
                </a:lnTo>
                <a:lnTo>
                  <a:pt x="720897" y="442734"/>
                </a:lnTo>
                <a:lnTo>
                  <a:pt x="682626" y="421570"/>
                </a:lnTo>
                <a:lnTo>
                  <a:pt x="640223" y="408178"/>
                </a:lnTo>
                <a:lnTo>
                  <a:pt x="594626" y="403504"/>
                </a:lnTo>
                <a:close/>
              </a:path>
              <a:path w="2003425" h="1040764">
                <a:moveTo>
                  <a:pt x="1758721" y="594639"/>
                </a:moveTo>
                <a:lnTo>
                  <a:pt x="1739629" y="595453"/>
                </a:lnTo>
                <a:lnTo>
                  <a:pt x="1720988" y="597844"/>
                </a:lnTo>
                <a:lnTo>
                  <a:pt x="1702859" y="601738"/>
                </a:lnTo>
                <a:lnTo>
                  <a:pt x="1685302" y="607059"/>
                </a:lnTo>
                <a:lnTo>
                  <a:pt x="1831767" y="607059"/>
                </a:lnTo>
                <a:lnTo>
                  <a:pt x="1810200" y="600630"/>
                </a:lnTo>
                <a:lnTo>
                  <a:pt x="1784911" y="596166"/>
                </a:lnTo>
                <a:lnTo>
                  <a:pt x="1758721" y="594639"/>
                </a:lnTo>
                <a:close/>
              </a:path>
              <a:path w="2003425" h="1040764">
                <a:moveTo>
                  <a:pt x="1215821" y="0"/>
                </a:moveTo>
                <a:lnTo>
                  <a:pt x="1168591" y="2385"/>
                </a:lnTo>
                <a:lnTo>
                  <a:pt x="1122726" y="9385"/>
                </a:lnTo>
                <a:lnTo>
                  <a:pt x="1078457" y="20768"/>
                </a:lnTo>
                <a:lnTo>
                  <a:pt x="1036016" y="36303"/>
                </a:lnTo>
                <a:lnTo>
                  <a:pt x="995636" y="55755"/>
                </a:lnTo>
                <a:lnTo>
                  <a:pt x="957549" y="78894"/>
                </a:lnTo>
                <a:lnTo>
                  <a:pt x="921988" y="105486"/>
                </a:lnTo>
                <a:lnTo>
                  <a:pt x="889184" y="135301"/>
                </a:lnTo>
                <a:lnTo>
                  <a:pt x="859369" y="168104"/>
                </a:lnTo>
                <a:lnTo>
                  <a:pt x="832777" y="203664"/>
                </a:lnTo>
                <a:lnTo>
                  <a:pt x="809638" y="241749"/>
                </a:lnTo>
                <a:lnTo>
                  <a:pt x="790186" y="282126"/>
                </a:lnTo>
                <a:lnTo>
                  <a:pt x="774652" y="324563"/>
                </a:lnTo>
                <a:lnTo>
                  <a:pt x="763269" y="368828"/>
                </a:lnTo>
                <a:lnTo>
                  <a:pt x="756269" y="414688"/>
                </a:lnTo>
                <a:lnTo>
                  <a:pt x="753884" y="461911"/>
                </a:lnTo>
                <a:lnTo>
                  <a:pt x="753884" y="464870"/>
                </a:lnTo>
                <a:lnTo>
                  <a:pt x="754049" y="467779"/>
                </a:lnTo>
                <a:lnTo>
                  <a:pt x="754100" y="470725"/>
                </a:lnTo>
                <a:lnTo>
                  <a:pt x="1677349" y="470725"/>
                </a:lnTo>
                <a:lnTo>
                  <a:pt x="1677708" y="461911"/>
                </a:lnTo>
                <a:lnTo>
                  <a:pt x="1675323" y="414688"/>
                </a:lnTo>
                <a:lnTo>
                  <a:pt x="1668323" y="368828"/>
                </a:lnTo>
                <a:lnTo>
                  <a:pt x="1656941" y="324563"/>
                </a:lnTo>
                <a:lnTo>
                  <a:pt x="1641408" y="282126"/>
                </a:lnTo>
                <a:lnTo>
                  <a:pt x="1621958" y="241749"/>
                </a:lnTo>
                <a:lnTo>
                  <a:pt x="1598821" y="203664"/>
                </a:lnTo>
                <a:lnTo>
                  <a:pt x="1572231" y="168104"/>
                </a:lnTo>
                <a:lnTo>
                  <a:pt x="1542419" y="135301"/>
                </a:lnTo>
                <a:lnTo>
                  <a:pt x="1509618" y="105486"/>
                </a:lnTo>
                <a:lnTo>
                  <a:pt x="1474060" y="78894"/>
                </a:lnTo>
                <a:lnTo>
                  <a:pt x="1435978" y="55755"/>
                </a:lnTo>
                <a:lnTo>
                  <a:pt x="1395603" y="36303"/>
                </a:lnTo>
                <a:lnTo>
                  <a:pt x="1353167" y="20768"/>
                </a:lnTo>
                <a:lnTo>
                  <a:pt x="1308904" y="9385"/>
                </a:lnTo>
                <a:lnTo>
                  <a:pt x="1263044" y="2385"/>
                </a:lnTo>
                <a:lnTo>
                  <a:pt x="1215821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97146" y="4195711"/>
            <a:ext cx="19050" cy="1905"/>
          </a:xfrm>
          <a:custGeom>
            <a:avLst/>
            <a:gdLst/>
            <a:ahLst/>
            <a:cxnLst/>
            <a:rect l="l" t="t" r="r" b="b"/>
            <a:pathLst>
              <a:path w="19050" h="1904">
                <a:moveTo>
                  <a:pt x="18999" y="1422"/>
                </a:moveTo>
                <a:lnTo>
                  <a:pt x="12623" y="1079"/>
                </a:lnTo>
                <a:lnTo>
                  <a:pt x="6299" y="609"/>
                </a:ln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89527" y="3259848"/>
            <a:ext cx="611505" cy="930910"/>
          </a:xfrm>
          <a:custGeom>
            <a:avLst/>
            <a:gdLst/>
            <a:ahLst/>
            <a:cxnLst/>
            <a:rect l="l" t="t" r="r" b="b"/>
            <a:pathLst>
              <a:path w="611504" h="930910">
                <a:moveTo>
                  <a:pt x="369481" y="930414"/>
                </a:moveTo>
                <a:lnTo>
                  <a:pt x="324870" y="919495"/>
                </a:lnTo>
                <a:lnTo>
                  <a:pt x="282169" y="904085"/>
                </a:lnTo>
                <a:lnTo>
                  <a:pt x="241602" y="884461"/>
                </a:lnTo>
                <a:lnTo>
                  <a:pt x="203391" y="860896"/>
                </a:lnTo>
                <a:lnTo>
                  <a:pt x="167760" y="833665"/>
                </a:lnTo>
                <a:lnTo>
                  <a:pt x="134932" y="803042"/>
                </a:lnTo>
                <a:lnTo>
                  <a:pt x="105130" y="769302"/>
                </a:lnTo>
                <a:lnTo>
                  <a:pt x="78578" y="732719"/>
                </a:lnTo>
                <a:lnTo>
                  <a:pt x="55498" y="693568"/>
                </a:lnTo>
                <a:lnTo>
                  <a:pt x="36114" y="652124"/>
                </a:lnTo>
                <a:lnTo>
                  <a:pt x="20648" y="608659"/>
                </a:lnTo>
                <a:lnTo>
                  <a:pt x="9326" y="563451"/>
                </a:lnTo>
                <a:lnTo>
                  <a:pt x="2368" y="516771"/>
                </a:lnTo>
                <a:lnTo>
                  <a:pt x="0" y="468896"/>
                </a:lnTo>
                <a:lnTo>
                  <a:pt x="2416" y="421034"/>
                </a:lnTo>
                <a:lnTo>
                  <a:pt x="9507" y="374535"/>
                </a:lnTo>
                <a:lnTo>
                  <a:pt x="21039" y="329639"/>
                </a:lnTo>
                <a:lnTo>
                  <a:pt x="36777" y="286584"/>
                </a:lnTo>
                <a:lnTo>
                  <a:pt x="56484" y="245606"/>
                </a:lnTo>
                <a:lnTo>
                  <a:pt x="79925" y="206943"/>
                </a:lnTo>
                <a:lnTo>
                  <a:pt x="106867" y="170834"/>
                </a:lnTo>
                <a:lnTo>
                  <a:pt x="137072" y="137517"/>
                </a:lnTo>
                <a:lnTo>
                  <a:pt x="170307" y="107228"/>
                </a:lnTo>
                <a:lnTo>
                  <a:pt x="206335" y="80207"/>
                </a:lnTo>
                <a:lnTo>
                  <a:pt x="244923" y="56690"/>
                </a:lnTo>
                <a:lnTo>
                  <a:pt x="285833" y="36915"/>
                </a:lnTo>
                <a:lnTo>
                  <a:pt x="328832" y="21121"/>
                </a:lnTo>
                <a:lnTo>
                  <a:pt x="373685" y="9546"/>
                </a:lnTo>
                <a:lnTo>
                  <a:pt x="420155" y="2426"/>
                </a:lnTo>
                <a:lnTo>
                  <a:pt x="468007" y="0"/>
                </a:lnTo>
                <a:lnTo>
                  <a:pt x="505114" y="1465"/>
                </a:lnTo>
                <a:lnTo>
                  <a:pt x="541421" y="5780"/>
                </a:lnTo>
                <a:lnTo>
                  <a:pt x="576826" y="12821"/>
                </a:lnTo>
                <a:lnTo>
                  <a:pt x="611225" y="22466"/>
                </a:lnTo>
              </a:path>
            </a:pathLst>
          </a:custGeom>
          <a:ln w="25400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18977" y="3278213"/>
            <a:ext cx="26034" cy="17780"/>
          </a:xfrm>
          <a:custGeom>
            <a:avLst/>
            <a:gdLst/>
            <a:ahLst/>
            <a:cxnLst/>
            <a:rect l="l" t="t" r="r" b="b"/>
            <a:pathLst>
              <a:path w="26035" h="17779">
                <a:moveTo>
                  <a:pt x="0" y="10388"/>
                </a:moveTo>
                <a:lnTo>
                  <a:pt x="5969" y="12585"/>
                </a:lnTo>
                <a:lnTo>
                  <a:pt x="11874" y="14897"/>
                </a:lnTo>
                <a:lnTo>
                  <a:pt x="17729" y="17322"/>
                </a:lnTo>
                <a:lnTo>
                  <a:pt x="20205" y="11493"/>
                </a:lnTo>
                <a:lnTo>
                  <a:pt x="22796" y="5714"/>
                </a:lnTo>
                <a:lnTo>
                  <a:pt x="25501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61890" y="3010331"/>
            <a:ext cx="873760" cy="499745"/>
          </a:xfrm>
          <a:custGeom>
            <a:avLst/>
            <a:gdLst/>
            <a:ahLst/>
            <a:cxnLst/>
            <a:rect l="l" t="t" r="r" b="b"/>
            <a:pathLst>
              <a:path w="873760" h="499745">
                <a:moveTo>
                  <a:pt x="0" y="234645"/>
                </a:moveTo>
                <a:lnTo>
                  <a:pt x="26309" y="193989"/>
                </a:lnTo>
                <a:lnTo>
                  <a:pt x="56566" y="156377"/>
                </a:lnTo>
                <a:lnTo>
                  <a:pt x="90478" y="122102"/>
                </a:lnTo>
                <a:lnTo>
                  <a:pt x="127755" y="91452"/>
                </a:lnTo>
                <a:lnTo>
                  <a:pt x="168105" y="64720"/>
                </a:lnTo>
                <a:lnTo>
                  <a:pt x="211236" y="42196"/>
                </a:lnTo>
                <a:lnTo>
                  <a:pt x="256858" y="24172"/>
                </a:lnTo>
                <a:lnTo>
                  <a:pt x="304678" y="10937"/>
                </a:lnTo>
                <a:lnTo>
                  <a:pt x="354407" y="2782"/>
                </a:lnTo>
                <a:lnTo>
                  <a:pt x="405752" y="0"/>
                </a:lnTo>
                <a:lnTo>
                  <a:pt x="453602" y="2417"/>
                </a:lnTo>
                <a:lnTo>
                  <a:pt x="500071" y="9512"/>
                </a:lnTo>
                <a:lnTo>
                  <a:pt x="544923" y="21049"/>
                </a:lnTo>
                <a:lnTo>
                  <a:pt x="587922" y="36792"/>
                </a:lnTo>
                <a:lnTo>
                  <a:pt x="628834" y="56507"/>
                </a:lnTo>
                <a:lnTo>
                  <a:pt x="667422" y="79957"/>
                </a:lnTo>
                <a:lnTo>
                  <a:pt x="703452" y="106908"/>
                </a:lnTo>
                <a:lnTo>
                  <a:pt x="736688" y="137123"/>
                </a:lnTo>
                <a:lnTo>
                  <a:pt x="766896" y="170367"/>
                </a:lnTo>
                <a:lnTo>
                  <a:pt x="793839" y="206405"/>
                </a:lnTo>
                <a:lnTo>
                  <a:pt x="817283" y="245001"/>
                </a:lnTo>
                <a:lnTo>
                  <a:pt x="836991" y="285919"/>
                </a:lnTo>
                <a:lnTo>
                  <a:pt x="852730" y="328925"/>
                </a:lnTo>
                <a:lnTo>
                  <a:pt x="864263" y="373782"/>
                </a:lnTo>
                <a:lnTo>
                  <a:pt x="871356" y="420255"/>
                </a:lnTo>
                <a:lnTo>
                  <a:pt x="873772" y="468109"/>
                </a:lnTo>
                <a:lnTo>
                  <a:pt x="873688" y="475924"/>
                </a:lnTo>
                <a:lnTo>
                  <a:pt x="873444" y="483709"/>
                </a:lnTo>
                <a:lnTo>
                  <a:pt x="873049" y="491464"/>
                </a:lnTo>
                <a:lnTo>
                  <a:pt x="872515" y="499186"/>
                </a:lnTo>
              </a:path>
            </a:pathLst>
          </a:custGeom>
          <a:ln w="25399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30075" y="3528288"/>
            <a:ext cx="17780" cy="26670"/>
          </a:xfrm>
          <a:custGeom>
            <a:avLst/>
            <a:gdLst/>
            <a:ahLst/>
            <a:cxnLst/>
            <a:rect l="l" t="t" r="r" b="b"/>
            <a:pathLst>
              <a:path w="17779" h="26670">
                <a:moveTo>
                  <a:pt x="2501" y="0"/>
                </a:moveTo>
                <a:lnTo>
                  <a:pt x="1765" y="6337"/>
                </a:lnTo>
                <a:lnTo>
                  <a:pt x="927" y="12623"/>
                </a:lnTo>
                <a:lnTo>
                  <a:pt x="0" y="18884"/>
                </a:lnTo>
                <a:lnTo>
                  <a:pt x="5918" y="21209"/>
                </a:lnTo>
                <a:lnTo>
                  <a:pt x="11747" y="23685"/>
                </a:lnTo>
                <a:lnTo>
                  <a:pt x="17487" y="26327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17782" y="3572929"/>
            <a:ext cx="327660" cy="626745"/>
          </a:xfrm>
          <a:custGeom>
            <a:avLst/>
            <a:gdLst/>
            <a:ahLst/>
            <a:cxnLst/>
            <a:rect l="l" t="t" r="r" b="b"/>
            <a:pathLst>
              <a:path w="327660" h="626745">
                <a:moveTo>
                  <a:pt x="164998" y="0"/>
                </a:moveTo>
                <a:lnTo>
                  <a:pt x="204790" y="28114"/>
                </a:lnTo>
                <a:lnTo>
                  <a:pt x="239933" y="61623"/>
                </a:lnTo>
                <a:lnTo>
                  <a:pt x="269891" y="99928"/>
                </a:lnTo>
                <a:lnTo>
                  <a:pt x="294126" y="142428"/>
                </a:lnTo>
                <a:lnTo>
                  <a:pt x="312101" y="188523"/>
                </a:lnTo>
                <a:lnTo>
                  <a:pt x="323280" y="237615"/>
                </a:lnTo>
                <a:lnTo>
                  <a:pt x="327126" y="289102"/>
                </a:lnTo>
                <a:lnTo>
                  <a:pt x="323584" y="338027"/>
                </a:lnTo>
                <a:lnTo>
                  <a:pt x="313294" y="385023"/>
                </a:lnTo>
                <a:lnTo>
                  <a:pt x="296758" y="429517"/>
                </a:lnTo>
                <a:lnTo>
                  <a:pt x="274479" y="470931"/>
                </a:lnTo>
                <a:lnTo>
                  <a:pt x="246962" y="508691"/>
                </a:lnTo>
                <a:lnTo>
                  <a:pt x="214707" y="542221"/>
                </a:lnTo>
                <a:lnTo>
                  <a:pt x="178220" y="570945"/>
                </a:lnTo>
                <a:lnTo>
                  <a:pt x="138003" y="594289"/>
                </a:lnTo>
                <a:lnTo>
                  <a:pt x="94558" y="611675"/>
                </a:lnTo>
                <a:lnTo>
                  <a:pt x="48389" y="622529"/>
                </a:lnTo>
                <a:lnTo>
                  <a:pt x="0" y="626275"/>
                </a:lnTo>
                <a:lnTo>
                  <a:pt x="1917" y="626275"/>
                </a:lnTo>
              </a:path>
            </a:pathLst>
          </a:custGeom>
          <a:ln w="25400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81600" y="4199204"/>
            <a:ext cx="12700" cy="0"/>
          </a:xfrm>
          <a:custGeom>
            <a:avLst/>
            <a:gdLst/>
            <a:ahLst/>
            <a:cxnLst/>
            <a:rect l="l" t="t" r="r" b="b"/>
            <a:pathLst>
              <a:path w="12700" h="0">
                <a:moveTo>
                  <a:pt x="127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34865" y="3210775"/>
            <a:ext cx="134518" cy="134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00016" y="2990354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19">
                <a:moveTo>
                  <a:pt x="67259" y="0"/>
                </a:moveTo>
                <a:lnTo>
                  <a:pt x="41078" y="5285"/>
                </a:lnTo>
                <a:lnTo>
                  <a:pt x="19699" y="19699"/>
                </a:lnTo>
                <a:lnTo>
                  <a:pt x="5285" y="41078"/>
                </a:lnTo>
                <a:lnTo>
                  <a:pt x="0" y="67259"/>
                </a:lnTo>
                <a:lnTo>
                  <a:pt x="5285" y="93440"/>
                </a:lnTo>
                <a:lnTo>
                  <a:pt x="19699" y="114819"/>
                </a:lnTo>
                <a:lnTo>
                  <a:pt x="41078" y="129233"/>
                </a:lnTo>
                <a:lnTo>
                  <a:pt x="67259" y="134518"/>
                </a:lnTo>
                <a:lnTo>
                  <a:pt x="93440" y="129233"/>
                </a:lnTo>
                <a:lnTo>
                  <a:pt x="114819" y="114819"/>
                </a:lnTo>
                <a:lnTo>
                  <a:pt x="129233" y="93440"/>
                </a:lnTo>
                <a:lnTo>
                  <a:pt x="134518" y="67259"/>
                </a:lnTo>
                <a:lnTo>
                  <a:pt x="129233" y="41078"/>
                </a:lnTo>
                <a:lnTo>
                  <a:pt x="114819" y="19699"/>
                </a:lnTo>
                <a:lnTo>
                  <a:pt x="93440" y="5285"/>
                </a:lnTo>
                <a:lnTo>
                  <a:pt x="67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95545" y="2967393"/>
            <a:ext cx="257124" cy="2571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74081" y="3453574"/>
            <a:ext cx="134620" cy="134620"/>
          </a:xfrm>
          <a:custGeom>
            <a:avLst/>
            <a:gdLst/>
            <a:ahLst/>
            <a:cxnLst/>
            <a:rect l="l" t="t" r="r" b="b"/>
            <a:pathLst>
              <a:path w="134620" h="134620">
                <a:moveTo>
                  <a:pt x="67259" y="0"/>
                </a:moveTo>
                <a:lnTo>
                  <a:pt x="41078" y="5285"/>
                </a:lnTo>
                <a:lnTo>
                  <a:pt x="19699" y="19699"/>
                </a:lnTo>
                <a:lnTo>
                  <a:pt x="5285" y="41078"/>
                </a:lnTo>
                <a:lnTo>
                  <a:pt x="0" y="67259"/>
                </a:lnTo>
                <a:lnTo>
                  <a:pt x="5285" y="93440"/>
                </a:lnTo>
                <a:lnTo>
                  <a:pt x="19699" y="114819"/>
                </a:lnTo>
                <a:lnTo>
                  <a:pt x="41078" y="129233"/>
                </a:lnTo>
                <a:lnTo>
                  <a:pt x="67259" y="134518"/>
                </a:lnTo>
                <a:lnTo>
                  <a:pt x="93440" y="129233"/>
                </a:lnTo>
                <a:lnTo>
                  <a:pt x="114819" y="114819"/>
                </a:lnTo>
                <a:lnTo>
                  <a:pt x="129233" y="93440"/>
                </a:lnTo>
                <a:lnTo>
                  <a:pt x="134518" y="67259"/>
                </a:lnTo>
                <a:lnTo>
                  <a:pt x="129233" y="41078"/>
                </a:lnTo>
                <a:lnTo>
                  <a:pt x="114819" y="19699"/>
                </a:lnTo>
                <a:lnTo>
                  <a:pt x="93440" y="5285"/>
                </a:lnTo>
                <a:lnTo>
                  <a:pt x="67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50230" y="3954614"/>
            <a:ext cx="256959" cy="2569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93731" y="3308578"/>
            <a:ext cx="220345" cy="220345"/>
          </a:xfrm>
          <a:custGeom>
            <a:avLst/>
            <a:gdLst/>
            <a:ahLst/>
            <a:cxnLst/>
            <a:rect l="l" t="t" r="r" b="b"/>
            <a:pathLst>
              <a:path w="220345" h="220345">
                <a:moveTo>
                  <a:pt x="110020" y="0"/>
                </a:moveTo>
                <a:lnTo>
                  <a:pt x="67192" y="8646"/>
                </a:lnTo>
                <a:lnTo>
                  <a:pt x="32221" y="32226"/>
                </a:lnTo>
                <a:lnTo>
                  <a:pt x="8644" y="67197"/>
                </a:lnTo>
                <a:lnTo>
                  <a:pt x="0" y="110020"/>
                </a:lnTo>
                <a:lnTo>
                  <a:pt x="8644" y="152849"/>
                </a:lnTo>
                <a:lnTo>
                  <a:pt x="32221" y="187825"/>
                </a:lnTo>
                <a:lnTo>
                  <a:pt x="67192" y="211405"/>
                </a:lnTo>
                <a:lnTo>
                  <a:pt x="110020" y="220052"/>
                </a:lnTo>
                <a:lnTo>
                  <a:pt x="152842" y="211405"/>
                </a:lnTo>
                <a:lnTo>
                  <a:pt x="187813" y="187825"/>
                </a:lnTo>
                <a:lnTo>
                  <a:pt x="211393" y="152849"/>
                </a:lnTo>
                <a:lnTo>
                  <a:pt x="220040" y="110020"/>
                </a:lnTo>
                <a:lnTo>
                  <a:pt x="211393" y="67197"/>
                </a:lnTo>
                <a:lnTo>
                  <a:pt x="187813" y="32226"/>
                </a:lnTo>
                <a:lnTo>
                  <a:pt x="152842" y="8646"/>
                </a:lnTo>
                <a:lnTo>
                  <a:pt x="110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21493" y="3670808"/>
            <a:ext cx="134505" cy="1345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71633" y="4022216"/>
            <a:ext cx="134518" cy="1345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61889" y="3964889"/>
            <a:ext cx="236854" cy="236854"/>
          </a:xfrm>
          <a:custGeom>
            <a:avLst/>
            <a:gdLst/>
            <a:ahLst/>
            <a:cxnLst/>
            <a:rect l="l" t="t" r="r" b="b"/>
            <a:pathLst>
              <a:path w="236854" h="236854">
                <a:moveTo>
                  <a:pt x="118198" y="0"/>
                </a:moveTo>
                <a:lnTo>
                  <a:pt x="72191" y="9289"/>
                </a:lnTo>
                <a:lnTo>
                  <a:pt x="34620" y="34621"/>
                </a:lnTo>
                <a:lnTo>
                  <a:pt x="9288" y="72196"/>
                </a:lnTo>
                <a:lnTo>
                  <a:pt x="0" y="118211"/>
                </a:lnTo>
                <a:lnTo>
                  <a:pt x="9288" y="164219"/>
                </a:lnTo>
                <a:lnTo>
                  <a:pt x="34620" y="201790"/>
                </a:lnTo>
                <a:lnTo>
                  <a:pt x="72191" y="227121"/>
                </a:lnTo>
                <a:lnTo>
                  <a:pt x="118198" y="236410"/>
                </a:lnTo>
                <a:lnTo>
                  <a:pt x="164213" y="227121"/>
                </a:lnTo>
                <a:lnTo>
                  <a:pt x="201788" y="201790"/>
                </a:lnTo>
                <a:lnTo>
                  <a:pt x="227121" y="164219"/>
                </a:lnTo>
                <a:lnTo>
                  <a:pt x="236410" y="118211"/>
                </a:lnTo>
                <a:lnTo>
                  <a:pt x="227121" y="72196"/>
                </a:lnTo>
                <a:lnTo>
                  <a:pt x="201788" y="34621"/>
                </a:lnTo>
                <a:lnTo>
                  <a:pt x="164213" y="9289"/>
                </a:lnTo>
                <a:lnTo>
                  <a:pt x="118198" y="0"/>
                </a:lnTo>
                <a:close/>
              </a:path>
            </a:pathLst>
          </a:custGeom>
          <a:solidFill>
            <a:srgbClr val="2AAA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79697" y="4030688"/>
            <a:ext cx="119380" cy="117475"/>
          </a:xfrm>
          <a:custGeom>
            <a:avLst/>
            <a:gdLst/>
            <a:ahLst/>
            <a:cxnLst/>
            <a:rect l="l" t="t" r="r" b="b"/>
            <a:pathLst>
              <a:path w="119379" h="117475">
                <a:moveTo>
                  <a:pt x="59474" y="0"/>
                </a:moveTo>
                <a:lnTo>
                  <a:pt x="36325" y="4605"/>
                </a:lnTo>
                <a:lnTo>
                  <a:pt x="17421" y="17164"/>
                </a:lnTo>
                <a:lnTo>
                  <a:pt x="4674" y="35790"/>
                </a:lnTo>
                <a:lnTo>
                  <a:pt x="0" y="58597"/>
                </a:lnTo>
                <a:lnTo>
                  <a:pt x="4674" y="81403"/>
                </a:lnTo>
                <a:lnTo>
                  <a:pt x="17421" y="100025"/>
                </a:lnTo>
                <a:lnTo>
                  <a:pt x="36325" y="112579"/>
                </a:lnTo>
                <a:lnTo>
                  <a:pt x="59474" y="117182"/>
                </a:lnTo>
                <a:lnTo>
                  <a:pt x="82622" y="112579"/>
                </a:lnTo>
                <a:lnTo>
                  <a:pt x="101526" y="100025"/>
                </a:lnTo>
                <a:lnTo>
                  <a:pt x="114273" y="81403"/>
                </a:lnTo>
                <a:lnTo>
                  <a:pt x="118948" y="58597"/>
                </a:lnTo>
                <a:lnTo>
                  <a:pt x="114273" y="35790"/>
                </a:lnTo>
                <a:lnTo>
                  <a:pt x="101526" y="17164"/>
                </a:lnTo>
                <a:lnTo>
                  <a:pt x="82622" y="4605"/>
                </a:lnTo>
                <a:lnTo>
                  <a:pt x="59474" y="0"/>
                </a:lnTo>
                <a:close/>
              </a:path>
            </a:pathLst>
          </a:custGeom>
          <a:solidFill>
            <a:srgbClr val="4CC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02684" y="3318992"/>
            <a:ext cx="201930" cy="199390"/>
          </a:xfrm>
          <a:custGeom>
            <a:avLst/>
            <a:gdLst/>
            <a:ahLst/>
            <a:cxnLst/>
            <a:rect l="l" t="t" r="r" b="b"/>
            <a:pathLst>
              <a:path w="201929" h="199389">
                <a:moveTo>
                  <a:pt x="100914" y="0"/>
                </a:moveTo>
                <a:lnTo>
                  <a:pt x="61636" y="7813"/>
                </a:lnTo>
                <a:lnTo>
                  <a:pt x="29559" y="29119"/>
                </a:lnTo>
                <a:lnTo>
                  <a:pt x="7931" y="60720"/>
                </a:lnTo>
                <a:lnTo>
                  <a:pt x="0" y="99415"/>
                </a:lnTo>
                <a:lnTo>
                  <a:pt x="7931" y="138118"/>
                </a:lnTo>
                <a:lnTo>
                  <a:pt x="29559" y="169722"/>
                </a:lnTo>
                <a:lnTo>
                  <a:pt x="61636" y="191030"/>
                </a:lnTo>
                <a:lnTo>
                  <a:pt x="100914" y="198843"/>
                </a:lnTo>
                <a:lnTo>
                  <a:pt x="140197" y="191030"/>
                </a:lnTo>
                <a:lnTo>
                  <a:pt x="172273" y="169722"/>
                </a:lnTo>
                <a:lnTo>
                  <a:pt x="193899" y="138118"/>
                </a:lnTo>
                <a:lnTo>
                  <a:pt x="201828" y="99415"/>
                </a:lnTo>
                <a:lnTo>
                  <a:pt x="193899" y="60720"/>
                </a:lnTo>
                <a:lnTo>
                  <a:pt x="172273" y="29119"/>
                </a:lnTo>
                <a:lnTo>
                  <a:pt x="140197" y="7813"/>
                </a:lnTo>
                <a:lnTo>
                  <a:pt x="100914" y="0"/>
                </a:lnTo>
                <a:close/>
              </a:path>
            </a:pathLst>
          </a:custGeom>
          <a:solidFill>
            <a:srgbClr val="8DC6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35400" y="3405454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 h="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38100">
            <a:solidFill>
              <a:srgbClr val="8DC6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37000" y="339910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3175">
            <a:solidFill>
              <a:srgbClr val="8DC6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67137" y="3718585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21323" y="0"/>
                </a:moveTo>
                <a:lnTo>
                  <a:pt x="6146" y="0"/>
                </a:lnTo>
                <a:lnTo>
                  <a:pt x="0" y="6146"/>
                </a:lnTo>
                <a:lnTo>
                  <a:pt x="0" y="21336"/>
                </a:lnTo>
                <a:lnTo>
                  <a:pt x="6146" y="27495"/>
                </a:lnTo>
                <a:lnTo>
                  <a:pt x="21323" y="27495"/>
                </a:lnTo>
                <a:lnTo>
                  <a:pt x="27482" y="21336"/>
                </a:lnTo>
                <a:lnTo>
                  <a:pt x="27482" y="6146"/>
                </a:lnTo>
                <a:lnTo>
                  <a:pt x="21323" y="0"/>
                </a:lnTo>
                <a:close/>
              </a:path>
            </a:pathLst>
          </a:custGeom>
          <a:solidFill>
            <a:srgbClr val="F79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734828" y="3685590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53111" y="0"/>
                </a:moveTo>
                <a:lnTo>
                  <a:pt x="32436" y="4173"/>
                </a:lnTo>
                <a:lnTo>
                  <a:pt x="15554" y="15554"/>
                </a:lnTo>
                <a:lnTo>
                  <a:pt x="4173" y="32436"/>
                </a:lnTo>
                <a:lnTo>
                  <a:pt x="0" y="53111"/>
                </a:lnTo>
                <a:lnTo>
                  <a:pt x="4173" y="73781"/>
                </a:lnTo>
                <a:lnTo>
                  <a:pt x="15554" y="90663"/>
                </a:lnTo>
                <a:lnTo>
                  <a:pt x="32436" y="102047"/>
                </a:lnTo>
                <a:lnTo>
                  <a:pt x="53111" y="106222"/>
                </a:lnTo>
                <a:lnTo>
                  <a:pt x="73786" y="102047"/>
                </a:lnTo>
                <a:lnTo>
                  <a:pt x="90668" y="90663"/>
                </a:lnTo>
                <a:lnTo>
                  <a:pt x="102049" y="73781"/>
                </a:lnTo>
                <a:lnTo>
                  <a:pt x="106222" y="53111"/>
                </a:lnTo>
                <a:lnTo>
                  <a:pt x="102049" y="32436"/>
                </a:lnTo>
                <a:lnTo>
                  <a:pt x="90668" y="15554"/>
                </a:lnTo>
                <a:lnTo>
                  <a:pt x="73786" y="4173"/>
                </a:lnTo>
                <a:lnTo>
                  <a:pt x="53111" y="0"/>
                </a:lnTo>
                <a:close/>
              </a:path>
            </a:pathLst>
          </a:custGeom>
          <a:solidFill>
            <a:srgbClr val="F79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44922" y="3048203"/>
            <a:ext cx="26670" cy="26034"/>
          </a:xfrm>
          <a:custGeom>
            <a:avLst/>
            <a:gdLst/>
            <a:ahLst/>
            <a:cxnLst/>
            <a:rect l="l" t="t" r="r" b="b"/>
            <a:pathLst>
              <a:path w="26670" h="26035">
                <a:moveTo>
                  <a:pt x="20370" y="0"/>
                </a:moveTo>
                <a:lnTo>
                  <a:pt x="5867" y="0"/>
                </a:lnTo>
                <a:lnTo>
                  <a:pt x="0" y="5791"/>
                </a:lnTo>
                <a:lnTo>
                  <a:pt x="0" y="20078"/>
                </a:lnTo>
                <a:lnTo>
                  <a:pt x="5867" y="25857"/>
                </a:lnTo>
                <a:lnTo>
                  <a:pt x="20370" y="25857"/>
                </a:lnTo>
                <a:lnTo>
                  <a:pt x="26250" y="20078"/>
                </a:lnTo>
                <a:lnTo>
                  <a:pt x="26250" y="5791"/>
                </a:lnTo>
                <a:lnTo>
                  <a:pt x="20370" y="0"/>
                </a:lnTo>
                <a:close/>
              </a:path>
            </a:pathLst>
          </a:custGeom>
          <a:solidFill>
            <a:srgbClr val="CD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83964" y="3097892"/>
            <a:ext cx="36830" cy="36195"/>
          </a:xfrm>
          <a:custGeom>
            <a:avLst/>
            <a:gdLst/>
            <a:ahLst/>
            <a:cxnLst/>
            <a:rect l="l" t="t" r="r" b="b"/>
            <a:pathLst>
              <a:path w="36829" h="36194">
                <a:moveTo>
                  <a:pt x="18218" y="0"/>
                </a:moveTo>
                <a:lnTo>
                  <a:pt x="11110" y="1453"/>
                </a:lnTo>
                <a:lnTo>
                  <a:pt x="5130" y="5505"/>
                </a:lnTo>
                <a:lnTo>
                  <a:pt x="1323" y="11303"/>
                </a:lnTo>
                <a:lnTo>
                  <a:pt x="0" y="18085"/>
                </a:lnTo>
                <a:lnTo>
                  <a:pt x="1471" y="25088"/>
                </a:lnTo>
                <a:lnTo>
                  <a:pt x="5578" y="30980"/>
                </a:lnTo>
                <a:lnTo>
                  <a:pt x="11461" y="34733"/>
                </a:lnTo>
                <a:lnTo>
                  <a:pt x="18346" y="36039"/>
                </a:lnTo>
                <a:lnTo>
                  <a:pt x="25461" y="34587"/>
                </a:lnTo>
                <a:lnTo>
                  <a:pt x="31441" y="30530"/>
                </a:lnTo>
                <a:lnTo>
                  <a:pt x="35248" y="24732"/>
                </a:lnTo>
                <a:lnTo>
                  <a:pt x="36571" y="17953"/>
                </a:lnTo>
                <a:lnTo>
                  <a:pt x="35100" y="10953"/>
                </a:lnTo>
                <a:lnTo>
                  <a:pt x="30986" y="5055"/>
                </a:lnTo>
                <a:lnTo>
                  <a:pt x="25100" y="1302"/>
                </a:lnTo>
                <a:lnTo>
                  <a:pt x="18218" y="0"/>
                </a:lnTo>
                <a:close/>
              </a:path>
            </a:pathLst>
          </a:custGeom>
          <a:solidFill>
            <a:srgbClr val="CD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06517" y="2978670"/>
            <a:ext cx="235585" cy="231775"/>
          </a:xfrm>
          <a:custGeom>
            <a:avLst/>
            <a:gdLst/>
            <a:ahLst/>
            <a:cxnLst/>
            <a:rect l="l" t="t" r="r" b="b"/>
            <a:pathLst>
              <a:path w="235585" h="231775">
                <a:moveTo>
                  <a:pt x="117487" y="0"/>
                </a:moveTo>
                <a:lnTo>
                  <a:pt x="71757" y="9096"/>
                </a:lnTo>
                <a:lnTo>
                  <a:pt x="34412" y="33904"/>
                </a:lnTo>
                <a:lnTo>
                  <a:pt x="9233" y="70696"/>
                </a:lnTo>
                <a:lnTo>
                  <a:pt x="0" y="115747"/>
                </a:lnTo>
                <a:lnTo>
                  <a:pt x="9233" y="160804"/>
                </a:lnTo>
                <a:lnTo>
                  <a:pt x="34412" y="197596"/>
                </a:lnTo>
                <a:lnTo>
                  <a:pt x="71757" y="222400"/>
                </a:lnTo>
                <a:lnTo>
                  <a:pt x="117487" y="231495"/>
                </a:lnTo>
                <a:lnTo>
                  <a:pt x="163218" y="222400"/>
                </a:lnTo>
                <a:lnTo>
                  <a:pt x="200563" y="197596"/>
                </a:lnTo>
                <a:lnTo>
                  <a:pt x="225742" y="160804"/>
                </a:lnTo>
                <a:lnTo>
                  <a:pt x="234975" y="115747"/>
                </a:lnTo>
                <a:lnTo>
                  <a:pt x="225742" y="70696"/>
                </a:lnTo>
                <a:lnTo>
                  <a:pt x="200563" y="33904"/>
                </a:lnTo>
                <a:lnTo>
                  <a:pt x="163218" y="9096"/>
                </a:lnTo>
                <a:lnTo>
                  <a:pt x="117487" y="0"/>
                </a:lnTo>
                <a:close/>
              </a:path>
            </a:pathLst>
          </a:custGeom>
          <a:solidFill>
            <a:srgbClr val="CD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41926" y="3218751"/>
            <a:ext cx="120650" cy="118745"/>
          </a:xfrm>
          <a:custGeom>
            <a:avLst/>
            <a:gdLst/>
            <a:ahLst/>
            <a:cxnLst/>
            <a:rect l="l" t="t" r="r" b="b"/>
            <a:pathLst>
              <a:path w="120650" h="118745">
                <a:moveTo>
                  <a:pt x="60185" y="0"/>
                </a:moveTo>
                <a:lnTo>
                  <a:pt x="36759" y="4659"/>
                </a:lnTo>
                <a:lnTo>
                  <a:pt x="17629" y="17365"/>
                </a:lnTo>
                <a:lnTo>
                  <a:pt x="4730" y="36213"/>
                </a:lnTo>
                <a:lnTo>
                  <a:pt x="0" y="59296"/>
                </a:lnTo>
                <a:lnTo>
                  <a:pt x="4730" y="82371"/>
                </a:lnTo>
                <a:lnTo>
                  <a:pt x="17629" y="101215"/>
                </a:lnTo>
                <a:lnTo>
                  <a:pt x="36759" y="113920"/>
                </a:lnTo>
                <a:lnTo>
                  <a:pt x="60185" y="118579"/>
                </a:lnTo>
                <a:lnTo>
                  <a:pt x="83610" y="113920"/>
                </a:lnTo>
                <a:lnTo>
                  <a:pt x="102741" y="101215"/>
                </a:lnTo>
                <a:lnTo>
                  <a:pt x="115640" y="82371"/>
                </a:lnTo>
                <a:lnTo>
                  <a:pt x="120370" y="59296"/>
                </a:lnTo>
                <a:lnTo>
                  <a:pt x="115640" y="36213"/>
                </a:lnTo>
                <a:lnTo>
                  <a:pt x="102741" y="17365"/>
                </a:lnTo>
                <a:lnTo>
                  <a:pt x="83610" y="4659"/>
                </a:lnTo>
                <a:lnTo>
                  <a:pt x="60185" y="0"/>
                </a:lnTo>
                <a:close/>
              </a:path>
            </a:pathLst>
          </a:custGeom>
          <a:solidFill>
            <a:srgbClr val="54B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91000" y="4165841"/>
            <a:ext cx="54610" cy="62865"/>
          </a:xfrm>
          <a:custGeom>
            <a:avLst/>
            <a:gdLst/>
            <a:ahLst/>
            <a:cxnLst/>
            <a:rect l="l" t="t" r="r" b="b"/>
            <a:pathLst>
              <a:path w="54610" h="62864">
                <a:moveTo>
                  <a:pt x="0" y="0"/>
                </a:moveTo>
                <a:lnTo>
                  <a:pt x="0" y="62826"/>
                </a:lnTo>
                <a:lnTo>
                  <a:pt x="54419" y="314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76380" y="4165841"/>
            <a:ext cx="54610" cy="62865"/>
          </a:xfrm>
          <a:custGeom>
            <a:avLst/>
            <a:gdLst/>
            <a:ahLst/>
            <a:cxnLst/>
            <a:rect l="l" t="t" r="r" b="b"/>
            <a:pathLst>
              <a:path w="54610" h="62864">
                <a:moveTo>
                  <a:pt x="54419" y="0"/>
                </a:moveTo>
                <a:lnTo>
                  <a:pt x="0" y="31407"/>
                </a:lnTo>
                <a:lnTo>
                  <a:pt x="54419" y="62826"/>
                </a:lnTo>
                <a:lnTo>
                  <a:pt x="544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49508" y="4159199"/>
            <a:ext cx="235572" cy="1032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22787" y="4260570"/>
            <a:ext cx="289001" cy="196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69282" y="4119041"/>
            <a:ext cx="796290" cy="76835"/>
          </a:xfrm>
          <a:custGeom>
            <a:avLst/>
            <a:gdLst/>
            <a:ahLst/>
            <a:cxnLst/>
            <a:rect l="l" t="t" r="r" b="b"/>
            <a:pathLst>
              <a:path w="796289" h="76835">
                <a:moveTo>
                  <a:pt x="795972" y="0"/>
                </a:moveTo>
                <a:lnTo>
                  <a:pt x="0" y="0"/>
                </a:lnTo>
                <a:lnTo>
                  <a:pt x="0" y="56896"/>
                </a:lnTo>
                <a:lnTo>
                  <a:pt x="1556" y="64604"/>
                </a:lnTo>
                <a:lnTo>
                  <a:pt x="5802" y="70888"/>
                </a:lnTo>
                <a:lnTo>
                  <a:pt x="12103" y="75119"/>
                </a:lnTo>
                <a:lnTo>
                  <a:pt x="19824" y="76669"/>
                </a:lnTo>
                <a:lnTo>
                  <a:pt x="776173" y="76669"/>
                </a:lnTo>
                <a:lnTo>
                  <a:pt x="783874" y="75119"/>
                </a:lnTo>
                <a:lnTo>
                  <a:pt x="790168" y="70888"/>
                </a:lnTo>
                <a:lnTo>
                  <a:pt x="794414" y="64604"/>
                </a:lnTo>
                <a:lnTo>
                  <a:pt x="795972" y="56896"/>
                </a:lnTo>
                <a:lnTo>
                  <a:pt x="795972" y="0"/>
                </a:lnTo>
                <a:close/>
              </a:path>
            </a:pathLst>
          </a:custGeom>
          <a:solidFill>
            <a:srgbClr val="6E6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69295" y="3617734"/>
            <a:ext cx="796290" cy="501650"/>
          </a:xfrm>
          <a:custGeom>
            <a:avLst/>
            <a:gdLst/>
            <a:ahLst/>
            <a:cxnLst/>
            <a:rect l="l" t="t" r="r" b="b"/>
            <a:pathLst>
              <a:path w="796289" h="501650">
                <a:moveTo>
                  <a:pt x="776173" y="0"/>
                </a:moveTo>
                <a:lnTo>
                  <a:pt x="19824" y="0"/>
                </a:lnTo>
                <a:lnTo>
                  <a:pt x="12103" y="1557"/>
                </a:lnTo>
                <a:lnTo>
                  <a:pt x="5802" y="5803"/>
                </a:lnTo>
                <a:lnTo>
                  <a:pt x="1556" y="12097"/>
                </a:lnTo>
                <a:lnTo>
                  <a:pt x="0" y="19799"/>
                </a:lnTo>
                <a:lnTo>
                  <a:pt x="0" y="501307"/>
                </a:lnTo>
                <a:lnTo>
                  <a:pt x="795972" y="501307"/>
                </a:lnTo>
                <a:lnTo>
                  <a:pt x="795972" y="19799"/>
                </a:lnTo>
                <a:lnTo>
                  <a:pt x="794414" y="12097"/>
                </a:lnTo>
                <a:lnTo>
                  <a:pt x="790168" y="5803"/>
                </a:lnTo>
                <a:lnTo>
                  <a:pt x="783874" y="1557"/>
                </a:lnTo>
                <a:lnTo>
                  <a:pt x="776173" y="0"/>
                </a:lnTo>
                <a:close/>
              </a:path>
            </a:pathLst>
          </a:custGeom>
          <a:solidFill>
            <a:srgbClr val="0E30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01858" y="3648697"/>
            <a:ext cx="730885" cy="437515"/>
          </a:xfrm>
          <a:custGeom>
            <a:avLst/>
            <a:gdLst/>
            <a:ahLst/>
            <a:cxnLst/>
            <a:rect l="l" t="t" r="r" b="b"/>
            <a:pathLst>
              <a:path w="730885" h="437514">
                <a:moveTo>
                  <a:pt x="0" y="0"/>
                </a:moveTo>
                <a:lnTo>
                  <a:pt x="730821" y="0"/>
                </a:lnTo>
                <a:lnTo>
                  <a:pt x="730821" y="437502"/>
                </a:lnTo>
                <a:lnTo>
                  <a:pt x="0" y="437502"/>
                </a:lnTo>
                <a:lnTo>
                  <a:pt x="0" y="0"/>
                </a:lnTo>
                <a:close/>
              </a:path>
            </a:pathLst>
          </a:custGeom>
          <a:solidFill>
            <a:srgbClr val="DBD5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607280" y="2997619"/>
            <a:ext cx="120014" cy="120014"/>
          </a:xfrm>
          <a:custGeom>
            <a:avLst/>
            <a:gdLst/>
            <a:ahLst/>
            <a:cxnLst/>
            <a:rect l="l" t="t" r="r" b="b"/>
            <a:pathLst>
              <a:path w="120014" h="120014">
                <a:moveTo>
                  <a:pt x="59994" y="0"/>
                </a:moveTo>
                <a:lnTo>
                  <a:pt x="36642" y="4714"/>
                </a:lnTo>
                <a:lnTo>
                  <a:pt x="17572" y="17572"/>
                </a:lnTo>
                <a:lnTo>
                  <a:pt x="4714" y="36642"/>
                </a:lnTo>
                <a:lnTo>
                  <a:pt x="0" y="59994"/>
                </a:lnTo>
                <a:lnTo>
                  <a:pt x="4714" y="83352"/>
                </a:lnTo>
                <a:lnTo>
                  <a:pt x="17572" y="102422"/>
                </a:lnTo>
                <a:lnTo>
                  <a:pt x="36642" y="115276"/>
                </a:lnTo>
                <a:lnTo>
                  <a:pt x="59994" y="119989"/>
                </a:lnTo>
                <a:lnTo>
                  <a:pt x="83347" y="115276"/>
                </a:lnTo>
                <a:lnTo>
                  <a:pt x="102417" y="102422"/>
                </a:lnTo>
                <a:lnTo>
                  <a:pt x="115274" y="83352"/>
                </a:lnTo>
                <a:lnTo>
                  <a:pt x="119989" y="59994"/>
                </a:lnTo>
                <a:lnTo>
                  <a:pt x="115274" y="36642"/>
                </a:lnTo>
                <a:lnTo>
                  <a:pt x="102417" y="17572"/>
                </a:lnTo>
                <a:lnTo>
                  <a:pt x="83347" y="4714"/>
                </a:lnTo>
                <a:lnTo>
                  <a:pt x="59994" y="0"/>
                </a:lnTo>
                <a:close/>
              </a:path>
            </a:pathLst>
          </a:custGeom>
          <a:solidFill>
            <a:srgbClr val="F792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367314" y="3699459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68021" y="0"/>
                </a:moveTo>
                <a:lnTo>
                  <a:pt x="0" y="0"/>
                </a:lnTo>
                <a:lnTo>
                  <a:pt x="0" y="67995"/>
                </a:lnTo>
                <a:lnTo>
                  <a:pt x="68021" y="67995"/>
                </a:lnTo>
                <a:lnTo>
                  <a:pt x="68021" y="58280"/>
                </a:lnTo>
                <a:lnTo>
                  <a:pt x="9715" y="58280"/>
                </a:lnTo>
                <a:lnTo>
                  <a:pt x="9715" y="9715"/>
                </a:lnTo>
                <a:lnTo>
                  <a:pt x="61400" y="9715"/>
                </a:lnTo>
                <a:lnTo>
                  <a:pt x="68021" y="4254"/>
                </a:lnTo>
                <a:lnTo>
                  <a:pt x="68021" y="0"/>
                </a:lnTo>
                <a:close/>
              </a:path>
              <a:path w="68579" h="68579">
                <a:moveTo>
                  <a:pt x="68021" y="25869"/>
                </a:moveTo>
                <a:lnTo>
                  <a:pt x="58305" y="37528"/>
                </a:lnTo>
                <a:lnTo>
                  <a:pt x="58305" y="58280"/>
                </a:lnTo>
                <a:lnTo>
                  <a:pt x="68021" y="58280"/>
                </a:lnTo>
                <a:lnTo>
                  <a:pt x="68021" y="25869"/>
                </a:lnTo>
                <a:close/>
              </a:path>
              <a:path w="68579" h="68579">
                <a:moveTo>
                  <a:pt x="61400" y="9715"/>
                </a:moveTo>
                <a:lnTo>
                  <a:pt x="58305" y="9715"/>
                </a:lnTo>
                <a:lnTo>
                  <a:pt x="58305" y="12268"/>
                </a:lnTo>
                <a:lnTo>
                  <a:pt x="61400" y="971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85919" y="3697185"/>
            <a:ext cx="66040" cy="53975"/>
          </a:xfrm>
          <a:custGeom>
            <a:avLst/>
            <a:gdLst/>
            <a:ahLst/>
            <a:cxnLst/>
            <a:rect l="l" t="t" r="r" b="b"/>
            <a:pathLst>
              <a:path w="66039" h="53975">
                <a:moveTo>
                  <a:pt x="3759" y="21869"/>
                </a:moveTo>
                <a:lnTo>
                  <a:pt x="0" y="25958"/>
                </a:lnTo>
                <a:lnTo>
                  <a:pt x="23977" y="53593"/>
                </a:lnTo>
                <a:lnTo>
                  <a:pt x="42273" y="31648"/>
                </a:lnTo>
                <a:lnTo>
                  <a:pt x="23977" y="31648"/>
                </a:lnTo>
                <a:lnTo>
                  <a:pt x="3759" y="21869"/>
                </a:lnTo>
                <a:close/>
              </a:path>
              <a:path w="66039" h="53975">
                <a:moveTo>
                  <a:pt x="62445" y="0"/>
                </a:moveTo>
                <a:lnTo>
                  <a:pt x="23977" y="31648"/>
                </a:lnTo>
                <a:lnTo>
                  <a:pt x="42273" y="31648"/>
                </a:lnTo>
                <a:lnTo>
                  <a:pt x="65735" y="3505"/>
                </a:lnTo>
                <a:lnTo>
                  <a:pt x="6244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67314" y="379117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68021" y="0"/>
                </a:moveTo>
                <a:lnTo>
                  <a:pt x="0" y="0"/>
                </a:lnTo>
                <a:lnTo>
                  <a:pt x="0" y="67995"/>
                </a:lnTo>
                <a:lnTo>
                  <a:pt x="68021" y="67995"/>
                </a:lnTo>
                <a:lnTo>
                  <a:pt x="68021" y="58280"/>
                </a:lnTo>
                <a:lnTo>
                  <a:pt x="9715" y="58280"/>
                </a:lnTo>
                <a:lnTo>
                  <a:pt x="9715" y="9715"/>
                </a:lnTo>
                <a:lnTo>
                  <a:pt x="61229" y="9715"/>
                </a:lnTo>
                <a:lnTo>
                  <a:pt x="68021" y="1574"/>
                </a:lnTo>
                <a:lnTo>
                  <a:pt x="68021" y="0"/>
                </a:lnTo>
                <a:close/>
              </a:path>
              <a:path w="68579" h="68579">
                <a:moveTo>
                  <a:pt x="68021" y="4254"/>
                </a:moveTo>
                <a:lnTo>
                  <a:pt x="60853" y="10166"/>
                </a:lnTo>
                <a:lnTo>
                  <a:pt x="58305" y="13220"/>
                </a:lnTo>
                <a:lnTo>
                  <a:pt x="58305" y="58280"/>
                </a:lnTo>
                <a:lnTo>
                  <a:pt x="68021" y="58280"/>
                </a:lnTo>
                <a:lnTo>
                  <a:pt x="68021" y="4254"/>
                </a:lnTo>
                <a:close/>
              </a:path>
              <a:path w="68579" h="68579">
                <a:moveTo>
                  <a:pt x="61229" y="9715"/>
                </a:moveTo>
                <a:lnTo>
                  <a:pt x="58305" y="9715"/>
                </a:lnTo>
                <a:lnTo>
                  <a:pt x="58305" y="12268"/>
                </a:lnTo>
                <a:lnTo>
                  <a:pt x="60853" y="10166"/>
                </a:lnTo>
                <a:lnTo>
                  <a:pt x="61229" y="9715"/>
                </a:lnTo>
                <a:close/>
              </a:path>
              <a:path w="68579" h="68579">
                <a:moveTo>
                  <a:pt x="68021" y="1574"/>
                </a:moveTo>
                <a:lnTo>
                  <a:pt x="60853" y="10166"/>
                </a:lnTo>
                <a:lnTo>
                  <a:pt x="68021" y="4254"/>
                </a:lnTo>
                <a:lnTo>
                  <a:pt x="68021" y="1574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67314" y="3880789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68021" y="0"/>
                </a:moveTo>
                <a:lnTo>
                  <a:pt x="0" y="0"/>
                </a:lnTo>
                <a:lnTo>
                  <a:pt x="0" y="67995"/>
                </a:lnTo>
                <a:lnTo>
                  <a:pt x="68021" y="67995"/>
                </a:lnTo>
                <a:lnTo>
                  <a:pt x="68021" y="58280"/>
                </a:lnTo>
                <a:lnTo>
                  <a:pt x="9715" y="58280"/>
                </a:lnTo>
                <a:lnTo>
                  <a:pt x="9715" y="9715"/>
                </a:lnTo>
                <a:lnTo>
                  <a:pt x="61400" y="9715"/>
                </a:lnTo>
                <a:lnTo>
                  <a:pt x="68021" y="4254"/>
                </a:lnTo>
                <a:lnTo>
                  <a:pt x="68021" y="0"/>
                </a:lnTo>
                <a:close/>
              </a:path>
              <a:path w="68579" h="68579">
                <a:moveTo>
                  <a:pt x="68021" y="25869"/>
                </a:moveTo>
                <a:lnTo>
                  <a:pt x="58305" y="37528"/>
                </a:lnTo>
                <a:lnTo>
                  <a:pt x="58305" y="58280"/>
                </a:lnTo>
                <a:lnTo>
                  <a:pt x="68021" y="58280"/>
                </a:lnTo>
                <a:lnTo>
                  <a:pt x="68021" y="25869"/>
                </a:lnTo>
                <a:close/>
              </a:path>
              <a:path w="68579" h="68579">
                <a:moveTo>
                  <a:pt x="61400" y="9715"/>
                </a:moveTo>
                <a:lnTo>
                  <a:pt x="58305" y="9715"/>
                </a:lnTo>
                <a:lnTo>
                  <a:pt x="58305" y="12268"/>
                </a:lnTo>
                <a:lnTo>
                  <a:pt x="61400" y="971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85919" y="3878516"/>
            <a:ext cx="66040" cy="53975"/>
          </a:xfrm>
          <a:custGeom>
            <a:avLst/>
            <a:gdLst/>
            <a:ahLst/>
            <a:cxnLst/>
            <a:rect l="l" t="t" r="r" b="b"/>
            <a:pathLst>
              <a:path w="66039" h="53975">
                <a:moveTo>
                  <a:pt x="3759" y="21869"/>
                </a:moveTo>
                <a:lnTo>
                  <a:pt x="0" y="25958"/>
                </a:lnTo>
                <a:lnTo>
                  <a:pt x="23977" y="53593"/>
                </a:lnTo>
                <a:lnTo>
                  <a:pt x="42273" y="31648"/>
                </a:lnTo>
                <a:lnTo>
                  <a:pt x="23977" y="31648"/>
                </a:lnTo>
                <a:lnTo>
                  <a:pt x="3759" y="21869"/>
                </a:lnTo>
                <a:close/>
              </a:path>
              <a:path w="66039" h="53975">
                <a:moveTo>
                  <a:pt x="62445" y="0"/>
                </a:moveTo>
                <a:lnTo>
                  <a:pt x="23977" y="31648"/>
                </a:lnTo>
                <a:lnTo>
                  <a:pt x="42273" y="31648"/>
                </a:lnTo>
                <a:lnTo>
                  <a:pt x="65735" y="3505"/>
                </a:lnTo>
                <a:lnTo>
                  <a:pt x="6244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67314" y="3972496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68021" y="0"/>
                </a:moveTo>
                <a:lnTo>
                  <a:pt x="0" y="0"/>
                </a:lnTo>
                <a:lnTo>
                  <a:pt x="0" y="67995"/>
                </a:lnTo>
                <a:lnTo>
                  <a:pt x="68021" y="67995"/>
                </a:lnTo>
                <a:lnTo>
                  <a:pt x="68021" y="58280"/>
                </a:lnTo>
                <a:lnTo>
                  <a:pt x="9715" y="58280"/>
                </a:lnTo>
                <a:lnTo>
                  <a:pt x="9715" y="9715"/>
                </a:lnTo>
                <a:lnTo>
                  <a:pt x="61229" y="9715"/>
                </a:lnTo>
                <a:lnTo>
                  <a:pt x="68021" y="1574"/>
                </a:lnTo>
                <a:lnTo>
                  <a:pt x="68021" y="0"/>
                </a:lnTo>
                <a:close/>
              </a:path>
              <a:path w="68579" h="68579">
                <a:moveTo>
                  <a:pt x="68021" y="4254"/>
                </a:moveTo>
                <a:lnTo>
                  <a:pt x="60853" y="10166"/>
                </a:lnTo>
                <a:lnTo>
                  <a:pt x="58305" y="13220"/>
                </a:lnTo>
                <a:lnTo>
                  <a:pt x="58305" y="58280"/>
                </a:lnTo>
                <a:lnTo>
                  <a:pt x="68021" y="58280"/>
                </a:lnTo>
                <a:lnTo>
                  <a:pt x="68021" y="4254"/>
                </a:lnTo>
                <a:close/>
              </a:path>
              <a:path w="68579" h="68579">
                <a:moveTo>
                  <a:pt x="61229" y="9715"/>
                </a:moveTo>
                <a:lnTo>
                  <a:pt x="58305" y="9715"/>
                </a:lnTo>
                <a:lnTo>
                  <a:pt x="58305" y="12268"/>
                </a:lnTo>
                <a:lnTo>
                  <a:pt x="60853" y="10166"/>
                </a:lnTo>
                <a:lnTo>
                  <a:pt x="61229" y="9715"/>
                </a:lnTo>
                <a:close/>
              </a:path>
              <a:path w="68579" h="68579">
                <a:moveTo>
                  <a:pt x="68021" y="1574"/>
                </a:moveTo>
                <a:lnTo>
                  <a:pt x="60853" y="10166"/>
                </a:lnTo>
                <a:lnTo>
                  <a:pt x="68021" y="4254"/>
                </a:lnTo>
                <a:lnTo>
                  <a:pt x="68021" y="1574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11282" y="3901782"/>
            <a:ext cx="79375" cy="73025"/>
          </a:xfrm>
          <a:custGeom>
            <a:avLst/>
            <a:gdLst/>
            <a:ahLst/>
            <a:cxnLst/>
            <a:rect l="l" t="t" r="r" b="b"/>
            <a:pathLst>
              <a:path w="79375" h="73025">
                <a:moveTo>
                  <a:pt x="18821" y="51765"/>
                </a:moveTo>
                <a:lnTo>
                  <a:pt x="15773" y="53352"/>
                </a:lnTo>
                <a:lnTo>
                  <a:pt x="5626" y="69799"/>
                </a:lnTo>
                <a:lnTo>
                  <a:pt x="8648" y="72834"/>
                </a:lnTo>
                <a:lnTo>
                  <a:pt x="24968" y="62763"/>
                </a:lnTo>
                <a:lnTo>
                  <a:pt x="26682" y="59626"/>
                </a:lnTo>
                <a:lnTo>
                  <a:pt x="25285" y="58216"/>
                </a:lnTo>
                <a:lnTo>
                  <a:pt x="30352" y="53149"/>
                </a:lnTo>
                <a:lnTo>
                  <a:pt x="20192" y="53149"/>
                </a:lnTo>
                <a:lnTo>
                  <a:pt x="18821" y="51765"/>
                </a:lnTo>
                <a:close/>
              </a:path>
              <a:path w="79375" h="73025">
                <a:moveTo>
                  <a:pt x="56400" y="41617"/>
                </a:moveTo>
                <a:lnTo>
                  <a:pt x="42773" y="55232"/>
                </a:lnTo>
                <a:lnTo>
                  <a:pt x="60375" y="72821"/>
                </a:lnTo>
                <a:lnTo>
                  <a:pt x="66459" y="72821"/>
                </a:lnTo>
                <a:lnTo>
                  <a:pt x="72250" y="67030"/>
                </a:lnTo>
                <a:lnTo>
                  <a:pt x="62547" y="67030"/>
                </a:lnTo>
                <a:lnTo>
                  <a:pt x="59435" y="63906"/>
                </a:lnTo>
                <a:lnTo>
                  <a:pt x="59435" y="61391"/>
                </a:lnTo>
                <a:lnTo>
                  <a:pt x="62547" y="58267"/>
                </a:lnTo>
                <a:lnTo>
                  <a:pt x="73038" y="58267"/>
                </a:lnTo>
                <a:lnTo>
                  <a:pt x="56400" y="41617"/>
                </a:lnTo>
                <a:close/>
              </a:path>
              <a:path w="79375" h="73025">
                <a:moveTo>
                  <a:pt x="73038" y="58267"/>
                </a:moveTo>
                <a:lnTo>
                  <a:pt x="65074" y="58267"/>
                </a:lnTo>
                <a:lnTo>
                  <a:pt x="68173" y="61391"/>
                </a:lnTo>
                <a:lnTo>
                  <a:pt x="68173" y="63906"/>
                </a:lnTo>
                <a:lnTo>
                  <a:pt x="65074" y="67030"/>
                </a:lnTo>
                <a:lnTo>
                  <a:pt x="72250" y="67030"/>
                </a:lnTo>
                <a:lnTo>
                  <a:pt x="73977" y="65303"/>
                </a:lnTo>
                <a:lnTo>
                  <a:pt x="73977" y="59207"/>
                </a:lnTo>
                <a:lnTo>
                  <a:pt x="73038" y="58267"/>
                </a:lnTo>
                <a:close/>
              </a:path>
              <a:path w="79375" h="73025">
                <a:moveTo>
                  <a:pt x="33121" y="40220"/>
                </a:moveTo>
                <a:lnTo>
                  <a:pt x="20192" y="53149"/>
                </a:lnTo>
                <a:lnTo>
                  <a:pt x="30352" y="53149"/>
                </a:lnTo>
                <a:lnTo>
                  <a:pt x="38201" y="45300"/>
                </a:lnTo>
                <a:lnTo>
                  <a:pt x="33121" y="40220"/>
                </a:lnTo>
                <a:close/>
              </a:path>
              <a:path w="79375" h="73025">
                <a:moveTo>
                  <a:pt x="70307" y="0"/>
                </a:moveTo>
                <a:lnTo>
                  <a:pt x="63372" y="0"/>
                </a:lnTo>
                <a:lnTo>
                  <a:pt x="31686" y="31673"/>
                </a:lnTo>
                <a:lnTo>
                  <a:pt x="47193" y="47180"/>
                </a:lnTo>
                <a:lnTo>
                  <a:pt x="54648" y="39725"/>
                </a:lnTo>
                <a:lnTo>
                  <a:pt x="48691" y="39725"/>
                </a:lnTo>
                <a:lnTo>
                  <a:pt x="46850" y="37884"/>
                </a:lnTo>
                <a:lnTo>
                  <a:pt x="48856" y="35877"/>
                </a:lnTo>
                <a:lnTo>
                  <a:pt x="44843" y="35877"/>
                </a:lnTo>
                <a:lnTo>
                  <a:pt x="43002" y="34023"/>
                </a:lnTo>
                <a:lnTo>
                  <a:pt x="45008" y="32016"/>
                </a:lnTo>
                <a:lnTo>
                  <a:pt x="40982" y="32016"/>
                </a:lnTo>
                <a:lnTo>
                  <a:pt x="39141" y="30175"/>
                </a:lnTo>
                <a:lnTo>
                  <a:pt x="62826" y="6489"/>
                </a:lnTo>
                <a:lnTo>
                  <a:pt x="76815" y="6489"/>
                </a:lnTo>
                <a:lnTo>
                  <a:pt x="70307" y="0"/>
                </a:lnTo>
                <a:close/>
              </a:path>
              <a:path w="79375" h="73025">
                <a:moveTo>
                  <a:pt x="78879" y="14198"/>
                </a:moveTo>
                <a:lnTo>
                  <a:pt x="71361" y="14198"/>
                </a:lnTo>
                <a:lnTo>
                  <a:pt x="72377" y="15214"/>
                </a:lnTo>
                <a:lnTo>
                  <a:pt x="72339" y="16078"/>
                </a:lnTo>
                <a:lnTo>
                  <a:pt x="48691" y="39725"/>
                </a:lnTo>
                <a:lnTo>
                  <a:pt x="54648" y="39725"/>
                </a:lnTo>
                <a:lnTo>
                  <a:pt x="78879" y="15493"/>
                </a:lnTo>
                <a:lnTo>
                  <a:pt x="78879" y="14198"/>
                </a:lnTo>
                <a:close/>
              </a:path>
              <a:path w="79375" h="73025">
                <a:moveTo>
                  <a:pt x="78740" y="8420"/>
                </a:moveTo>
                <a:lnTo>
                  <a:pt x="69430" y="8420"/>
                </a:lnTo>
                <a:lnTo>
                  <a:pt x="70446" y="9423"/>
                </a:lnTo>
                <a:lnTo>
                  <a:pt x="70446" y="10261"/>
                </a:lnTo>
                <a:lnTo>
                  <a:pt x="44843" y="35877"/>
                </a:lnTo>
                <a:lnTo>
                  <a:pt x="48856" y="35877"/>
                </a:lnTo>
                <a:lnTo>
                  <a:pt x="70535" y="14198"/>
                </a:lnTo>
                <a:lnTo>
                  <a:pt x="78879" y="14198"/>
                </a:lnTo>
                <a:lnTo>
                  <a:pt x="78879" y="8559"/>
                </a:lnTo>
                <a:lnTo>
                  <a:pt x="78740" y="8420"/>
                </a:lnTo>
                <a:close/>
              </a:path>
              <a:path w="79375" h="73025">
                <a:moveTo>
                  <a:pt x="1066" y="11963"/>
                </a:moveTo>
                <a:lnTo>
                  <a:pt x="380" y="13817"/>
                </a:lnTo>
                <a:lnTo>
                  <a:pt x="114" y="15214"/>
                </a:lnTo>
                <a:lnTo>
                  <a:pt x="0" y="27457"/>
                </a:lnTo>
                <a:lnTo>
                  <a:pt x="7746" y="35204"/>
                </a:lnTo>
                <a:lnTo>
                  <a:pt x="26873" y="35204"/>
                </a:lnTo>
                <a:lnTo>
                  <a:pt x="34620" y="27457"/>
                </a:lnTo>
                <a:lnTo>
                  <a:pt x="34620" y="22440"/>
                </a:lnTo>
                <a:lnTo>
                  <a:pt x="11341" y="22440"/>
                </a:lnTo>
                <a:lnTo>
                  <a:pt x="1587" y="12687"/>
                </a:lnTo>
                <a:lnTo>
                  <a:pt x="1066" y="11963"/>
                </a:lnTo>
                <a:close/>
              </a:path>
              <a:path w="79375" h="73025">
                <a:moveTo>
                  <a:pt x="76815" y="6489"/>
                </a:moveTo>
                <a:lnTo>
                  <a:pt x="63652" y="6489"/>
                </a:lnTo>
                <a:lnTo>
                  <a:pt x="64668" y="7505"/>
                </a:lnTo>
                <a:lnTo>
                  <a:pt x="64579" y="8420"/>
                </a:lnTo>
                <a:lnTo>
                  <a:pt x="40982" y="32016"/>
                </a:lnTo>
                <a:lnTo>
                  <a:pt x="45008" y="32016"/>
                </a:lnTo>
                <a:lnTo>
                  <a:pt x="68605" y="8420"/>
                </a:lnTo>
                <a:lnTo>
                  <a:pt x="78740" y="8420"/>
                </a:lnTo>
                <a:lnTo>
                  <a:pt x="76815" y="6489"/>
                </a:lnTo>
                <a:close/>
              </a:path>
              <a:path w="79375" h="73025">
                <a:moveTo>
                  <a:pt x="26873" y="584"/>
                </a:moveTo>
                <a:lnTo>
                  <a:pt x="15824" y="584"/>
                </a:lnTo>
                <a:lnTo>
                  <a:pt x="14389" y="787"/>
                </a:lnTo>
                <a:lnTo>
                  <a:pt x="13017" y="1155"/>
                </a:lnTo>
                <a:lnTo>
                  <a:pt x="13309" y="1358"/>
                </a:lnTo>
                <a:lnTo>
                  <a:pt x="22859" y="10909"/>
                </a:lnTo>
                <a:lnTo>
                  <a:pt x="22859" y="16078"/>
                </a:lnTo>
                <a:lnTo>
                  <a:pt x="16497" y="22440"/>
                </a:lnTo>
                <a:lnTo>
                  <a:pt x="34620" y="22440"/>
                </a:lnTo>
                <a:lnTo>
                  <a:pt x="34620" y="8331"/>
                </a:lnTo>
                <a:lnTo>
                  <a:pt x="26873" y="58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45166" y="3551389"/>
            <a:ext cx="79375" cy="73025"/>
          </a:xfrm>
          <a:custGeom>
            <a:avLst/>
            <a:gdLst/>
            <a:ahLst/>
            <a:cxnLst/>
            <a:rect l="l" t="t" r="r" b="b"/>
            <a:pathLst>
              <a:path w="79375" h="73025">
                <a:moveTo>
                  <a:pt x="18821" y="51765"/>
                </a:moveTo>
                <a:lnTo>
                  <a:pt x="15773" y="53352"/>
                </a:lnTo>
                <a:lnTo>
                  <a:pt x="5626" y="69799"/>
                </a:lnTo>
                <a:lnTo>
                  <a:pt x="8648" y="72834"/>
                </a:lnTo>
                <a:lnTo>
                  <a:pt x="24968" y="62763"/>
                </a:lnTo>
                <a:lnTo>
                  <a:pt x="26682" y="59626"/>
                </a:lnTo>
                <a:lnTo>
                  <a:pt x="25285" y="58216"/>
                </a:lnTo>
                <a:lnTo>
                  <a:pt x="30352" y="53149"/>
                </a:lnTo>
                <a:lnTo>
                  <a:pt x="20192" y="53149"/>
                </a:lnTo>
                <a:lnTo>
                  <a:pt x="18821" y="51765"/>
                </a:lnTo>
                <a:close/>
              </a:path>
              <a:path w="79375" h="73025">
                <a:moveTo>
                  <a:pt x="56400" y="41617"/>
                </a:moveTo>
                <a:lnTo>
                  <a:pt x="42773" y="55232"/>
                </a:lnTo>
                <a:lnTo>
                  <a:pt x="60375" y="72821"/>
                </a:lnTo>
                <a:lnTo>
                  <a:pt x="66459" y="72821"/>
                </a:lnTo>
                <a:lnTo>
                  <a:pt x="72250" y="67030"/>
                </a:lnTo>
                <a:lnTo>
                  <a:pt x="62547" y="67030"/>
                </a:lnTo>
                <a:lnTo>
                  <a:pt x="59435" y="63906"/>
                </a:lnTo>
                <a:lnTo>
                  <a:pt x="59435" y="61391"/>
                </a:lnTo>
                <a:lnTo>
                  <a:pt x="62547" y="58267"/>
                </a:lnTo>
                <a:lnTo>
                  <a:pt x="73038" y="58267"/>
                </a:lnTo>
                <a:lnTo>
                  <a:pt x="56400" y="41617"/>
                </a:lnTo>
                <a:close/>
              </a:path>
              <a:path w="79375" h="73025">
                <a:moveTo>
                  <a:pt x="73038" y="58267"/>
                </a:moveTo>
                <a:lnTo>
                  <a:pt x="65074" y="58267"/>
                </a:lnTo>
                <a:lnTo>
                  <a:pt x="68173" y="61391"/>
                </a:lnTo>
                <a:lnTo>
                  <a:pt x="68173" y="63906"/>
                </a:lnTo>
                <a:lnTo>
                  <a:pt x="65074" y="67030"/>
                </a:lnTo>
                <a:lnTo>
                  <a:pt x="72250" y="67030"/>
                </a:lnTo>
                <a:lnTo>
                  <a:pt x="73977" y="65303"/>
                </a:lnTo>
                <a:lnTo>
                  <a:pt x="73977" y="59207"/>
                </a:lnTo>
                <a:lnTo>
                  <a:pt x="73038" y="58267"/>
                </a:lnTo>
                <a:close/>
              </a:path>
              <a:path w="79375" h="73025">
                <a:moveTo>
                  <a:pt x="33121" y="40220"/>
                </a:moveTo>
                <a:lnTo>
                  <a:pt x="20192" y="53149"/>
                </a:lnTo>
                <a:lnTo>
                  <a:pt x="30352" y="53149"/>
                </a:lnTo>
                <a:lnTo>
                  <a:pt x="38201" y="45300"/>
                </a:lnTo>
                <a:lnTo>
                  <a:pt x="33121" y="40220"/>
                </a:lnTo>
                <a:close/>
              </a:path>
              <a:path w="79375" h="73025">
                <a:moveTo>
                  <a:pt x="70307" y="0"/>
                </a:moveTo>
                <a:lnTo>
                  <a:pt x="63372" y="0"/>
                </a:lnTo>
                <a:lnTo>
                  <a:pt x="31686" y="31673"/>
                </a:lnTo>
                <a:lnTo>
                  <a:pt x="47193" y="47180"/>
                </a:lnTo>
                <a:lnTo>
                  <a:pt x="54648" y="39725"/>
                </a:lnTo>
                <a:lnTo>
                  <a:pt x="48691" y="39725"/>
                </a:lnTo>
                <a:lnTo>
                  <a:pt x="46850" y="37884"/>
                </a:lnTo>
                <a:lnTo>
                  <a:pt x="48856" y="35877"/>
                </a:lnTo>
                <a:lnTo>
                  <a:pt x="44843" y="35877"/>
                </a:lnTo>
                <a:lnTo>
                  <a:pt x="43002" y="34023"/>
                </a:lnTo>
                <a:lnTo>
                  <a:pt x="45008" y="32016"/>
                </a:lnTo>
                <a:lnTo>
                  <a:pt x="40982" y="32016"/>
                </a:lnTo>
                <a:lnTo>
                  <a:pt x="39141" y="30175"/>
                </a:lnTo>
                <a:lnTo>
                  <a:pt x="62826" y="6489"/>
                </a:lnTo>
                <a:lnTo>
                  <a:pt x="76809" y="6489"/>
                </a:lnTo>
                <a:lnTo>
                  <a:pt x="70307" y="0"/>
                </a:lnTo>
                <a:close/>
              </a:path>
              <a:path w="79375" h="73025">
                <a:moveTo>
                  <a:pt x="78879" y="14198"/>
                </a:moveTo>
                <a:lnTo>
                  <a:pt x="71361" y="14198"/>
                </a:lnTo>
                <a:lnTo>
                  <a:pt x="72377" y="15214"/>
                </a:lnTo>
                <a:lnTo>
                  <a:pt x="72339" y="16078"/>
                </a:lnTo>
                <a:lnTo>
                  <a:pt x="48691" y="39725"/>
                </a:lnTo>
                <a:lnTo>
                  <a:pt x="54648" y="39725"/>
                </a:lnTo>
                <a:lnTo>
                  <a:pt x="78879" y="15494"/>
                </a:lnTo>
                <a:lnTo>
                  <a:pt x="78879" y="14198"/>
                </a:lnTo>
                <a:close/>
              </a:path>
              <a:path w="79375" h="73025">
                <a:moveTo>
                  <a:pt x="78739" y="8420"/>
                </a:moveTo>
                <a:lnTo>
                  <a:pt x="69430" y="8420"/>
                </a:lnTo>
                <a:lnTo>
                  <a:pt x="70446" y="9423"/>
                </a:lnTo>
                <a:lnTo>
                  <a:pt x="70446" y="10261"/>
                </a:lnTo>
                <a:lnTo>
                  <a:pt x="44843" y="35877"/>
                </a:lnTo>
                <a:lnTo>
                  <a:pt x="48856" y="35877"/>
                </a:lnTo>
                <a:lnTo>
                  <a:pt x="70535" y="14198"/>
                </a:lnTo>
                <a:lnTo>
                  <a:pt x="78879" y="14198"/>
                </a:lnTo>
                <a:lnTo>
                  <a:pt x="78879" y="8559"/>
                </a:lnTo>
                <a:lnTo>
                  <a:pt x="78739" y="8420"/>
                </a:lnTo>
                <a:close/>
              </a:path>
              <a:path w="79375" h="73025">
                <a:moveTo>
                  <a:pt x="1054" y="11963"/>
                </a:moveTo>
                <a:lnTo>
                  <a:pt x="380" y="13817"/>
                </a:lnTo>
                <a:lnTo>
                  <a:pt x="114" y="15214"/>
                </a:lnTo>
                <a:lnTo>
                  <a:pt x="0" y="27457"/>
                </a:lnTo>
                <a:lnTo>
                  <a:pt x="7746" y="35204"/>
                </a:lnTo>
                <a:lnTo>
                  <a:pt x="26873" y="35204"/>
                </a:lnTo>
                <a:lnTo>
                  <a:pt x="34620" y="27457"/>
                </a:lnTo>
                <a:lnTo>
                  <a:pt x="34620" y="22440"/>
                </a:lnTo>
                <a:lnTo>
                  <a:pt x="11341" y="22440"/>
                </a:lnTo>
                <a:lnTo>
                  <a:pt x="1587" y="12687"/>
                </a:lnTo>
                <a:lnTo>
                  <a:pt x="1054" y="11963"/>
                </a:lnTo>
                <a:close/>
              </a:path>
              <a:path w="79375" h="73025">
                <a:moveTo>
                  <a:pt x="76809" y="6489"/>
                </a:moveTo>
                <a:lnTo>
                  <a:pt x="63652" y="6489"/>
                </a:lnTo>
                <a:lnTo>
                  <a:pt x="64668" y="7505"/>
                </a:lnTo>
                <a:lnTo>
                  <a:pt x="64579" y="8420"/>
                </a:lnTo>
                <a:lnTo>
                  <a:pt x="40982" y="32016"/>
                </a:lnTo>
                <a:lnTo>
                  <a:pt x="45008" y="32016"/>
                </a:lnTo>
                <a:lnTo>
                  <a:pt x="68605" y="8420"/>
                </a:lnTo>
                <a:lnTo>
                  <a:pt x="78739" y="8420"/>
                </a:lnTo>
                <a:lnTo>
                  <a:pt x="76809" y="6489"/>
                </a:lnTo>
                <a:close/>
              </a:path>
              <a:path w="79375" h="73025">
                <a:moveTo>
                  <a:pt x="26873" y="584"/>
                </a:moveTo>
                <a:lnTo>
                  <a:pt x="15824" y="584"/>
                </a:lnTo>
                <a:lnTo>
                  <a:pt x="14389" y="787"/>
                </a:lnTo>
                <a:lnTo>
                  <a:pt x="13017" y="1143"/>
                </a:lnTo>
                <a:lnTo>
                  <a:pt x="13157" y="1270"/>
                </a:lnTo>
                <a:lnTo>
                  <a:pt x="13309" y="1358"/>
                </a:lnTo>
                <a:lnTo>
                  <a:pt x="22859" y="10909"/>
                </a:lnTo>
                <a:lnTo>
                  <a:pt x="22859" y="16078"/>
                </a:lnTo>
                <a:lnTo>
                  <a:pt x="16497" y="22440"/>
                </a:lnTo>
                <a:lnTo>
                  <a:pt x="34620" y="22440"/>
                </a:lnTo>
                <a:lnTo>
                  <a:pt x="34620" y="8331"/>
                </a:lnTo>
                <a:lnTo>
                  <a:pt x="26873" y="58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128844" y="3132529"/>
            <a:ext cx="2080121" cy="26208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34053" y="3317709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34112" y="0"/>
                </a:moveTo>
                <a:lnTo>
                  <a:pt x="20831" y="2681"/>
                </a:lnTo>
                <a:lnTo>
                  <a:pt x="9988" y="9994"/>
                </a:lnTo>
                <a:lnTo>
                  <a:pt x="2679" y="20841"/>
                </a:lnTo>
                <a:lnTo>
                  <a:pt x="0" y="34124"/>
                </a:lnTo>
                <a:lnTo>
                  <a:pt x="2679" y="47407"/>
                </a:lnTo>
                <a:lnTo>
                  <a:pt x="9988" y="58254"/>
                </a:lnTo>
                <a:lnTo>
                  <a:pt x="20831" y="65568"/>
                </a:lnTo>
                <a:lnTo>
                  <a:pt x="34112" y="68249"/>
                </a:lnTo>
                <a:lnTo>
                  <a:pt x="47393" y="65568"/>
                </a:lnTo>
                <a:lnTo>
                  <a:pt x="52379" y="62204"/>
                </a:lnTo>
                <a:lnTo>
                  <a:pt x="33108" y="62204"/>
                </a:lnTo>
                <a:lnTo>
                  <a:pt x="32575" y="61671"/>
                </a:lnTo>
                <a:lnTo>
                  <a:pt x="32575" y="60363"/>
                </a:lnTo>
                <a:lnTo>
                  <a:pt x="33108" y="59829"/>
                </a:lnTo>
                <a:lnTo>
                  <a:pt x="55901" y="59829"/>
                </a:lnTo>
                <a:lnTo>
                  <a:pt x="58235" y="58254"/>
                </a:lnTo>
                <a:lnTo>
                  <a:pt x="60734" y="54546"/>
                </a:lnTo>
                <a:lnTo>
                  <a:pt x="51371" y="54546"/>
                </a:lnTo>
                <a:lnTo>
                  <a:pt x="35217" y="38392"/>
                </a:lnTo>
                <a:lnTo>
                  <a:pt x="31762" y="38392"/>
                </a:lnTo>
                <a:lnTo>
                  <a:pt x="29844" y="36487"/>
                </a:lnTo>
                <a:lnTo>
                  <a:pt x="29844" y="34836"/>
                </a:lnTo>
                <a:lnTo>
                  <a:pt x="5740" y="34836"/>
                </a:lnTo>
                <a:lnTo>
                  <a:pt x="5206" y="34302"/>
                </a:lnTo>
                <a:lnTo>
                  <a:pt x="5206" y="32994"/>
                </a:lnTo>
                <a:lnTo>
                  <a:pt x="5740" y="32461"/>
                </a:lnTo>
                <a:lnTo>
                  <a:pt x="29961" y="32461"/>
                </a:lnTo>
                <a:lnTo>
                  <a:pt x="30581" y="31381"/>
                </a:lnTo>
                <a:lnTo>
                  <a:pt x="31699" y="30607"/>
                </a:lnTo>
                <a:lnTo>
                  <a:pt x="31699" y="5486"/>
                </a:lnTo>
                <a:lnTo>
                  <a:pt x="32600" y="4584"/>
                </a:lnTo>
                <a:lnTo>
                  <a:pt x="50214" y="4584"/>
                </a:lnTo>
                <a:lnTo>
                  <a:pt x="47393" y="2681"/>
                </a:lnTo>
                <a:lnTo>
                  <a:pt x="34112" y="0"/>
                </a:lnTo>
                <a:close/>
              </a:path>
              <a:path w="68579" h="68579">
                <a:moveTo>
                  <a:pt x="55901" y="59829"/>
                </a:moveTo>
                <a:lnTo>
                  <a:pt x="34416" y="59829"/>
                </a:lnTo>
                <a:lnTo>
                  <a:pt x="34937" y="60363"/>
                </a:lnTo>
                <a:lnTo>
                  <a:pt x="34937" y="61671"/>
                </a:lnTo>
                <a:lnTo>
                  <a:pt x="34416" y="62204"/>
                </a:lnTo>
                <a:lnTo>
                  <a:pt x="52379" y="62204"/>
                </a:lnTo>
                <a:lnTo>
                  <a:pt x="55901" y="59829"/>
                </a:lnTo>
                <a:close/>
              </a:path>
              <a:path w="68579" h="68579">
                <a:moveTo>
                  <a:pt x="50214" y="4584"/>
                </a:moveTo>
                <a:lnTo>
                  <a:pt x="34823" y="4584"/>
                </a:lnTo>
                <a:lnTo>
                  <a:pt x="35737" y="5486"/>
                </a:lnTo>
                <a:lnTo>
                  <a:pt x="35737" y="30175"/>
                </a:lnTo>
                <a:lnTo>
                  <a:pt x="37287" y="30822"/>
                </a:lnTo>
                <a:lnTo>
                  <a:pt x="38379" y="32346"/>
                </a:lnTo>
                <a:lnTo>
                  <a:pt x="38363" y="34836"/>
                </a:lnTo>
                <a:lnTo>
                  <a:pt x="38226" y="35382"/>
                </a:lnTo>
                <a:lnTo>
                  <a:pt x="37972" y="35928"/>
                </a:lnTo>
                <a:lnTo>
                  <a:pt x="53987" y="51943"/>
                </a:lnTo>
                <a:lnTo>
                  <a:pt x="53987" y="53111"/>
                </a:lnTo>
                <a:lnTo>
                  <a:pt x="52539" y="54546"/>
                </a:lnTo>
                <a:lnTo>
                  <a:pt x="60734" y="54546"/>
                </a:lnTo>
                <a:lnTo>
                  <a:pt x="65544" y="47407"/>
                </a:lnTo>
                <a:lnTo>
                  <a:pt x="68080" y="34836"/>
                </a:lnTo>
                <a:lnTo>
                  <a:pt x="60464" y="34836"/>
                </a:lnTo>
                <a:lnTo>
                  <a:pt x="59943" y="34302"/>
                </a:lnTo>
                <a:lnTo>
                  <a:pt x="59943" y="32994"/>
                </a:lnTo>
                <a:lnTo>
                  <a:pt x="60464" y="32461"/>
                </a:lnTo>
                <a:lnTo>
                  <a:pt x="67888" y="32461"/>
                </a:lnTo>
                <a:lnTo>
                  <a:pt x="65544" y="20841"/>
                </a:lnTo>
                <a:lnTo>
                  <a:pt x="58235" y="9994"/>
                </a:lnTo>
                <a:lnTo>
                  <a:pt x="50214" y="4584"/>
                </a:lnTo>
                <a:close/>
              </a:path>
              <a:path w="68579" h="68579">
                <a:moveTo>
                  <a:pt x="35090" y="38265"/>
                </a:moveTo>
                <a:lnTo>
                  <a:pt x="34455" y="38392"/>
                </a:lnTo>
                <a:lnTo>
                  <a:pt x="35217" y="38392"/>
                </a:lnTo>
                <a:lnTo>
                  <a:pt x="35090" y="38265"/>
                </a:lnTo>
                <a:close/>
              </a:path>
              <a:path w="68579" h="68579">
                <a:moveTo>
                  <a:pt x="29961" y="32461"/>
                </a:moveTo>
                <a:lnTo>
                  <a:pt x="7048" y="32461"/>
                </a:lnTo>
                <a:lnTo>
                  <a:pt x="7569" y="32994"/>
                </a:lnTo>
                <a:lnTo>
                  <a:pt x="7569" y="34302"/>
                </a:lnTo>
                <a:lnTo>
                  <a:pt x="7048" y="34836"/>
                </a:lnTo>
                <a:lnTo>
                  <a:pt x="29844" y="34836"/>
                </a:lnTo>
                <a:lnTo>
                  <a:pt x="29961" y="32461"/>
                </a:lnTo>
                <a:close/>
              </a:path>
              <a:path w="68579" h="68579">
                <a:moveTo>
                  <a:pt x="67888" y="32461"/>
                </a:moveTo>
                <a:lnTo>
                  <a:pt x="61772" y="32461"/>
                </a:lnTo>
                <a:lnTo>
                  <a:pt x="62306" y="32994"/>
                </a:lnTo>
                <a:lnTo>
                  <a:pt x="62306" y="34302"/>
                </a:lnTo>
                <a:lnTo>
                  <a:pt x="61772" y="34836"/>
                </a:lnTo>
                <a:lnTo>
                  <a:pt x="68080" y="34836"/>
                </a:lnTo>
                <a:lnTo>
                  <a:pt x="68224" y="34124"/>
                </a:lnTo>
                <a:lnTo>
                  <a:pt x="67888" y="32461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78818" y="3742086"/>
            <a:ext cx="55880" cy="62865"/>
          </a:xfrm>
          <a:custGeom>
            <a:avLst/>
            <a:gdLst/>
            <a:ahLst/>
            <a:cxnLst/>
            <a:rect l="l" t="t" r="r" b="b"/>
            <a:pathLst>
              <a:path w="55879" h="62864">
                <a:moveTo>
                  <a:pt x="51437" y="52685"/>
                </a:moveTo>
                <a:lnTo>
                  <a:pt x="45404" y="57384"/>
                </a:lnTo>
                <a:lnTo>
                  <a:pt x="49240" y="62325"/>
                </a:lnTo>
                <a:lnTo>
                  <a:pt x="51056" y="62541"/>
                </a:lnTo>
                <a:lnTo>
                  <a:pt x="55056" y="59429"/>
                </a:lnTo>
                <a:lnTo>
                  <a:pt x="55272" y="57626"/>
                </a:lnTo>
                <a:lnTo>
                  <a:pt x="51437" y="52685"/>
                </a:lnTo>
                <a:close/>
              </a:path>
              <a:path w="55879" h="62864">
                <a:moveTo>
                  <a:pt x="42725" y="43732"/>
                </a:moveTo>
                <a:lnTo>
                  <a:pt x="38711" y="46856"/>
                </a:lnTo>
                <a:lnTo>
                  <a:pt x="38495" y="48660"/>
                </a:lnTo>
                <a:lnTo>
                  <a:pt x="43766" y="55365"/>
                </a:lnTo>
                <a:lnTo>
                  <a:pt x="49786" y="50666"/>
                </a:lnTo>
                <a:lnTo>
                  <a:pt x="44515" y="43961"/>
                </a:lnTo>
                <a:lnTo>
                  <a:pt x="42725" y="43732"/>
                </a:lnTo>
                <a:close/>
              </a:path>
              <a:path w="55879" h="62864">
                <a:moveTo>
                  <a:pt x="27720" y="0"/>
                </a:moveTo>
                <a:lnTo>
                  <a:pt x="0" y="22218"/>
                </a:lnTo>
                <a:lnTo>
                  <a:pt x="619" y="31177"/>
                </a:lnTo>
                <a:lnTo>
                  <a:pt x="5031" y="40024"/>
                </a:lnTo>
                <a:lnTo>
                  <a:pt x="12535" y="46463"/>
                </a:lnTo>
                <a:lnTo>
                  <a:pt x="21609" y="49422"/>
                </a:lnTo>
                <a:lnTo>
                  <a:pt x="31129" y="48760"/>
                </a:lnTo>
                <a:lnTo>
                  <a:pt x="39969" y="44342"/>
                </a:lnTo>
                <a:lnTo>
                  <a:pt x="40286" y="43972"/>
                </a:lnTo>
                <a:lnTo>
                  <a:pt x="22248" y="43961"/>
                </a:lnTo>
                <a:lnTo>
                  <a:pt x="15209" y="41666"/>
                </a:lnTo>
                <a:lnTo>
                  <a:pt x="9362" y="36645"/>
                </a:lnTo>
                <a:lnTo>
                  <a:pt x="5917" y="29753"/>
                </a:lnTo>
                <a:lnTo>
                  <a:pt x="5508" y="23869"/>
                </a:lnTo>
                <a:lnTo>
                  <a:pt x="5437" y="22218"/>
                </a:lnTo>
                <a:lnTo>
                  <a:pt x="7706" y="15253"/>
                </a:lnTo>
                <a:lnTo>
                  <a:pt x="12727" y="9404"/>
                </a:lnTo>
                <a:lnTo>
                  <a:pt x="19625" y="5961"/>
                </a:lnTo>
                <a:lnTo>
                  <a:pt x="27048" y="5448"/>
                </a:lnTo>
                <a:lnTo>
                  <a:pt x="39700" y="5448"/>
                </a:lnTo>
                <a:lnTo>
                  <a:pt x="36795" y="2957"/>
                </a:lnTo>
                <a:lnTo>
                  <a:pt x="27720" y="0"/>
                </a:lnTo>
                <a:close/>
              </a:path>
              <a:path w="55879" h="62864">
                <a:moveTo>
                  <a:pt x="39700" y="5448"/>
                </a:moveTo>
                <a:lnTo>
                  <a:pt x="27048" y="5448"/>
                </a:lnTo>
                <a:lnTo>
                  <a:pt x="34121" y="7754"/>
                </a:lnTo>
                <a:lnTo>
                  <a:pt x="39924" y="12731"/>
                </a:lnTo>
                <a:lnTo>
                  <a:pt x="40032" y="12896"/>
                </a:lnTo>
                <a:lnTo>
                  <a:pt x="43411" y="19667"/>
                </a:lnTo>
                <a:lnTo>
                  <a:pt x="43925" y="27090"/>
                </a:lnTo>
                <a:lnTo>
                  <a:pt x="41619" y="34163"/>
                </a:lnTo>
                <a:lnTo>
                  <a:pt x="36578" y="40024"/>
                </a:lnTo>
                <a:lnTo>
                  <a:pt x="29705" y="43455"/>
                </a:lnTo>
                <a:lnTo>
                  <a:pt x="22282" y="43972"/>
                </a:lnTo>
                <a:lnTo>
                  <a:pt x="40296" y="43961"/>
                </a:lnTo>
                <a:lnTo>
                  <a:pt x="46410" y="36837"/>
                </a:lnTo>
                <a:lnTo>
                  <a:pt x="49373" y="27762"/>
                </a:lnTo>
                <a:lnTo>
                  <a:pt x="48716" y="18238"/>
                </a:lnTo>
                <a:lnTo>
                  <a:pt x="44382" y="9556"/>
                </a:lnTo>
                <a:lnTo>
                  <a:pt x="44255" y="9353"/>
                </a:lnTo>
                <a:lnTo>
                  <a:pt x="39700" y="5448"/>
                </a:lnTo>
                <a:close/>
              </a:path>
              <a:path w="55879" h="62864">
                <a:moveTo>
                  <a:pt x="38572" y="20199"/>
                </a:moveTo>
                <a:lnTo>
                  <a:pt x="36641" y="20402"/>
                </a:lnTo>
                <a:lnTo>
                  <a:pt x="35955" y="21266"/>
                </a:lnTo>
                <a:lnTo>
                  <a:pt x="36159" y="23183"/>
                </a:lnTo>
                <a:lnTo>
                  <a:pt x="37010" y="23869"/>
                </a:lnTo>
                <a:lnTo>
                  <a:pt x="38927" y="23679"/>
                </a:lnTo>
                <a:lnTo>
                  <a:pt x="39626" y="22815"/>
                </a:lnTo>
                <a:lnTo>
                  <a:pt x="39423" y="20897"/>
                </a:lnTo>
                <a:lnTo>
                  <a:pt x="38572" y="20199"/>
                </a:lnTo>
                <a:close/>
              </a:path>
              <a:path w="55879" h="62864">
                <a:moveTo>
                  <a:pt x="36160" y="12299"/>
                </a:moveTo>
                <a:lnTo>
                  <a:pt x="29110" y="12299"/>
                </a:lnTo>
                <a:lnTo>
                  <a:pt x="32488" y="13658"/>
                </a:lnTo>
                <a:lnTo>
                  <a:pt x="34165" y="14916"/>
                </a:lnTo>
                <a:lnTo>
                  <a:pt x="35638" y="18446"/>
                </a:lnTo>
                <a:lnTo>
                  <a:pt x="36336" y="18827"/>
                </a:lnTo>
                <a:lnTo>
                  <a:pt x="37492" y="18649"/>
                </a:lnTo>
                <a:lnTo>
                  <a:pt x="38330" y="18307"/>
                </a:lnTo>
                <a:lnTo>
                  <a:pt x="38724" y="17341"/>
                </a:lnTo>
                <a:lnTo>
                  <a:pt x="36895" y="12896"/>
                </a:lnTo>
                <a:lnTo>
                  <a:pt x="36160" y="12299"/>
                </a:lnTo>
                <a:close/>
              </a:path>
              <a:path w="55879" h="62864">
                <a:moveTo>
                  <a:pt x="29605" y="8985"/>
                </a:moveTo>
                <a:lnTo>
                  <a:pt x="23522" y="10445"/>
                </a:lnTo>
                <a:lnTo>
                  <a:pt x="23954" y="12198"/>
                </a:lnTo>
                <a:lnTo>
                  <a:pt x="24830" y="12731"/>
                </a:lnTo>
                <a:lnTo>
                  <a:pt x="25707" y="12515"/>
                </a:lnTo>
                <a:lnTo>
                  <a:pt x="26049" y="12452"/>
                </a:lnTo>
                <a:lnTo>
                  <a:pt x="29110" y="12299"/>
                </a:lnTo>
                <a:lnTo>
                  <a:pt x="36160" y="12299"/>
                </a:lnTo>
                <a:lnTo>
                  <a:pt x="34393" y="10864"/>
                </a:lnTo>
                <a:lnTo>
                  <a:pt x="29605" y="898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105031" y="3405511"/>
            <a:ext cx="55880" cy="62865"/>
          </a:xfrm>
          <a:custGeom>
            <a:avLst/>
            <a:gdLst/>
            <a:ahLst/>
            <a:cxnLst/>
            <a:rect l="l" t="t" r="r" b="b"/>
            <a:pathLst>
              <a:path w="55879" h="62864">
                <a:moveTo>
                  <a:pt x="51437" y="52685"/>
                </a:moveTo>
                <a:lnTo>
                  <a:pt x="45404" y="57384"/>
                </a:lnTo>
                <a:lnTo>
                  <a:pt x="49240" y="62325"/>
                </a:lnTo>
                <a:lnTo>
                  <a:pt x="51056" y="62541"/>
                </a:lnTo>
                <a:lnTo>
                  <a:pt x="55056" y="59429"/>
                </a:lnTo>
                <a:lnTo>
                  <a:pt x="55272" y="57626"/>
                </a:lnTo>
                <a:lnTo>
                  <a:pt x="51437" y="52685"/>
                </a:lnTo>
                <a:close/>
              </a:path>
              <a:path w="55879" h="62864">
                <a:moveTo>
                  <a:pt x="42725" y="43732"/>
                </a:moveTo>
                <a:lnTo>
                  <a:pt x="38724" y="46856"/>
                </a:lnTo>
                <a:lnTo>
                  <a:pt x="38495" y="48660"/>
                </a:lnTo>
                <a:lnTo>
                  <a:pt x="43766" y="55365"/>
                </a:lnTo>
                <a:lnTo>
                  <a:pt x="49786" y="50666"/>
                </a:lnTo>
                <a:lnTo>
                  <a:pt x="44515" y="43961"/>
                </a:lnTo>
                <a:lnTo>
                  <a:pt x="42725" y="43732"/>
                </a:lnTo>
                <a:close/>
              </a:path>
              <a:path w="55879" h="62864">
                <a:moveTo>
                  <a:pt x="27720" y="0"/>
                </a:moveTo>
                <a:lnTo>
                  <a:pt x="0" y="22218"/>
                </a:lnTo>
                <a:lnTo>
                  <a:pt x="619" y="31177"/>
                </a:lnTo>
                <a:lnTo>
                  <a:pt x="5031" y="40024"/>
                </a:lnTo>
                <a:lnTo>
                  <a:pt x="12535" y="46463"/>
                </a:lnTo>
                <a:lnTo>
                  <a:pt x="21609" y="49422"/>
                </a:lnTo>
                <a:lnTo>
                  <a:pt x="31129" y="48760"/>
                </a:lnTo>
                <a:lnTo>
                  <a:pt x="39969" y="44342"/>
                </a:lnTo>
                <a:lnTo>
                  <a:pt x="40286" y="43972"/>
                </a:lnTo>
                <a:lnTo>
                  <a:pt x="22248" y="43961"/>
                </a:lnTo>
                <a:lnTo>
                  <a:pt x="15209" y="41666"/>
                </a:lnTo>
                <a:lnTo>
                  <a:pt x="9362" y="36645"/>
                </a:lnTo>
                <a:lnTo>
                  <a:pt x="5917" y="29753"/>
                </a:lnTo>
                <a:lnTo>
                  <a:pt x="5508" y="23869"/>
                </a:lnTo>
                <a:lnTo>
                  <a:pt x="5437" y="22218"/>
                </a:lnTo>
                <a:lnTo>
                  <a:pt x="7706" y="15253"/>
                </a:lnTo>
                <a:lnTo>
                  <a:pt x="12727" y="9404"/>
                </a:lnTo>
                <a:lnTo>
                  <a:pt x="19625" y="5961"/>
                </a:lnTo>
                <a:lnTo>
                  <a:pt x="27048" y="5448"/>
                </a:lnTo>
                <a:lnTo>
                  <a:pt x="39700" y="5448"/>
                </a:lnTo>
                <a:lnTo>
                  <a:pt x="36795" y="2957"/>
                </a:lnTo>
                <a:lnTo>
                  <a:pt x="27720" y="0"/>
                </a:lnTo>
                <a:close/>
              </a:path>
              <a:path w="55879" h="62864">
                <a:moveTo>
                  <a:pt x="39700" y="5448"/>
                </a:moveTo>
                <a:lnTo>
                  <a:pt x="27048" y="5448"/>
                </a:lnTo>
                <a:lnTo>
                  <a:pt x="34121" y="7754"/>
                </a:lnTo>
                <a:lnTo>
                  <a:pt x="39924" y="12731"/>
                </a:lnTo>
                <a:lnTo>
                  <a:pt x="40032" y="12896"/>
                </a:lnTo>
                <a:lnTo>
                  <a:pt x="43411" y="19667"/>
                </a:lnTo>
                <a:lnTo>
                  <a:pt x="43925" y="27090"/>
                </a:lnTo>
                <a:lnTo>
                  <a:pt x="41619" y="34163"/>
                </a:lnTo>
                <a:lnTo>
                  <a:pt x="36578" y="40024"/>
                </a:lnTo>
                <a:lnTo>
                  <a:pt x="29705" y="43455"/>
                </a:lnTo>
                <a:lnTo>
                  <a:pt x="22282" y="43972"/>
                </a:lnTo>
                <a:lnTo>
                  <a:pt x="40296" y="43961"/>
                </a:lnTo>
                <a:lnTo>
                  <a:pt x="46410" y="36837"/>
                </a:lnTo>
                <a:lnTo>
                  <a:pt x="49373" y="27762"/>
                </a:lnTo>
                <a:lnTo>
                  <a:pt x="48716" y="18238"/>
                </a:lnTo>
                <a:lnTo>
                  <a:pt x="44382" y="9556"/>
                </a:lnTo>
                <a:lnTo>
                  <a:pt x="44255" y="9353"/>
                </a:lnTo>
                <a:lnTo>
                  <a:pt x="39700" y="5448"/>
                </a:lnTo>
                <a:close/>
              </a:path>
              <a:path w="55879" h="62864">
                <a:moveTo>
                  <a:pt x="38572" y="20199"/>
                </a:moveTo>
                <a:lnTo>
                  <a:pt x="36641" y="20402"/>
                </a:lnTo>
                <a:lnTo>
                  <a:pt x="35955" y="21266"/>
                </a:lnTo>
                <a:lnTo>
                  <a:pt x="36159" y="23183"/>
                </a:lnTo>
                <a:lnTo>
                  <a:pt x="37010" y="23869"/>
                </a:lnTo>
                <a:lnTo>
                  <a:pt x="38927" y="23679"/>
                </a:lnTo>
                <a:lnTo>
                  <a:pt x="39626" y="22815"/>
                </a:lnTo>
                <a:lnTo>
                  <a:pt x="39423" y="20897"/>
                </a:lnTo>
                <a:lnTo>
                  <a:pt x="38572" y="20199"/>
                </a:lnTo>
                <a:close/>
              </a:path>
              <a:path w="55879" h="62864">
                <a:moveTo>
                  <a:pt x="36160" y="12299"/>
                </a:moveTo>
                <a:lnTo>
                  <a:pt x="29110" y="12299"/>
                </a:lnTo>
                <a:lnTo>
                  <a:pt x="32488" y="13658"/>
                </a:lnTo>
                <a:lnTo>
                  <a:pt x="34165" y="14916"/>
                </a:lnTo>
                <a:lnTo>
                  <a:pt x="35638" y="18446"/>
                </a:lnTo>
                <a:lnTo>
                  <a:pt x="36336" y="18827"/>
                </a:lnTo>
                <a:lnTo>
                  <a:pt x="37492" y="18649"/>
                </a:lnTo>
                <a:lnTo>
                  <a:pt x="38330" y="18307"/>
                </a:lnTo>
                <a:lnTo>
                  <a:pt x="38724" y="17341"/>
                </a:lnTo>
                <a:lnTo>
                  <a:pt x="36895" y="12896"/>
                </a:lnTo>
                <a:lnTo>
                  <a:pt x="36160" y="12299"/>
                </a:lnTo>
                <a:close/>
              </a:path>
              <a:path w="55879" h="62864">
                <a:moveTo>
                  <a:pt x="29605" y="8985"/>
                </a:moveTo>
                <a:lnTo>
                  <a:pt x="23522" y="10445"/>
                </a:lnTo>
                <a:lnTo>
                  <a:pt x="23954" y="12198"/>
                </a:lnTo>
                <a:lnTo>
                  <a:pt x="24830" y="12731"/>
                </a:lnTo>
                <a:lnTo>
                  <a:pt x="25707" y="12515"/>
                </a:lnTo>
                <a:lnTo>
                  <a:pt x="26049" y="12452"/>
                </a:lnTo>
                <a:lnTo>
                  <a:pt x="29110" y="12299"/>
                </a:lnTo>
                <a:lnTo>
                  <a:pt x="36160" y="12299"/>
                </a:lnTo>
                <a:lnTo>
                  <a:pt x="34393" y="10864"/>
                </a:lnTo>
                <a:lnTo>
                  <a:pt x="29605" y="898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854881" y="3853243"/>
            <a:ext cx="97790" cy="97790"/>
          </a:xfrm>
          <a:custGeom>
            <a:avLst/>
            <a:gdLst/>
            <a:ahLst/>
            <a:cxnLst/>
            <a:rect l="l" t="t" r="r" b="b"/>
            <a:pathLst>
              <a:path w="97789" h="97789">
                <a:moveTo>
                  <a:pt x="48869" y="0"/>
                </a:moveTo>
                <a:lnTo>
                  <a:pt x="29848" y="3840"/>
                </a:lnTo>
                <a:lnTo>
                  <a:pt x="14314" y="14316"/>
                </a:lnTo>
                <a:lnTo>
                  <a:pt x="3840" y="29853"/>
                </a:lnTo>
                <a:lnTo>
                  <a:pt x="0" y="48882"/>
                </a:lnTo>
                <a:lnTo>
                  <a:pt x="3840" y="67903"/>
                </a:lnTo>
                <a:lnTo>
                  <a:pt x="14314" y="83437"/>
                </a:lnTo>
                <a:lnTo>
                  <a:pt x="29848" y="93911"/>
                </a:lnTo>
                <a:lnTo>
                  <a:pt x="48869" y="97751"/>
                </a:lnTo>
                <a:lnTo>
                  <a:pt x="67898" y="93911"/>
                </a:lnTo>
                <a:lnTo>
                  <a:pt x="78139" y="87007"/>
                </a:lnTo>
                <a:lnTo>
                  <a:pt x="48869" y="87007"/>
                </a:lnTo>
                <a:lnTo>
                  <a:pt x="34029" y="84011"/>
                </a:lnTo>
                <a:lnTo>
                  <a:pt x="21910" y="75841"/>
                </a:lnTo>
                <a:lnTo>
                  <a:pt x="13740" y="63722"/>
                </a:lnTo>
                <a:lnTo>
                  <a:pt x="10744" y="48882"/>
                </a:lnTo>
                <a:lnTo>
                  <a:pt x="13740" y="34041"/>
                </a:lnTo>
                <a:lnTo>
                  <a:pt x="21910" y="21923"/>
                </a:lnTo>
                <a:lnTo>
                  <a:pt x="34029" y="13752"/>
                </a:lnTo>
                <a:lnTo>
                  <a:pt x="48869" y="10756"/>
                </a:lnTo>
                <a:lnTo>
                  <a:pt x="70713" y="10756"/>
                </a:lnTo>
                <a:lnTo>
                  <a:pt x="74320" y="7150"/>
                </a:lnTo>
                <a:lnTo>
                  <a:pt x="68525" y="4120"/>
                </a:lnTo>
                <a:lnTo>
                  <a:pt x="62309" y="1874"/>
                </a:lnTo>
                <a:lnTo>
                  <a:pt x="55735" y="479"/>
                </a:lnTo>
                <a:lnTo>
                  <a:pt x="48869" y="0"/>
                </a:lnTo>
                <a:close/>
              </a:path>
              <a:path w="97789" h="97789">
                <a:moveTo>
                  <a:pt x="90779" y="23723"/>
                </a:moveTo>
                <a:lnTo>
                  <a:pt x="84861" y="29654"/>
                </a:lnTo>
                <a:lnTo>
                  <a:pt x="83566" y="30264"/>
                </a:lnTo>
                <a:lnTo>
                  <a:pt x="82270" y="30505"/>
                </a:lnTo>
                <a:lnTo>
                  <a:pt x="85280" y="35953"/>
                </a:lnTo>
                <a:lnTo>
                  <a:pt x="86963" y="42100"/>
                </a:lnTo>
                <a:lnTo>
                  <a:pt x="86995" y="48882"/>
                </a:lnTo>
                <a:lnTo>
                  <a:pt x="83997" y="63722"/>
                </a:lnTo>
                <a:lnTo>
                  <a:pt x="75823" y="75841"/>
                </a:lnTo>
                <a:lnTo>
                  <a:pt x="63704" y="84011"/>
                </a:lnTo>
                <a:lnTo>
                  <a:pt x="48869" y="87007"/>
                </a:lnTo>
                <a:lnTo>
                  <a:pt x="78139" y="87007"/>
                </a:lnTo>
                <a:lnTo>
                  <a:pt x="83435" y="83437"/>
                </a:lnTo>
                <a:lnTo>
                  <a:pt x="93910" y="67903"/>
                </a:lnTo>
                <a:lnTo>
                  <a:pt x="97751" y="48882"/>
                </a:lnTo>
                <a:lnTo>
                  <a:pt x="97283" y="42100"/>
                </a:lnTo>
                <a:lnTo>
                  <a:pt x="95923" y="35607"/>
                </a:lnTo>
                <a:lnTo>
                  <a:pt x="93733" y="29462"/>
                </a:lnTo>
                <a:lnTo>
                  <a:pt x="90779" y="23723"/>
                </a:lnTo>
                <a:close/>
              </a:path>
              <a:path w="97789" h="97789">
                <a:moveTo>
                  <a:pt x="54838" y="20307"/>
                </a:moveTo>
                <a:lnTo>
                  <a:pt x="48869" y="20307"/>
                </a:lnTo>
                <a:lnTo>
                  <a:pt x="37752" y="22554"/>
                </a:lnTo>
                <a:lnTo>
                  <a:pt x="28673" y="28679"/>
                </a:lnTo>
                <a:lnTo>
                  <a:pt x="22552" y="37763"/>
                </a:lnTo>
                <a:lnTo>
                  <a:pt x="20307" y="48882"/>
                </a:lnTo>
                <a:lnTo>
                  <a:pt x="22552" y="59999"/>
                </a:lnTo>
                <a:lnTo>
                  <a:pt x="28673" y="69078"/>
                </a:lnTo>
                <a:lnTo>
                  <a:pt x="37752" y="75199"/>
                </a:lnTo>
                <a:lnTo>
                  <a:pt x="48869" y="77444"/>
                </a:lnTo>
                <a:lnTo>
                  <a:pt x="59986" y="75199"/>
                </a:lnTo>
                <a:lnTo>
                  <a:pt x="69065" y="69078"/>
                </a:lnTo>
                <a:lnTo>
                  <a:pt x="71705" y="65163"/>
                </a:lnTo>
                <a:lnTo>
                  <a:pt x="39878" y="65163"/>
                </a:lnTo>
                <a:lnTo>
                  <a:pt x="32588" y="57873"/>
                </a:lnTo>
                <a:lnTo>
                  <a:pt x="32588" y="39890"/>
                </a:lnTo>
                <a:lnTo>
                  <a:pt x="39878" y="32600"/>
                </a:lnTo>
                <a:lnTo>
                  <a:pt x="57630" y="32600"/>
                </a:lnTo>
                <a:lnTo>
                  <a:pt x="64947" y="25273"/>
                </a:lnTo>
                <a:lnTo>
                  <a:pt x="60363" y="22148"/>
                </a:lnTo>
                <a:lnTo>
                  <a:pt x="54838" y="20307"/>
                </a:lnTo>
                <a:close/>
              </a:path>
              <a:path w="97789" h="97789">
                <a:moveTo>
                  <a:pt x="72669" y="33083"/>
                </a:moveTo>
                <a:lnTo>
                  <a:pt x="63652" y="42100"/>
                </a:lnTo>
                <a:lnTo>
                  <a:pt x="64604" y="44170"/>
                </a:lnTo>
                <a:lnTo>
                  <a:pt x="65151" y="46456"/>
                </a:lnTo>
                <a:lnTo>
                  <a:pt x="65151" y="57873"/>
                </a:lnTo>
                <a:lnTo>
                  <a:pt x="57861" y="65163"/>
                </a:lnTo>
                <a:lnTo>
                  <a:pt x="71705" y="65163"/>
                </a:lnTo>
                <a:lnTo>
                  <a:pt x="75187" y="59999"/>
                </a:lnTo>
                <a:lnTo>
                  <a:pt x="77431" y="48882"/>
                </a:lnTo>
                <a:lnTo>
                  <a:pt x="77431" y="43040"/>
                </a:lnTo>
                <a:lnTo>
                  <a:pt x="75679" y="37617"/>
                </a:lnTo>
                <a:lnTo>
                  <a:pt x="72669" y="33083"/>
                </a:lnTo>
                <a:close/>
              </a:path>
              <a:path w="97789" h="97789">
                <a:moveTo>
                  <a:pt x="49326" y="40170"/>
                </a:moveTo>
                <a:lnTo>
                  <a:pt x="45567" y="40690"/>
                </a:lnTo>
                <a:lnTo>
                  <a:pt x="39814" y="46456"/>
                </a:lnTo>
                <a:lnTo>
                  <a:pt x="39801" y="51714"/>
                </a:lnTo>
                <a:lnTo>
                  <a:pt x="46278" y="58191"/>
                </a:lnTo>
                <a:lnTo>
                  <a:pt x="51523" y="58191"/>
                </a:lnTo>
                <a:lnTo>
                  <a:pt x="57302" y="52412"/>
                </a:lnTo>
                <a:lnTo>
                  <a:pt x="57823" y="48666"/>
                </a:lnTo>
                <a:lnTo>
                  <a:pt x="56388" y="45593"/>
                </a:lnTo>
                <a:lnTo>
                  <a:pt x="60388" y="41592"/>
                </a:lnTo>
                <a:lnTo>
                  <a:pt x="52400" y="41592"/>
                </a:lnTo>
                <a:lnTo>
                  <a:pt x="49326" y="40170"/>
                </a:lnTo>
                <a:close/>
              </a:path>
              <a:path w="97789" h="97789">
                <a:moveTo>
                  <a:pt x="82308" y="2921"/>
                </a:moveTo>
                <a:lnTo>
                  <a:pt x="70421" y="14820"/>
                </a:lnTo>
                <a:lnTo>
                  <a:pt x="69964" y="16116"/>
                </a:lnTo>
                <a:lnTo>
                  <a:pt x="70688" y="23304"/>
                </a:lnTo>
                <a:lnTo>
                  <a:pt x="52400" y="41592"/>
                </a:lnTo>
                <a:lnTo>
                  <a:pt x="60388" y="41592"/>
                </a:lnTo>
                <a:lnTo>
                  <a:pt x="74676" y="27305"/>
                </a:lnTo>
                <a:lnTo>
                  <a:pt x="83439" y="27305"/>
                </a:lnTo>
                <a:lnTo>
                  <a:pt x="95059" y="15684"/>
                </a:lnTo>
                <a:lnTo>
                  <a:pt x="94843" y="15062"/>
                </a:lnTo>
                <a:lnTo>
                  <a:pt x="84023" y="13970"/>
                </a:lnTo>
                <a:lnTo>
                  <a:pt x="82931" y="3136"/>
                </a:lnTo>
                <a:lnTo>
                  <a:pt x="82308" y="2921"/>
                </a:lnTo>
                <a:close/>
              </a:path>
              <a:path w="97789" h="97789">
                <a:moveTo>
                  <a:pt x="57630" y="32600"/>
                </a:moveTo>
                <a:lnTo>
                  <a:pt x="51422" y="32600"/>
                </a:lnTo>
                <a:lnTo>
                  <a:pt x="53822" y="33210"/>
                </a:lnTo>
                <a:lnTo>
                  <a:pt x="55981" y="34251"/>
                </a:lnTo>
                <a:lnTo>
                  <a:pt x="57630" y="32600"/>
                </a:lnTo>
                <a:close/>
              </a:path>
              <a:path w="97789" h="97789">
                <a:moveTo>
                  <a:pt x="83439" y="27305"/>
                </a:moveTo>
                <a:lnTo>
                  <a:pt x="74676" y="27305"/>
                </a:lnTo>
                <a:lnTo>
                  <a:pt x="81876" y="28028"/>
                </a:lnTo>
                <a:lnTo>
                  <a:pt x="83172" y="27571"/>
                </a:lnTo>
                <a:lnTo>
                  <a:pt x="83439" y="27305"/>
                </a:lnTo>
                <a:close/>
              </a:path>
              <a:path w="97789" h="97789">
                <a:moveTo>
                  <a:pt x="70713" y="10756"/>
                </a:moveTo>
                <a:lnTo>
                  <a:pt x="55638" y="10756"/>
                </a:lnTo>
                <a:lnTo>
                  <a:pt x="61988" y="12534"/>
                </a:lnTo>
                <a:lnTo>
                  <a:pt x="67500" y="15621"/>
                </a:lnTo>
                <a:lnTo>
                  <a:pt x="67765" y="14316"/>
                </a:lnTo>
                <a:lnTo>
                  <a:pt x="68351" y="13119"/>
                </a:lnTo>
                <a:lnTo>
                  <a:pt x="70713" y="1075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60545" y="4067644"/>
            <a:ext cx="85090" cy="57150"/>
          </a:xfrm>
          <a:custGeom>
            <a:avLst/>
            <a:gdLst/>
            <a:ahLst/>
            <a:cxnLst/>
            <a:rect l="l" t="t" r="r" b="b"/>
            <a:pathLst>
              <a:path w="85089" h="57150">
                <a:moveTo>
                  <a:pt x="30860" y="28333"/>
                </a:moveTo>
                <a:lnTo>
                  <a:pt x="3936" y="57099"/>
                </a:lnTo>
                <a:lnTo>
                  <a:pt x="81927" y="57099"/>
                </a:lnTo>
                <a:lnTo>
                  <a:pt x="64932" y="38531"/>
                </a:lnTo>
                <a:lnTo>
                  <a:pt x="43281" y="38531"/>
                </a:lnTo>
                <a:lnTo>
                  <a:pt x="30860" y="28333"/>
                </a:lnTo>
                <a:close/>
              </a:path>
              <a:path w="85089" h="57150">
                <a:moveTo>
                  <a:pt x="0" y="2971"/>
                </a:moveTo>
                <a:lnTo>
                  <a:pt x="0" y="54444"/>
                </a:lnTo>
                <a:lnTo>
                  <a:pt x="27216" y="25336"/>
                </a:lnTo>
                <a:lnTo>
                  <a:pt x="0" y="2971"/>
                </a:lnTo>
                <a:close/>
              </a:path>
              <a:path w="85089" h="57150">
                <a:moveTo>
                  <a:pt x="84645" y="3136"/>
                </a:moveTo>
                <a:lnTo>
                  <a:pt x="58991" y="25095"/>
                </a:lnTo>
                <a:lnTo>
                  <a:pt x="84645" y="53136"/>
                </a:lnTo>
                <a:lnTo>
                  <a:pt x="84645" y="3136"/>
                </a:lnTo>
                <a:close/>
              </a:path>
              <a:path w="85089" h="57150">
                <a:moveTo>
                  <a:pt x="55422" y="28143"/>
                </a:moveTo>
                <a:lnTo>
                  <a:pt x="43281" y="38531"/>
                </a:lnTo>
                <a:lnTo>
                  <a:pt x="64932" y="38531"/>
                </a:lnTo>
                <a:lnTo>
                  <a:pt x="55422" y="28143"/>
                </a:lnTo>
                <a:close/>
              </a:path>
              <a:path w="85089" h="57150">
                <a:moveTo>
                  <a:pt x="81102" y="0"/>
                </a:moveTo>
                <a:lnTo>
                  <a:pt x="3771" y="0"/>
                </a:lnTo>
                <a:lnTo>
                  <a:pt x="43218" y="32410"/>
                </a:lnTo>
                <a:lnTo>
                  <a:pt x="81102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806200" y="3033496"/>
            <a:ext cx="97790" cy="97790"/>
          </a:xfrm>
          <a:custGeom>
            <a:avLst/>
            <a:gdLst/>
            <a:ahLst/>
            <a:cxnLst/>
            <a:rect l="l" t="t" r="r" b="b"/>
            <a:pathLst>
              <a:path w="97789" h="97789">
                <a:moveTo>
                  <a:pt x="6972" y="23723"/>
                </a:moveTo>
                <a:lnTo>
                  <a:pt x="4013" y="29469"/>
                </a:lnTo>
                <a:lnTo>
                  <a:pt x="1824" y="35617"/>
                </a:lnTo>
                <a:lnTo>
                  <a:pt x="467" y="42100"/>
                </a:lnTo>
                <a:lnTo>
                  <a:pt x="0" y="48882"/>
                </a:lnTo>
                <a:lnTo>
                  <a:pt x="3840" y="67905"/>
                </a:lnTo>
                <a:lnTo>
                  <a:pt x="14316" y="83443"/>
                </a:lnTo>
                <a:lnTo>
                  <a:pt x="29853" y="93921"/>
                </a:lnTo>
                <a:lnTo>
                  <a:pt x="48882" y="97764"/>
                </a:lnTo>
                <a:lnTo>
                  <a:pt x="67903" y="93921"/>
                </a:lnTo>
                <a:lnTo>
                  <a:pt x="78153" y="87007"/>
                </a:lnTo>
                <a:lnTo>
                  <a:pt x="48882" y="87007"/>
                </a:lnTo>
                <a:lnTo>
                  <a:pt x="34041" y="84011"/>
                </a:lnTo>
                <a:lnTo>
                  <a:pt x="21923" y="75841"/>
                </a:lnTo>
                <a:lnTo>
                  <a:pt x="13752" y="63722"/>
                </a:lnTo>
                <a:lnTo>
                  <a:pt x="10756" y="48882"/>
                </a:lnTo>
                <a:lnTo>
                  <a:pt x="10788" y="42100"/>
                </a:lnTo>
                <a:lnTo>
                  <a:pt x="12471" y="35953"/>
                </a:lnTo>
                <a:lnTo>
                  <a:pt x="15481" y="30505"/>
                </a:lnTo>
                <a:lnTo>
                  <a:pt x="14185" y="30264"/>
                </a:lnTo>
                <a:lnTo>
                  <a:pt x="12877" y="29654"/>
                </a:lnTo>
                <a:lnTo>
                  <a:pt x="6972" y="23723"/>
                </a:lnTo>
                <a:close/>
              </a:path>
              <a:path w="97789" h="97789">
                <a:moveTo>
                  <a:pt x="78159" y="10756"/>
                </a:moveTo>
                <a:lnTo>
                  <a:pt x="48882" y="10756"/>
                </a:lnTo>
                <a:lnTo>
                  <a:pt x="63722" y="13752"/>
                </a:lnTo>
                <a:lnTo>
                  <a:pt x="75841" y="21923"/>
                </a:lnTo>
                <a:lnTo>
                  <a:pt x="84011" y="34041"/>
                </a:lnTo>
                <a:lnTo>
                  <a:pt x="87007" y="48882"/>
                </a:lnTo>
                <a:lnTo>
                  <a:pt x="84011" y="63722"/>
                </a:lnTo>
                <a:lnTo>
                  <a:pt x="75841" y="75841"/>
                </a:lnTo>
                <a:lnTo>
                  <a:pt x="63722" y="84011"/>
                </a:lnTo>
                <a:lnTo>
                  <a:pt x="48882" y="87007"/>
                </a:lnTo>
                <a:lnTo>
                  <a:pt x="78153" y="87007"/>
                </a:lnTo>
                <a:lnTo>
                  <a:pt x="83437" y="83443"/>
                </a:lnTo>
                <a:lnTo>
                  <a:pt x="93911" y="67905"/>
                </a:lnTo>
                <a:lnTo>
                  <a:pt x="97751" y="48882"/>
                </a:lnTo>
                <a:lnTo>
                  <a:pt x="93911" y="29853"/>
                </a:lnTo>
                <a:lnTo>
                  <a:pt x="83437" y="14316"/>
                </a:lnTo>
                <a:lnTo>
                  <a:pt x="78159" y="10756"/>
                </a:lnTo>
                <a:close/>
              </a:path>
              <a:path w="97789" h="97789">
                <a:moveTo>
                  <a:pt x="25082" y="33083"/>
                </a:moveTo>
                <a:lnTo>
                  <a:pt x="22072" y="37617"/>
                </a:lnTo>
                <a:lnTo>
                  <a:pt x="20319" y="43040"/>
                </a:lnTo>
                <a:lnTo>
                  <a:pt x="20319" y="48882"/>
                </a:lnTo>
                <a:lnTo>
                  <a:pt x="22562" y="59999"/>
                </a:lnTo>
                <a:lnTo>
                  <a:pt x="28681" y="69078"/>
                </a:lnTo>
                <a:lnTo>
                  <a:pt x="37759" y="75199"/>
                </a:lnTo>
                <a:lnTo>
                  <a:pt x="48882" y="77444"/>
                </a:lnTo>
                <a:lnTo>
                  <a:pt x="59999" y="75199"/>
                </a:lnTo>
                <a:lnTo>
                  <a:pt x="69078" y="69078"/>
                </a:lnTo>
                <a:lnTo>
                  <a:pt x="71717" y="65163"/>
                </a:lnTo>
                <a:lnTo>
                  <a:pt x="39890" y="65163"/>
                </a:lnTo>
                <a:lnTo>
                  <a:pt x="32600" y="57873"/>
                </a:lnTo>
                <a:lnTo>
                  <a:pt x="32600" y="46456"/>
                </a:lnTo>
                <a:lnTo>
                  <a:pt x="33146" y="44170"/>
                </a:lnTo>
                <a:lnTo>
                  <a:pt x="34086" y="42100"/>
                </a:lnTo>
                <a:lnTo>
                  <a:pt x="25082" y="33083"/>
                </a:lnTo>
                <a:close/>
              </a:path>
              <a:path w="97789" h="97789">
                <a:moveTo>
                  <a:pt x="71720" y="32600"/>
                </a:moveTo>
                <a:lnTo>
                  <a:pt x="57873" y="32600"/>
                </a:lnTo>
                <a:lnTo>
                  <a:pt x="65163" y="39890"/>
                </a:lnTo>
                <a:lnTo>
                  <a:pt x="65163" y="57873"/>
                </a:lnTo>
                <a:lnTo>
                  <a:pt x="57873" y="65163"/>
                </a:lnTo>
                <a:lnTo>
                  <a:pt x="71717" y="65163"/>
                </a:lnTo>
                <a:lnTo>
                  <a:pt x="75199" y="59999"/>
                </a:lnTo>
                <a:lnTo>
                  <a:pt x="77444" y="48882"/>
                </a:lnTo>
                <a:lnTo>
                  <a:pt x="75199" y="37763"/>
                </a:lnTo>
                <a:lnTo>
                  <a:pt x="71720" y="32600"/>
                </a:lnTo>
                <a:close/>
              </a:path>
              <a:path w="97789" h="97789">
                <a:moveTo>
                  <a:pt x="31064" y="27305"/>
                </a:moveTo>
                <a:lnTo>
                  <a:pt x="23063" y="27305"/>
                </a:lnTo>
                <a:lnTo>
                  <a:pt x="41363" y="45593"/>
                </a:lnTo>
                <a:lnTo>
                  <a:pt x="39928" y="48666"/>
                </a:lnTo>
                <a:lnTo>
                  <a:pt x="40449" y="52412"/>
                </a:lnTo>
                <a:lnTo>
                  <a:pt x="46215" y="58191"/>
                </a:lnTo>
                <a:lnTo>
                  <a:pt x="51473" y="58191"/>
                </a:lnTo>
                <a:lnTo>
                  <a:pt x="57937" y="51714"/>
                </a:lnTo>
                <a:lnTo>
                  <a:pt x="57924" y="46456"/>
                </a:lnTo>
                <a:lnTo>
                  <a:pt x="53071" y="41592"/>
                </a:lnTo>
                <a:lnTo>
                  <a:pt x="45351" y="41592"/>
                </a:lnTo>
                <a:lnTo>
                  <a:pt x="31064" y="27305"/>
                </a:lnTo>
                <a:close/>
              </a:path>
              <a:path w="97789" h="97789">
                <a:moveTo>
                  <a:pt x="48412" y="40170"/>
                </a:moveTo>
                <a:lnTo>
                  <a:pt x="45351" y="41592"/>
                </a:lnTo>
                <a:lnTo>
                  <a:pt x="53071" y="41592"/>
                </a:lnTo>
                <a:lnTo>
                  <a:pt x="52171" y="40690"/>
                </a:lnTo>
                <a:lnTo>
                  <a:pt x="48412" y="40170"/>
                </a:lnTo>
                <a:close/>
              </a:path>
              <a:path w="97789" h="97789">
                <a:moveTo>
                  <a:pt x="48882" y="20307"/>
                </a:moveTo>
                <a:lnTo>
                  <a:pt x="42913" y="20307"/>
                </a:lnTo>
                <a:lnTo>
                  <a:pt x="37376" y="22148"/>
                </a:lnTo>
                <a:lnTo>
                  <a:pt x="32804" y="25273"/>
                </a:lnTo>
                <a:lnTo>
                  <a:pt x="41770" y="34251"/>
                </a:lnTo>
                <a:lnTo>
                  <a:pt x="43929" y="33210"/>
                </a:lnTo>
                <a:lnTo>
                  <a:pt x="46329" y="32600"/>
                </a:lnTo>
                <a:lnTo>
                  <a:pt x="71720" y="32600"/>
                </a:lnTo>
                <a:lnTo>
                  <a:pt x="69078" y="28679"/>
                </a:lnTo>
                <a:lnTo>
                  <a:pt x="59999" y="22554"/>
                </a:lnTo>
                <a:lnTo>
                  <a:pt x="48882" y="20307"/>
                </a:lnTo>
                <a:close/>
              </a:path>
              <a:path w="97789" h="97789">
                <a:moveTo>
                  <a:pt x="15443" y="2933"/>
                </a:moveTo>
                <a:lnTo>
                  <a:pt x="14820" y="3136"/>
                </a:lnTo>
                <a:lnTo>
                  <a:pt x="13715" y="13970"/>
                </a:lnTo>
                <a:lnTo>
                  <a:pt x="2895" y="15062"/>
                </a:lnTo>
                <a:lnTo>
                  <a:pt x="2679" y="15684"/>
                </a:lnTo>
                <a:lnTo>
                  <a:pt x="14579" y="27571"/>
                </a:lnTo>
                <a:lnTo>
                  <a:pt x="15862" y="28028"/>
                </a:lnTo>
                <a:lnTo>
                  <a:pt x="23063" y="27305"/>
                </a:lnTo>
                <a:lnTo>
                  <a:pt x="31064" y="27305"/>
                </a:lnTo>
                <a:lnTo>
                  <a:pt x="27063" y="23304"/>
                </a:lnTo>
                <a:lnTo>
                  <a:pt x="27787" y="16116"/>
                </a:lnTo>
                <a:lnTo>
                  <a:pt x="27330" y="14820"/>
                </a:lnTo>
                <a:lnTo>
                  <a:pt x="15443" y="2933"/>
                </a:lnTo>
                <a:close/>
              </a:path>
              <a:path w="97789" h="97789">
                <a:moveTo>
                  <a:pt x="48882" y="0"/>
                </a:moveTo>
                <a:lnTo>
                  <a:pt x="42014" y="479"/>
                </a:lnTo>
                <a:lnTo>
                  <a:pt x="35437" y="1874"/>
                </a:lnTo>
                <a:lnTo>
                  <a:pt x="29220" y="4120"/>
                </a:lnTo>
                <a:lnTo>
                  <a:pt x="23431" y="7150"/>
                </a:lnTo>
                <a:lnTo>
                  <a:pt x="29400" y="13131"/>
                </a:lnTo>
                <a:lnTo>
                  <a:pt x="29974" y="14316"/>
                </a:lnTo>
                <a:lnTo>
                  <a:pt x="30251" y="15621"/>
                </a:lnTo>
                <a:lnTo>
                  <a:pt x="35763" y="12534"/>
                </a:lnTo>
                <a:lnTo>
                  <a:pt x="42100" y="10756"/>
                </a:lnTo>
                <a:lnTo>
                  <a:pt x="78159" y="10756"/>
                </a:lnTo>
                <a:lnTo>
                  <a:pt x="67903" y="3840"/>
                </a:lnTo>
                <a:lnTo>
                  <a:pt x="48882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027208" y="3184715"/>
            <a:ext cx="97155" cy="65405"/>
          </a:xfrm>
          <a:custGeom>
            <a:avLst/>
            <a:gdLst/>
            <a:ahLst/>
            <a:cxnLst/>
            <a:rect l="l" t="t" r="r" b="b"/>
            <a:pathLst>
              <a:path w="97154" h="65405">
                <a:moveTo>
                  <a:pt x="35204" y="32296"/>
                </a:moveTo>
                <a:lnTo>
                  <a:pt x="4495" y="65125"/>
                </a:lnTo>
                <a:lnTo>
                  <a:pt x="93446" y="65125"/>
                </a:lnTo>
                <a:lnTo>
                  <a:pt x="74062" y="43942"/>
                </a:lnTo>
                <a:lnTo>
                  <a:pt x="49377" y="43942"/>
                </a:lnTo>
                <a:lnTo>
                  <a:pt x="35204" y="32296"/>
                </a:lnTo>
                <a:close/>
              </a:path>
              <a:path w="97154" h="65405">
                <a:moveTo>
                  <a:pt x="0" y="3378"/>
                </a:moveTo>
                <a:lnTo>
                  <a:pt x="0" y="62090"/>
                </a:lnTo>
                <a:lnTo>
                  <a:pt x="31051" y="28892"/>
                </a:lnTo>
                <a:lnTo>
                  <a:pt x="0" y="3378"/>
                </a:lnTo>
                <a:close/>
              </a:path>
              <a:path w="97154" h="65405">
                <a:moveTo>
                  <a:pt x="96558" y="3568"/>
                </a:moveTo>
                <a:lnTo>
                  <a:pt x="67297" y="28613"/>
                </a:lnTo>
                <a:lnTo>
                  <a:pt x="96558" y="60591"/>
                </a:lnTo>
                <a:lnTo>
                  <a:pt x="96558" y="3568"/>
                </a:lnTo>
                <a:close/>
              </a:path>
              <a:path w="97154" h="65405">
                <a:moveTo>
                  <a:pt x="63220" y="32092"/>
                </a:moveTo>
                <a:lnTo>
                  <a:pt x="49377" y="43942"/>
                </a:lnTo>
                <a:lnTo>
                  <a:pt x="74062" y="43942"/>
                </a:lnTo>
                <a:lnTo>
                  <a:pt x="63220" y="32092"/>
                </a:lnTo>
                <a:close/>
              </a:path>
              <a:path w="97154" h="65405">
                <a:moveTo>
                  <a:pt x="92506" y="0"/>
                </a:moveTo>
                <a:lnTo>
                  <a:pt x="4305" y="0"/>
                </a:lnTo>
                <a:lnTo>
                  <a:pt x="49301" y="36957"/>
                </a:lnTo>
                <a:lnTo>
                  <a:pt x="92506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553825" y="3186785"/>
            <a:ext cx="60325" cy="89535"/>
          </a:xfrm>
          <a:custGeom>
            <a:avLst/>
            <a:gdLst/>
            <a:ahLst/>
            <a:cxnLst/>
            <a:rect l="l" t="t" r="r" b="b"/>
            <a:pathLst>
              <a:path w="60325" h="89535">
                <a:moveTo>
                  <a:pt x="31878" y="59372"/>
                </a:moveTo>
                <a:lnTo>
                  <a:pt x="23305" y="59372"/>
                </a:lnTo>
                <a:lnTo>
                  <a:pt x="23425" y="85826"/>
                </a:lnTo>
                <a:lnTo>
                  <a:pt x="28144" y="88976"/>
                </a:lnTo>
                <a:lnTo>
                  <a:pt x="29122" y="88734"/>
                </a:lnTo>
                <a:lnTo>
                  <a:pt x="31865" y="82003"/>
                </a:lnTo>
                <a:lnTo>
                  <a:pt x="54433" y="82003"/>
                </a:lnTo>
                <a:lnTo>
                  <a:pt x="54763" y="81673"/>
                </a:lnTo>
                <a:lnTo>
                  <a:pt x="54877" y="80619"/>
                </a:lnTo>
                <a:lnTo>
                  <a:pt x="55257" y="79133"/>
                </a:lnTo>
                <a:lnTo>
                  <a:pt x="32932" y="79133"/>
                </a:lnTo>
                <a:lnTo>
                  <a:pt x="31865" y="74815"/>
                </a:lnTo>
                <a:lnTo>
                  <a:pt x="31865" y="66598"/>
                </a:lnTo>
                <a:lnTo>
                  <a:pt x="58227" y="66598"/>
                </a:lnTo>
                <a:lnTo>
                  <a:pt x="58395" y="65392"/>
                </a:lnTo>
                <a:lnTo>
                  <a:pt x="59627" y="65392"/>
                </a:lnTo>
                <a:lnTo>
                  <a:pt x="60046" y="64973"/>
                </a:lnTo>
                <a:lnTo>
                  <a:pt x="60046" y="63944"/>
                </a:lnTo>
                <a:lnTo>
                  <a:pt x="59627" y="63538"/>
                </a:lnTo>
                <a:lnTo>
                  <a:pt x="31865" y="63538"/>
                </a:lnTo>
                <a:lnTo>
                  <a:pt x="31878" y="59372"/>
                </a:lnTo>
                <a:close/>
              </a:path>
              <a:path w="60325" h="89535">
                <a:moveTo>
                  <a:pt x="21794" y="59372"/>
                </a:moveTo>
                <a:lnTo>
                  <a:pt x="13399" y="59372"/>
                </a:lnTo>
                <a:lnTo>
                  <a:pt x="13475" y="79019"/>
                </a:lnTo>
                <a:lnTo>
                  <a:pt x="19876" y="88861"/>
                </a:lnTo>
                <a:lnTo>
                  <a:pt x="21794" y="87020"/>
                </a:lnTo>
                <a:lnTo>
                  <a:pt x="21794" y="59372"/>
                </a:lnTo>
                <a:close/>
              </a:path>
              <a:path w="60325" h="89535">
                <a:moveTo>
                  <a:pt x="36945" y="66598"/>
                </a:moveTo>
                <a:lnTo>
                  <a:pt x="34265" y="66598"/>
                </a:lnTo>
                <a:lnTo>
                  <a:pt x="34265" y="79133"/>
                </a:lnTo>
                <a:lnTo>
                  <a:pt x="36945" y="79133"/>
                </a:lnTo>
                <a:lnTo>
                  <a:pt x="36945" y="66598"/>
                </a:lnTo>
                <a:close/>
              </a:path>
              <a:path w="60325" h="89535">
                <a:moveTo>
                  <a:pt x="43803" y="66598"/>
                </a:moveTo>
                <a:lnTo>
                  <a:pt x="41123" y="66598"/>
                </a:lnTo>
                <a:lnTo>
                  <a:pt x="41123" y="79133"/>
                </a:lnTo>
                <a:lnTo>
                  <a:pt x="43803" y="79133"/>
                </a:lnTo>
                <a:lnTo>
                  <a:pt x="43803" y="66598"/>
                </a:lnTo>
                <a:close/>
              </a:path>
              <a:path w="60325" h="89535">
                <a:moveTo>
                  <a:pt x="50432" y="66598"/>
                </a:moveTo>
                <a:lnTo>
                  <a:pt x="47765" y="66598"/>
                </a:lnTo>
                <a:lnTo>
                  <a:pt x="47765" y="79133"/>
                </a:lnTo>
                <a:lnTo>
                  <a:pt x="55260" y="79121"/>
                </a:lnTo>
                <a:lnTo>
                  <a:pt x="50432" y="79121"/>
                </a:lnTo>
                <a:lnTo>
                  <a:pt x="50432" y="66598"/>
                </a:lnTo>
                <a:close/>
              </a:path>
              <a:path w="60325" h="89535">
                <a:moveTo>
                  <a:pt x="58227" y="66598"/>
                </a:moveTo>
                <a:lnTo>
                  <a:pt x="54293" y="66598"/>
                </a:lnTo>
                <a:lnTo>
                  <a:pt x="54204" y="67576"/>
                </a:lnTo>
                <a:lnTo>
                  <a:pt x="51766" y="79019"/>
                </a:lnTo>
                <a:lnTo>
                  <a:pt x="50432" y="79121"/>
                </a:lnTo>
                <a:lnTo>
                  <a:pt x="55260" y="79121"/>
                </a:lnTo>
                <a:lnTo>
                  <a:pt x="57951" y="68580"/>
                </a:lnTo>
                <a:lnTo>
                  <a:pt x="58227" y="66598"/>
                </a:lnTo>
                <a:close/>
              </a:path>
              <a:path w="60325" h="89535">
                <a:moveTo>
                  <a:pt x="37440" y="59372"/>
                </a:moveTo>
                <a:lnTo>
                  <a:pt x="34468" y="59372"/>
                </a:lnTo>
                <a:lnTo>
                  <a:pt x="32297" y="63538"/>
                </a:lnTo>
                <a:lnTo>
                  <a:pt x="35408" y="63538"/>
                </a:lnTo>
                <a:lnTo>
                  <a:pt x="37440" y="59372"/>
                </a:lnTo>
                <a:close/>
              </a:path>
              <a:path w="60325" h="89535">
                <a:moveTo>
                  <a:pt x="45557" y="52095"/>
                </a:moveTo>
                <a:lnTo>
                  <a:pt x="42990" y="52095"/>
                </a:lnTo>
                <a:lnTo>
                  <a:pt x="48464" y="63538"/>
                </a:lnTo>
                <a:lnTo>
                  <a:pt x="51575" y="63538"/>
                </a:lnTo>
                <a:lnTo>
                  <a:pt x="45557" y="52095"/>
                </a:lnTo>
                <a:close/>
              </a:path>
              <a:path w="60325" h="89535">
                <a:moveTo>
                  <a:pt x="30201" y="30149"/>
                </a:moveTo>
                <a:lnTo>
                  <a:pt x="14893" y="30162"/>
                </a:lnTo>
                <a:lnTo>
                  <a:pt x="6046" y="55676"/>
                </a:lnTo>
                <a:lnTo>
                  <a:pt x="5919" y="57734"/>
                </a:lnTo>
                <a:lnTo>
                  <a:pt x="6046" y="58039"/>
                </a:lnTo>
                <a:lnTo>
                  <a:pt x="7570" y="59372"/>
                </a:lnTo>
                <a:lnTo>
                  <a:pt x="38558" y="59372"/>
                </a:lnTo>
                <a:lnTo>
                  <a:pt x="40387" y="59245"/>
                </a:lnTo>
                <a:lnTo>
                  <a:pt x="39244" y="56108"/>
                </a:lnTo>
                <a:lnTo>
                  <a:pt x="39255" y="55676"/>
                </a:lnTo>
                <a:lnTo>
                  <a:pt x="40774" y="52578"/>
                </a:lnTo>
                <a:lnTo>
                  <a:pt x="38024" y="52578"/>
                </a:lnTo>
                <a:lnTo>
                  <a:pt x="30201" y="30149"/>
                </a:lnTo>
                <a:close/>
              </a:path>
              <a:path w="60325" h="89535">
                <a:moveTo>
                  <a:pt x="10491" y="19291"/>
                </a:moveTo>
                <a:lnTo>
                  <a:pt x="8103" y="27635"/>
                </a:lnTo>
                <a:lnTo>
                  <a:pt x="534" y="48501"/>
                </a:lnTo>
                <a:lnTo>
                  <a:pt x="67" y="50088"/>
                </a:lnTo>
                <a:lnTo>
                  <a:pt x="0" y="50495"/>
                </a:lnTo>
                <a:lnTo>
                  <a:pt x="1042" y="51930"/>
                </a:lnTo>
                <a:lnTo>
                  <a:pt x="4458" y="52908"/>
                </a:lnTo>
                <a:lnTo>
                  <a:pt x="6120" y="52095"/>
                </a:lnTo>
                <a:lnTo>
                  <a:pt x="6234" y="51930"/>
                </a:lnTo>
                <a:lnTo>
                  <a:pt x="6661" y="50444"/>
                </a:lnTo>
                <a:lnTo>
                  <a:pt x="14034" y="30162"/>
                </a:lnTo>
                <a:lnTo>
                  <a:pt x="14898" y="30149"/>
                </a:lnTo>
                <a:lnTo>
                  <a:pt x="38000" y="30149"/>
                </a:lnTo>
                <a:lnTo>
                  <a:pt x="37123" y="27635"/>
                </a:lnTo>
                <a:lnTo>
                  <a:pt x="16752" y="19545"/>
                </a:lnTo>
                <a:lnTo>
                  <a:pt x="10491" y="19291"/>
                </a:lnTo>
                <a:close/>
              </a:path>
              <a:path w="60325" h="89535">
                <a:moveTo>
                  <a:pt x="38000" y="30149"/>
                </a:moveTo>
                <a:lnTo>
                  <a:pt x="30201" y="30149"/>
                </a:lnTo>
                <a:lnTo>
                  <a:pt x="31192" y="30162"/>
                </a:lnTo>
                <a:lnTo>
                  <a:pt x="38393" y="50800"/>
                </a:lnTo>
                <a:lnTo>
                  <a:pt x="38532" y="51054"/>
                </a:lnTo>
                <a:lnTo>
                  <a:pt x="38698" y="51295"/>
                </a:lnTo>
                <a:lnTo>
                  <a:pt x="38024" y="52578"/>
                </a:lnTo>
                <a:lnTo>
                  <a:pt x="40774" y="52578"/>
                </a:lnTo>
                <a:lnTo>
                  <a:pt x="41489" y="52539"/>
                </a:lnTo>
                <a:lnTo>
                  <a:pt x="42190" y="52438"/>
                </a:lnTo>
                <a:lnTo>
                  <a:pt x="42736" y="52235"/>
                </a:lnTo>
                <a:lnTo>
                  <a:pt x="42990" y="52095"/>
                </a:lnTo>
                <a:lnTo>
                  <a:pt x="45557" y="52095"/>
                </a:lnTo>
                <a:lnTo>
                  <a:pt x="44689" y="50444"/>
                </a:lnTo>
                <a:lnTo>
                  <a:pt x="44578" y="49085"/>
                </a:lnTo>
                <a:lnTo>
                  <a:pt x="44400" y="48501"/>
                </a:lnTo>
                <a:lnTo>
                  <a:pt x="38000" y="30149"/>
                </a:lnTo>
                <a:close/>
              </a:path>
              <a:path w="60325" h="89535">
                <a:moveTo>
                  <a:pt x="41489" y="52539"/>
                </a:moveTo>
                <a:lnTo>
                  <a:pt x="40793" y="52539"/>
                </a:lnTo>
                <a:lnTo>
                  <a:pt x="41314" y="52565"/>
                </a:lnTo>
                <a:lnTo>
                  <a:pt x="41489" y="52539"/>
                </a:lnTo>
                <a:close/>
              </a:path>
              <a:path w="60325" h="89535">
                <a:moveTo>
                  <a:pt x="17717" y="0"/>
                </a:moveTo>
                <a:lnTo>
                  <a:pt x="13767" y="3898"/>
                </a:lnTo>
                <a:lnTo>
                  <a:pt x="13818" y="9537"/>
                </a:lnTo>
                <a:lnTo>
                  <a:pt x="13996" y="10642"/>
                </a:lnTo>
                <a:lnTo>
                  <a:pt x="27407" y="17424"/>
                </a:lnTo>
                <a:lnTo>
                  <a:pt x="31344" y="13525"/>
                </a:lnTo>
                <a:lnTo>
                  <a:pt x="17717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530070" y="4872304"/>
            <a:ext cx="4274820" cy="304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213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Enterprise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800" spc="15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r>
              <a:rPr dirty="0" sz="1800" spc="-1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Planner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24000" y="5298516"/>
            <a:ext cx="4303395" cy="28575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405"/>
              </a:spcBef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Identify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objectives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met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migration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24000" y="5718974"/>
            <a:ext cx="4303395" cy="428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Design a Cloud</a:t>
            </a:r>
            <a:r>
              <a:rPr dirty="0" sz="1200" spc="-11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strategy</a:t>
            </a:r>
            <a:endParaRPr sz="1200">
              <a:latin typeface="Arial"/>
              <a:cs typeface="Arial"/>
            </a:endParaRPr>
          </a:p>
          <a:p>
            <a:pPr marL="84455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(Hire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outside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specialist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required)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24000" y="6248133"/>
            <a:ext cx="4303395" cy="285750"/>
          </a:xfrm>
          <a:prstGeom prst="rect">
            <a:avLst/>
          </a:prstGeom>
          <a:solidFill>
            <a:srgbClr val="CDCDCC"/>
          </a:solidFill>
        </p:spPr>
        <p:txBody>
          <a:bodyPr wrap="square" lIns="0" tIns="5461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430"/>
              </a:spcBef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Identify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applications/workloads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moved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24000" y="6667233"/>
            <a:ext cx="4303395" cy="428625"/>
          </a:xfrm>
          <a:prstGeom prst="rect">
            <a:avLst/>
          </a:prstGeom>
          <a:solidFill>
            <a:srgbClr val="E2E2E2"/>
          </a:solidFill>
        </p:spPr>
        <p:txBody>
          <a:bodyPr wrap="square" lIns="0" tIns="8255" rIns="0" bIns="0" rtlCol="0" vert="horz">
            <a:spAutoFit/>
          </a:bodyPr>
          <a:lstStyle/>
          <a:p>
            <a:pPr marL="84455" marR="1572895">
              <a:lnSpc>
                <a:spcPct val="104200"/>
              </a:lnSpc>
              <a:spcBef>
                <a:spcPts val="65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Decide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deployment</a:t>
            </a:r>
            <a:r>
              <a:rPr dirty="0" sz="1200" spc="-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model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(Private/Public/Hybrid)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24000" y="7234504"/>
            <a:ext cx="4303395" cy="428625"/>
          </a:xfrm>
          <a:prstGeom prst="rect">
            <a:avLst/>
          </a:prstGeom>
          <a:solidFill>
            <a:srgbClr val="CDCDCC"/>
          </a:solidFill>
        </p:spPr>
        <p:txBody>
          <a:bodyPr wrap="square" lIns="0" tIns="12700" rIns="0" bIns="0" rtlCol="0" vert="horz">
            <a:spAutoFit/>
          </a:bodyPr>
          <a:lstStyle/>
          <a:p>
            <a:pPr marL="84455" marR="2346325">
              <a:lnSpc>
                <a:spcPct val="104200"/>
              </a:lnSpc>
              <a:spcBef>
                <a:spcPts val="10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Decide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vendor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strategy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(Single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Multi-vendor)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24000" y="7780591"/>
            <a:ext cx="4303395" cy="285750"/>
          </a:xfrm>
          <a:prstGeom prst="rect">
            <a:avLst/>
          </a:prstGeom>
          <a:solidFill>
            <a:srgbClr val="E2E2E2"/>
          </a:solidFill>
        </p:spPr>
        <p:txBody>
          <a:bodyPr wrap="square" lIns="0" tIns="457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360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Select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Platform(s)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&amp;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Implementation</a:t>
            </a:r>
            <a:r>
              <a:rPr dirty="0" sz="1200" spc="-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Partner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24000" y="8186991"/>
            <a:ext cx="4303395" cy="808990"/>
          </a:xfrm>
          <a:prstGeom prst="rect">
            <a:avLst/>
          </a:prstGeom>
          <a:solidFill>
            <a:srgbClr val="CDCDCC"/>
          </a:solidFill>
        </p:spPr>
        <p:txBody>
          <a:bodyPr wrap="square" lIns="0" tIns="203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16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Create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Roadmap</a:t>
            </a:r>
            <a:endParaRPr sz="1200">
              <a:latin typeface="Arial"/>
              <a:cs typeface="Arial"/>
            </a:endParaRPr>
          </a:p>
          <a:p>
            <a:pPr marL="170815" indent="-86360">
              <a:lnSpc>
                <a:spcPct val="100000"/>
              </a:lnSpc>
              <a:spcBef>
                <a:spcPts val="60"/>
              </a:spcBef>
              <a:buChar char="•"/>
              <a:tabLst>
                <a:tab pos="171450" algn="l"/>
              </a:tabLst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Break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strategy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into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set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actionable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items</a:t>
            </a:r>
            <a:endParaRPr sz="1200">
              <a:latin typeface="Arial"/>
              <a:cs typeface="Arial"/>
            </a:endParaRPr>
          </a:p>
          <a:p>
            <a:pPr marL="170815" indent="-86360">
              <a:lnSpc>
                <a:spcPct val="100000"/>
              </a:lnSpc>
              <a:spcBef>
                <a:spcPts val="60"/>
              </a:spcBef>
              <a:buChar char="•"/>
              <a:tabLst>
                <a:tab pos="171450" algn="l"/>
              </a:tabLst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Map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each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actionable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item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accompanying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beneﬁts</a:t>
            </a:r>
            <a:endParaRPr sz="1200">
              <a:latin typeface="Arial"/>
              <a:cs typeface="Arial"/>
            </a:endParaRPr>
          </a:p>
          <a:p>
            <a:pPr marL="170815" indent="-86360">
              <a:lnSpc>
                <a:spcPct val="100000"/>
              </a:lnSpc>
              <a:spcBef>
                <a:spcPts val="60"/>
              </a:spcBef>
              <a:buChar char="•"/>
              <a:tabLst>
                <a:tab pos="171450" algn="l"/>
              </a:tabLst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Identify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quick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wins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early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595958" y="9160161"/>
            <a:ext cx="313309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Develop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Benchmarks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assess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success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912" y="1508988"/>
            <a:ext cx="2601595" cy="30416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0"/>
              </a:lnSpc>
            </a:pP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Startup?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011" y="1874626"/>
            <a:ext cx="2324100" cy="9696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Let’s </a:t>
            </a:r>
            <a:r>
              <a:rPr dirty="0" sz="1850" spc="35">
                <a:solidFill>
                  <a:srgbClr val="2C99CF"/>
                </a:solidFill>
                <a:latin typeface="Arial"/>
                <a:cs typeface="Arial"/>
              </a:rPr>
              <a:t>tweak the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plan</a:t>
            </a:r>
            <a:r>
              <a:rPr dirty="0" sz="1850" spc="-32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a  </a:t>
            </a:r>
            <a:r>
              <a:rPr dirty="0" sz="1850" spc="-30">
                <a:solidFill>
                  <a:srgbClr val="2C99CF"/>
                </a:solidFill>
                <a:latin typeface="Arial"/>
                <a:cs typeface="Arial"/>
              </a:rPr>
              <a:t>little….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1.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out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Idea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011" y="3020608"/>
            <a:ext cx="256286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2. Explore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both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on-cloud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2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off-cloud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options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011" y="3592108"/>
            <a:ext cx="245173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3.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List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objectives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met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adoption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011" y="4163608"/>
            <a:ext cx="253047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4.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Find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Right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Vendor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(Hire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 Cloud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tech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specialist)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5011" y="4735108"/>
            <a:ext cx="261366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5.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Make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list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requirements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(Current,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Future)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011" y="5306608"/>
            <a:ext cx="248983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6.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Identify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dirty="0" sz="1200" spc="-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meets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3146" y="1465061"/>
            <a:ext cx="224536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b.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Has handled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similar projects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past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3146" y="2044242"/>
            <a:ext cx="1901189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Offers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competitive</a:t>
            </a:r>
            <a:r>
              <a:rPr dirty="0" sz="1200" spc="-1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pricing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3146" y="2417561"/>
            <a:ext cx="223393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d.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some understanding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business/industry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being</a:t>
            </a:r>
            <a:r>
              <a:rPr dirty="0" sz="1200" spc="-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targeted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3146" y="2989061"/>
            <a:ext cx="171005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e. 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Takes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ownership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development,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testing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deployment.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3146" y="3751061"/>
            <a:ext cx="209740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Agrees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meet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quality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bench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marks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3146" y="4330242"/>
            <a:ext cx="181165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g.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Promises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timely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delivery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3146" y="4703561"/>
            <a:ext cx="2106930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h.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ensure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coordination</a:t>
            </a:r>
            <a:r>
              <a:rPr dirty="0" sz="1200" spc="-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regular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progress</a:t>
            </a:r>
            <a:r>
              <a:rPr dirty="0" sz="1200" spc="-1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updates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3146" y="5275061"/>
            <a:ext cx="201104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i.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Look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long-term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partner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who will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handle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post-launch 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upgrades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011" y="5885789"/>
            <a:ext cx="4987290" cy="2863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45"/>
              </a:lnSpc>
              <a:buAutoNum type="arabicPeriod" startAt="7"/>
              <a:tabLst>
                <a:tab pos="170815" algn="l"/>
              </a:tabLst>
            </a:pP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Product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development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3204210">
              <a:lnSpc>
                <a:spcPts val="1345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9.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Launch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Product/Service</a:t>
            </a:r>
            <a:endParaRPr sz="1200">
              <a:latin typeface="Arial"/>
              <a:cs typeface="Arial"/>
            </a:endParaRPr>
          </a:p>
          <a:p>
            <a:pPr lvl="1" marL="318135" indent="-15748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318770" algn="l"/>
              </a:tabLst>
            </a:pP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In-house</a:t>
            </a:r>
            <a:endParaRPr sz="1200">
              <a:latin typeface="Arial"/>
              <a:cs typeface="Arial"/>
            </a:endParaRPr>
          </a:p>
          <a:p>
            <a:pPr lvl="2" marL="456565" marR="2600325" indent="-147955">
              <a:lnSpc>
                <a:spcPct val="104200"/>
              </a:lnSpc>
              <a:buAutoNum type="alphaLcPeriod"/>
              <a:tabLst>
                <a:tab pos="464820" algn="l"/>
              </a:tabLst>
            </a:pP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If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not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familiar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with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technology,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bad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idea</a:t>
            </a:r>
            <a:endParaRPr sz="1200">
              <a:latin typeface="Arial"/>
              <a:cs typeface="Arial"/>
            </a:endParaRPr>
          </a:p>
          <a:p>
            <a:pPr lvl="1" marL="318135" indent="-15748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31877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Outsource</a:t>
            </a:r>
            <a:endParaRPr sz="1200">
              <a:latin typeface="Arial"/>
              <a:cs typeface="Arial"/>
            </a:endParaRPr>
          </a:p>
          <a:p>
            <a:pPr lvl="2" marL="456565" marR="2460625" indent="-147955">
              <a:lnSpc>
                <a:spcPct val="104200"/>
              </a:lnSpc>
              <a:buAutoNum type="alphaLcPeriod"/>
              <a:tabLst>
                <a:tab pos="464820" algn="l"/>
              </a:tabLst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Outsource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focus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core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business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functions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like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marketing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1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sales.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buClr>
                <a:srgbClr val="231F20"/>
              </a:buClr>
              <a:buFont typeface="Arial"/>
              <a:buAutoNum type="alphaLcPeriod"/>
            </a:pPr>
            <a:endParaRPr sz="1300">
              <a:latin typeface="Times New Roman"/>
              <a:cs typeface="Times New Roman"/>
            </a:endParaRPr>
          </a:p>
          <a:p>
            <a:pPr marL="12700" marR="2689225">
              <a:lnSpc>
                <a:spcPct val="104200"/>
              </a:lnSpc>
              <a:spcBef>
                <a:spcPts val="5"/>
              </a:spcBef>
              <a:buAutoNum type="arabicPeriod" startAt="8"/>
              <a:tabLst>
                <a:tab pos="170815" algn="l"/>
              </a:tabLst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your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Product 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Development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Partner?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308610" marR="2481580">
              <a:lnSpc>
                <a:spcPct val="104200"/>
              </a:lnSpc>
              <a:spcBef>
                <a:spcPts val="5"/>
              </a:spcBef>
            </a:pP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a.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Comes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through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referral/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Has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good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client</a:t>
            </a:r>
            <a:r>
              <a:rPr dirty="0" sz="1200" spc="-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testimonies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004" y="3302889"/>
            <a:ext cx="2796540" cy="73406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700" spc="180"/>
              <a:t>C</a:t>
            </a:r>
            <a:r>
              <a:rPr dirty="0" sz="4700" spc="40"/>
              <a:t>onclusion</a:t>
            </a:r>
            <a:endParaRPr sz="4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925">
              <a:lnSpc>
                <a:spcPct val="100000"/>
              </a:lnSpc>
            </a:pPr>
            <a:r>
              <a:rPr dirty="0" spc="-40"/>
              <a:t>Now, </a:t>
            </a:r>
            <a:r>
              <a:rPr dirty="0" spc="-5"/>
              <a:t>we </a:t>
            </a:r>
            <a:r>
              <a:rPr dirty="0" spc="-30"/>
              <a:t>are </a:t>
            </a:r>
            <a:r>
              <a:rPr dirty="0" spc="-10"/>
              <a:t>nearing </a:t>
            </a:r>
            <a:r>
              <a:rPr dirty="0" spc="5"/>
              <a:t>the</a:t>
            </a:r>
            <a:r>
              <a:rPr dirty="0" spc="-180"/>
              <a:t> </a:t>
            </a:r>
            <a:r>
              <a:rPr dirty="0" spc="-114"/>
              <a:t>end….</a:t>
            </a:r>
          </a:p>
          <a:p>
            <a:pPr marL="22225"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34925" marR="5080">
              <a:lnSpc>
                <a:spcPct val="104200"/>
              </a:lnSpc>
              <a:spcBef>
                <a:spcPts val="5"/>
              </a:spcBef>
            </a:pPr>
            <a:r>
              <a:rPr dirty="0" spc="-40"/>
              <a:t>You </a:t>
            </a:r>
            <a:r>
              <a:rPr dirty="0"/>
              <a:t>know </a:t>
            </a:r>
            <a:r>
              <a:rPr dirty="0" spc="-5"/>
              <a:t>all </a:t>
            </a:r>
            <a:r>
              <a:rPr dirty="0" spc="5"/>
              <a:t>about </a:t>
            </a:r>
            <a:r>
              <a:rPr dirty="0" spc="-30"/>
              <a:t>Google </a:t>
            </a:r>
            <a:r>
              <a:rPr dirty="0" spc="-25"/>
              <a:t>Cloud </a:t>
            </a:r>
            <a:r>
              <a:rPr dirty="0" spc="15"/>
              <a:t>Platform </a:t>
            </a:r>
            <a:r>
              <a:rPr dirty="0" spc="-10"/>
              <a:t>and </a:t>
            </a:r>
            <a:r>
              <a:rPr dirty="0" spc="10"/>
              <a:t>how </a:t>
            </a:r>
            <a:r>
              <a:rPr dirty="0" spc="30"/>
              <a:t>it </a:t>
            </a:r>
            <a:r>
              <a:rPr dirty="0"/>
              <a:t>compares </a:t>
            </a:r>
            <a:r>
              <a:rPr dirty="0" spc="25"/>
              <a:t>to </a:t>
            </a:r>
            <a:r>
              <a:rPr dirty="0" spc="-10"/>
              <a:t>Amazon </a:t>
            </a:r>
            <a:r>
              <a:rPr dirty="0" spc="-50"/>
              <a:t>Web  </a:t>
            </a:r>
            <a:r>
              <a:rPr dirty="0" spc="-15"/>
              <a:t>services. </a:t>
            </a:r>
            <a:r>
              <a:rPr dirty="0" spc="-40"/>
              <a:t>You </a:t>
            </a:r>
            <a:r>
              <a:rPr dirty="0" spc="10"/>
              <a:t>now </a:t>
            </a:r>
            <a:r>
              <a:rPr dirty="0" spc="-30"/>
              <a:t>have </a:t>
            </a:r>
            <a:r>
              <a:rPr dirty="0" spc="5"/>
              <a:t>the </a:t>
            </a:r>
            <a:r>
              <a:rPr dirty="0" spc="10"/>
              <a:t>tools </a:t>
            </a:r>
            <a:r>
              <a:rPr dirty="0" spc="25"/>
              <a:t>to </a:t>
            </a:r>
            <a:r>
              <a:rPr dirty="0" spc="15"/>
              <a:t>script </a:t>
            </a:r>
            <a:r>
              <a:rPr dirty="0" spc="-25"/>
              <a:t>a </a:t>
            </a:r>
            <a:r>
              <a:rPr dirty="0" spc="5"/>
              <a:t>successful cloud strategy </a:t>
            </a:r>
            <a:r>
              <a:rPr dirty="0" spc="20"/>
              <a:t>for</a:t>
            </a:r>
            <a:r>
              <a:rPr dirty="0" spc="-229"/>
              <a:t> </a:t>
            </a:r>
            <a:r>
              <a:rPr dirty="0" spc="-5"/>
              <a:t>your </a:t>
            </a:r>
            <a:r>
              <a:rPr dirty="0" spc="15"/>
              <a:t>ﬁrm. </a:t>
            </a:r>
            <a:r>
              <a:rPr dirty="0" spc="-10"/>
              <a:t>It’s  </a:t>
            </a:r>
            <a:r>
              <a:rPr dirty="0"/>
              <a:t>ﬁnally</a:t>
            </a:r>
            <a:r>
              <a:rPr dirty="0" spc="-55"/>
              <a:t> </a:t>
            </a:r>
            <a:r>
              <a:rPr dirty="0" spc="20"/>
              <a:t>time</a:t>
            </a:r>
            <a:r>
              <a:rPr dirty="0" spc="-55"/>
              <a:t> </a:t>
            </a:r>
            <a:r>
              <a:rPr dirty="0" spc="25"/>
              <a:t>to</a:t>
            </a:r>
            <a:r>
              <a:rPr dirty="0" spc="-55"/>
              <a:t> </a:t>
            </a:r>
            <a:r>
              <a:rPr dirty="0" spc="-10"/>
              <a:t>begin</a:t>
            </a:r>
            <a:r>
              <a:rPr dirty="0" spc="-55"/>
              <a:t> </a:t>
            </a:r>
            <a:r>
              <a:rPr dirty="0" spc="-5"/>
              <a:t>your</a:t>
            </a:r>
            <a:r>
              <a:rPr dirty="0" spc="-55"/>
              <a:t> </a:t>
            </a:r>
            <a:r>
              <a:rPr dirty="0" spc="5"/>
              <a:t>cloud</a:t>
            </a:r>
            <a:r>
              <a:rPr dirty="0" spc="-55"/>
              <a:t> </a:t>
            </a:r>
            <a:r>
              <a:rPr dirty="0" spc="-15"/>
              <a:t>journey!</a:t>
            </a: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</a:pPr>
            <a:r>
              <a:rPr dirty="0" spc="-20"/>
              <a:t>Wait!</a:t>
            </a:r>
            <a:r>
              <a:rPr dirty="0" spc="-50"/>
              <a:t> </a:t>
            </a:r>
            <a:r>
              <a:rPr dirty="0" spc="-20"/>
              <a:t>Don’t</a:t>
            </a:r>
            <a:r>
              <a:rPr dirty="0" spc="-50"/>
              <a:t> </a:t>
            </a:r>
            <a:r>
              <a:rPr dirty="0" spc="-30"/>
              <a:t>leave</a:t>
            </a:r>
            <a:r>
              <a:rPr dirty="0" spc="-50"/>
              <a:t> </a:t>
            </a:r>
            <a:r>
              <a:rPr dirty="0" spc="-10"/>
              <a:t>before</a:t>
            </a:r>
            <a:r>
              <a:rPr dirty="0" spc="-50"/>
              <a:t> </a:t>
            </a:r>
            <a:r>
              <a:rPr dirty="0" spc="-10"/>
              <a:t>you</a:t>
            </a:r>
            <a:r>
              <a:rPr dirty="0" spc="-50"/>
              <a:t> </a:t>
            </a:r>
            <a:r>
              <a:rPr dirty="0" spc="-25"/>
              <a:t>read</a:t>
            </a:r>
            <a:r>
              <a:rPr dirty="0" spc="-50"/>
              <a:t> </a:t>
            </a:r>
            <a:r>
              <a:rPr dirty="0" spc="20"/>
              <a:t>this</a:t>
            </a:r>
            <a:r>
              <a:rPr dirty="0" spc="-50"/>
              <a:t> </a:t>
            </a:r>
            <a:r>
              <a:rPr dirty="0" spc="5"/>
              <a:t>cautionary</a:t>
            </a:r>
            <a:r>
              <a:rPr dirty="0" spc="-50"/>
              <a:t> </a:t>
            </a:r>
            <a:r>
              <a:rPr dirty="0" spc="-80"/>
              <a:t>tale….</a:t>
            </a:r>
          </a:p>
          <a:p>
            <a:pPr marL="22225"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34925" marR="29209">
              <a:lnSpc>
                <a:spcPct val="104200"/>
              </a:lnSpc>
            </a:pPr>
            <a:r>
              <a:rPr dirty="0" spc="-5"/>
              <a:t>This</a:t>
            </a:r>
            <a:r>
              <a:rPr dirty="0" spc="-40"/>
              <a:t> </a:t>
            </a:r>
            <a:r>
              <a:rPr dirty="0" spc="10"/>
              <a:t>was</a:t>
            </a:r>
            <a:r>
              <a:rPr dirty="0" spc="-45"/>
              <a:t> </a:t>
            </a:r>
            <a:r>
              <a:rPr dirty="0" spc="-25"/>
              <a:t>a</a:t>
            </a:r>
            <a:r>
              <a:rPr dirty="0" spc="-45"/>
              <a:t> </a:t>
            </a:r>
            <a:r>
              <a:rPr dirty="0" spc="20"/>
              <a:t>time</a:t>
            </a:r>
            <a:r>
              <a:rPr dirty="0" spc="-45"/>
              <a:t> </a:t>
            </a:r>
            <a:r>
              <a:rPr dirty="0" spc="-5"/>
              <a:t>when</a:t>
            </a:r>
            <a:r>
              <a:rPr dirty="0" spc="-45"/>
              <a:t> </a:t>
            </a:r>
            <a:r>
              <a:rPr dirty="0" spc="5"/>
              <a:t>the</a:t>
            </a:r>
            <a:r>
              <a:rPr dirty="0" spc="-45"/>
              <a:t> </a:t>
            </a:r>
            <a:r>
              <a:rPr dirty="0" spc="-5"/>
              <a:t>social</a:t>
            </a:r>
            <a:r>
              <a:rPr dirty="0" spc="-40"/>
              <a:t> </a:t>
            </a:r>
            <a:r>
              <a:rPr dirty="0"/>
              <a:t>gaming</a:t>
            </a:r>
            <a:r>
              <a:rPr dirty="0" spc="-40"/>
              <a:t> </a:t>
            </a:r>
            <a:r>
              <a:rPr dirty="0" spc="-20"/>
              <a:t>wave</a:t>
            </a:r>
            <a:r>
              <a:rPr dirty="0" spc="-45"/>
              <a:t> </a:t>
            </a:r>
            <a:r>
              <a:rPr dirty="0" spc="10"/>
              <a:t>was</a:t>
            </a:r>
            <a:r>
              <a:rPr dirty="0" spc="-45"/>
              <a:t> </a:t>
            </a:r>
            <a:r>
              <a:rPr dirty="0" spc="-10"/>
              <a:t>sweeping</a:t>
            </a:r>
            <a:r>
              <a:rPr dirty="0" spc="-40"/>
              <a:t> </a:t>
            </a:r>
            <a:r>
              <a:rPr dirty="0" spc="5"/>
              <a:t>the</a:t>
            </a:r>
            <a:r>
              <a:rPr dirty="0" spc="-45"/>
              <a:t> </a:t>
            </a:r>
            <a:r>
              <a:rPr dirty="0"/>
              <a:t>world.</a:t>
            </a:r>
            <a:r>
              <a:rPr dirty="0" spc="-45"/>
              <a:t> </a:t>
            </a:r>
            <a:r>
              <a:rPr dirty="0" spc="-35"/>
              <a:t>Zynga,</a:t>
            </a:r>
            <a:r>
              <a:rPr dirty="0" spc="-40"/>
              <a:t> </a:t>
            </a:r>
            <a:r>
              <a:rPr dirty="0" spc="-25"/>
              <a:t>a</a:t>
            </a:r>
            <a:r>
              <a:rPr dirty="0" spc="-45"/>
              <a:t> </a:t>
            </a:r>
            <a:r>
              <a:rPr dirty="0" spc="-5"/>
              <a:t>social  </a:t>
            </a:r>
            <a:r>
              <a:rPr dirty="0" spc="5"/>
              <a:t>gaming </a:t>
            </a:r>
            <a:r>
              <a:rPr dirty="0" spc="35"/>
              <a:t>ﬁrm </a:t>
            </a:r>
            <a:r>
              <a:rPr dirty="0" spc="10"/>
              <a:t>saw </a:t>
            </a:r>
            <a:r>
              <a:rPr dirty="0" spc="25"/>
              <a:t>its </a:t>
            </a:r>
            <a:r>
              <a:rPr dirty="0" spc="-10"/>
              <a:t>user </a:t>
            </a:r>
            <a:r>
              <a:rPr dirty="0" spc="-15"/>
              <a:t>base </a:t>
            </a:r>
            <a:r>
              <a:rPr dirty="0" spc="-5"/>
              <a:t>skyrocket. </a:t>
            </a:r>
            <a:r>
              <a:rPr dirty="0" spc="-25"/>
              <a:t>The </a:t>
            </a:r>
            <a:r>
              <a:rPr dirty="0" spc="5"/>
              <a:t>company </a:t>
            </a:r>
            <a:r>
              <a:rPr dirty="0" spc="10"/>
              <a:t>was </a:t>
            </a:r>
            <a:r>
              <a:rPr dirty="0"/>
              <a:t>using </a:t>
            </a:r>
            <a:r>
              <a:rPr dirty="0" spc="-80"/>
              <a:t>AWS </a:t>
            </a:r>
            <a:r>
              <a:rPr dirty="0" spc="20"/>
              <a:t>for </a:t>
            </a:r>
            <a:r>
              <a:rPr dirty="0" spc="25"/>
              <a:t>its  </a:t>
            </a:r>
            <a:r>
              <a:rPr dirty="0" spc="-15"/>
              <a:t>services. </a:t>
            </a:r>
            <a:r>
              <a:rPr dirty="0"/>
              <a:t>Both </a:t>
            </a:r>
            <a:r>
              <a:rPr dirty="0" spc="-5"/>
              <a:t>surprised </a:t>
            </a:r>
            <a:r>
              <a:rPr dirty="0" spc="-10"/>
              <a:t>and </a:t>
            </a:r>
            <a:r>
              <a:rPr dirty="0" spc="-15"/>
              <a:t>pleased </a:t>
            </a:r>
            <a:r>
              <a:rPr dirty="0" spc="25"/>
              <a:t>with </a:t>
            </a:r>
            <a:r>
              <a:rPr dirty="0" spc="20"/>
              <a:t>its </a:t>
            </a:r>
            <a:r>
              <a:rPr dirty="0" spc="-5"/>
              <a:t>phenomenal </a:t>
            </a:r>
            <a:r>
              <a:rPr dirty="0" spc="-15"/>
              <a:t>success, </a:t>
            </a:r>
            <a:r>
              <a:rPr dirty="0" spc="20"/>
              <a:t>its </a:t>
            </a:r>
            <a:r>
              <a:rPr dirty="0" spc="15"/>
              <a:t>top </a:t>
            </a:r>
            <a:r>
              <a:rPr dirty="0" spc="-20"/>
              <a:t>manage-  </a:t>
            </a:r>
            <a:r>
              <a:rPr dirty="0" spc="15"/>
              <a:t>ment</a:t>
            </a:r>
            <a:r>
              <a:rPr dirty="0" spc="-45"/>
              <a:t> </a:t>
            </a:r>
            <a:r>
              <a:rPr dirty="0" spc="-10"/>
              <a:t>decided</a:t>
            </a:r>
            <a:r>
              <a:rPr dirty="0" spc="-50"/>
              <a:t> </a:t>
            </a:r>
            <a:r>
              <a:rPr dirty="0" spc="30"/>
              <a:t>it</a:t>
            </a:r>
            <a:r>
              <a:rPr dirty="0" spc="-45"/>
              <a:t> </a:t>
            </a:r>
            <a:r>
              <a:rPr dirty="0" spc="10"/>
              <a:t>was</a:t>
            </a:r>
            <a:r>
              <a:rPr dirty="0" spc="-45"/>
              <a:t> </a:t>
            </a:r>
            <a:r>
              <a:rPr dirty="0" spc="20"/>
              <a:t>time</a:t>
            </a:r>
            <a:r>
              <a:rPr dirty="0" spc="-45"/>
              <a:t> </a:t>
            </a:r>
            <a:r>
              <a:rPr dirty="0" spc="30"/>
              <a:t>to</a:t>
            </a:r>
            <a:r>
              <a:rPr dirty="0" spc="-45"/>
              <a:t> </a:t>
            </a:r>
            <a:r>
              <a:rPr dirty="0" spc="15"/>
              <a:t>ditch</a:t>
            </a:r>
            <a:r>
              <a:rPr dirty="0" spc="-45"/>
              <a:t> </a:t>
            </a:r>
            <a:r>
              <a:rPr dirty="0" spc="5"/>
              <a:t>the</a:t>
            </a:r>
            <a:r>
              <a:rPr dirty="0" spc="-45"/>
              <a:t> </a:t>
            </a:r>
            <a:r>
              <a:rPr dirty="0" spc="-10"/>
              <a:t>hired</a:t>
            </a:r>
            <a:r>
              <a:rPr dirty="0" spc="-45"/>
              <a:t> </a:t>
            </a:r>
            <a:r>
              <a:rPr dirty="0" spc="10"/>
              <a:t>accommodation.</a:t>
            </a:r>
            <a:r>
              <a:rPr dirty="0" spc="-55"/>
              <a:t> </a:t>
            </a:r>
            <a:r>
              <a:rPr dirty="0" spc="-25"/>
              <a:t>They</a:t>
            </a:r>
            <a:r>
              <a:rPr dirty="0" spc="-45"/>
              <a:t> </a:t>
            </a:r>
            <a:r>
              <a:rPr dirty="0" spc="5"/>
              <a:t>set</a:t>
            </a:r>
            <a:r>
              <a:rPr dirty="0" spc="-45"/>
              <a:t> </a:t>
            </a:r>
            <a:r>
              <a:rPr dirty="0" spc="20"/>
              <a:t>out</a:t>
            </a:r>
            <a:r>
              <a:rPr dirty="0" spc="-45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 spc="-15"/>
              <a:t>an</a:t>
            </a:r>
            <a:r>
              <a:rPr dirty="0" spc="-45"/>
              <a:t> </a:t>
            </a:r>
            <a:r>
              <a:rPr dirty="0" spc="-5"/>
              <a:t>ambi-  </a:t>
            </a:r>
            <a:r>
              <a:rPr dirty="0" spc="15"/>
              <a:t>tious</a:t>
            </a:r>
            <a:r>
              <a:rPr dirty="0" spc="-40"/>
              <a:t> </a:t>
            </a:r>
            <a:r>
              <a:rPr dirty="0" spc="-5"/>
              <a:t>plan</a:t>
            </a:r>
            <a:r>
              <a:rPr dirty="0" spc="-40"/>
              <a:t> </a:t>
            </a:r>
            <a:r>
              <a:rPr dirty="0" spc="30"/>
              <a:t>to</a:t>
            </a:r>
            <a:r>
              <a:rPr dirty="0" spc="-40"/>
              <a:t> </a:t>
            </a:r>
            <a:r>
              <a:rPr dirty="0"/>
              <a:t>build</a:t>
            </a:r>
            <a:r>
              <a:rPr dirty="0" spc="-40"/>
              <a:t> </a:t>
            </a:r>
            <a:r>
              <a:rPr dirty="0" spc="5"/>
              <a:t>their</a:t>
            </a:r>
            <a:r>
              <a:rPr dirty="0" spc="-40"/>
              <a:t> </a:t>
            </a:r>
            <a:r>
              <a:rPr dirty="0" spc="10"/>
              <a:t>own</a:t>
            </a:r>
            <a:r>
              <a:rPr dirty="0" spc="-40"/>
              <a:t> </a:t>
            </a:r>
            <a:r>
              <a:rPr dirty="0" spc="-5"/>
              <a:t>datacenters.</a:t>
            </a:r>
            <a:r>
              <a:rPr dirty="0" spc="-50"/>
              <a:t> </a:t>
            </a:r>
            <a:r>
              <a:rPr dirty="0"/>
              <a:t>But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5"/>
              <a:t>their</a:t>
            </a:r>
            <a:r>
              <a:rPr dirty="0" spc="-40"/>
              <a:t> </a:t>
            </a:r>
            <a:r>
              <a:rPr dirty="0"/>
              <a:t>excitement</a:t>
            </a:r>
            <a:r>
              <a:rPr dirty="0" spc="-35"/>
              <a:t> </a:t>
            </a:r>
            <a:r>
              <a:rPr dirty="0"/>
              <a:t>they</a:t>
            </a:r>
            <a:r>
              <a:rPr dirty="0" spc="-40"/>
              <a:t> </a:t>
            </a:r>
            <a:r>
              <a:rPr dirty="0" spc="20"/>
              <a:t>forgot</a:t>
            </a:r>
            <a:r>
              <a:rPr dirty="0" spc="-45"/>
              <a:t> </a:t>
            </a:r>
            <a:r>
              <a:rPr dirty="0" spc="35"/>
              <a:t>two</a:t>
            </a:r>
            <a:r>
              <a:rPr dirty="0" spc="-40"/>
              <a:t> </a:t>
            </a:r>
            <a:r>
              <a:rPr dirty="0" spc="15"/>
              <a:t>facts</a:t>
            </a:r>
            <a:r>
              <a:rPr dirty="0" spc="15">
                <a:latin typeface="Gill Sans MT"/>
                <a:cs typeface="Gill Sans MT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002" y="7837680"/>
            <a:ext cx="5513705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Wh</a:t>
            </a:r>
            <a:r>
              <a:rPr dirty="0" sz="1200" spc="-5">
                <a:solidFill>
                  <a:srgbClr val="231F20"/>
                </a:solidFill>
                <a:latin typeface="Gill Sans MT"/>
                <a:cs typeface="Gill Sans MT"/>
              </a:rPr>
              <a:t>ile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executives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at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Zynga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were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busy changing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strategy,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their customers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dirty="0" sz="1200" spc="-10">
                <a:solidFill>
                  <a:srgbClr val="231F20"/>
                </a:solidFill>
                <a:latin typeface="Gill Sans MT"/>
                <a:cs typeface="Gill Sans MT"/>
              </a:rPr>
              <a:t>re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busy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acquiring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new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preference,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love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mobile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gaming.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demand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Zynga’s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desktop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browser-based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games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soon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crashed.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Thankfully,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Zynga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could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abandon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plans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building datacenters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return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safe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conﬁnes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dirty="0" sz="1200" spc="-70">
                <a:solidFill>
                  <a:srgbClr val="231F20"/>
                </a:solidFill>
                <a:latin typeface="Arial"/>
                <a:cs typeface="Arial"/>
              </a:rPr>
              <a:t>AWS. 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was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after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dirty="0" sz="1200" spc="-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place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Zynga.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003" y="7130326"/>
            <a:ext cx="5071745" cy="593090"/>
          </a:xfrm>
          <a:prstGeom prst="rect">
            <a:avLst/>
          </a:prstGeom>
          <a:ln w="12699">
            <a:solidFill>
              <a:srgbClr val="383838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algn="ctr" marL="84455">
              <a:lnSpc>
                <a:spcPct val="100000"/>
              </a:lnSpc>
              <a:spcBef>
                <a:spcPts val="985"/>
              </a:spcBef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Consumer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loyalty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fickle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thing.</a:t>
            </a:r>
            <a:endParaRPr sz="1200">
              <a:latin typeface="Arial"/>
              <a:cs typeface="Arial"/>
            </a:endParaRPr>
          </a:p>
          <a:p>
            <a:pPr algn="ctr" marL="84455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next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big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disrupt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around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corner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81966" y="111467"/>
            <a:ext cx="438150" cy="2127885"/>
          </a:xfrm>
          <a:custGeom>
            <a:avLst/>
            <a:gdLst/>
            <a:ahLst/>
            <a:cxnLst/>
            <a:rect l="l" t="t" r="r" b="b"/>
            <a:pathLst>
              <a:path w="438150" h="2127885">
                <a:moveTo>
                  <a:pt x="199136" y="2126932"/>
                </a:moveTo>
                <a:lnTo>
                  <a:pt x="185064" y="2126932"/>
                </a:lnTo>
                <a:lnTo>
                  <a:pt x="186321" y="2127148"/>
                </a:lnTo>
                <a:lnTo>
                  <a:pt x="187680" y="2127313"/>
                </a:lnTo>
                <a:lnTo>
                  <a:pt x="193624" y="2127681"/>
                </a:lnTo>
                <a:lnTo>
                  <a:pt x="198143" y="2127217"/>
                </a:lnTo>
                <a:lnTo>
                  <a:pt x="199136" y="2126932"/>
                </a:lnTo>
                <a:close/>
              </a:path>
              <a:path w="438150" h="2127885">
                <a:moveTo>
                  <a:pt x="14655" y="2106066"/>
                </a:moveTo>
                <a:lnTo>
                  <a:pt x="5346" y="2107996"/>
                </a:lnTo>
                <a:lnTo>
                  <a:pt x="0" y="2114880"/>
                </a:lnTo>
                <a:lnTo>
                  <a:pt x="4902" y="2118525"/>
                </a:lnTo>
                <a:lnTo>
                  <a:pt x="48350" y="2123210"/>
                </a:lnTo>
                <a:lnTo>
                  <a:pt x="115081" y="2127133"/>
                </a:lnTo>
                <a:lnTo>
                  <a:pt x="146951" y="2127592"/>
                </a:lnTo>
                <a:lnTo>
                  <a:pt x="166236" y="2127424"/>
                </a:lnTo>
                <a:lnTo>
                  <a:pt x="185064" y="2126932"/>
                </a:lnTo>
                <a:lnTo>
                  <a:pt x="199136" y="2126932"/>
                </a:lnTo>
                <a:lnTo>
                  <a:pt x="201612" y="2126221"/>
                </a:lnTo>
                <a:lnTo>
                  <a:pt x="272578" y="2120141"/>
                </a:lnTo>
                <a:lnTo>
                  <a:pt x="307517" y="2114583"/>
                </a:lnTo>
                <a:lnTo>
                  <a:pt x="139611" y="2114583"/>
                </a:lnTo>
                <a:lnTo>
                  <a:pt x="102322" y="2113608"/>
                </a:lnTo>
                <a:lnTo>
                  <a:pt x="63525" y="2111173"/>
                </a:lnTo>
                <a:lnTo>
                  <a:pt x="23406" y="2107120"/>
                </a:lnTo>
                <a:lnTo>
                  <a:pt x="14655" y="2106066"/>
                </a:lnTo>
                <a:close/>
              </a:path>
              <a:path w="438150" h="2127885">
                <a:moveTo>
                  <a:pt x="200952" y="0"/>
                </a:moveTo>
                <a:lnTo>
                  <a:pt x="182638" y="0"/>
                </a:lnTo>
                <a:lnTo>
                  <a:pt x="175209" y="2921"/>
                </a:lnTo>
                <a:lnTo>
                  <a:pt x="175209" y="2114257"/>
                </a:lnTo>
                <a:lnTo>
                  <a:pt x="139611" y="2114583"/>
                </a:lnTo>
                <a:lnTo>
                  <a:pt x="307517" y="2114583"/>
                </a:lnTo>
                <a:lnTo>
                  <a:pt x="323460" y="2112048"/>
                </a:lnTo>
                <a:lnTo>
                  <a:pt x="219836" y="2112048"/>
                </a:lnTo>
                <a:lnTo>
                  <a:pt x="241659" y="2097591"/>
                </a:lnTo>
                <a:lnTo>
                  <a:pt x="250479" y="2093518"/>
                </a:lnTo>
                <a:lnTo>
                  <a:pt x="208368" y="2093518"/>
                </a:lnTo>
                <a:lnTo>
                  <a:pt x="208368" y="2921"/>
                </a:lnTo>
                <a:lnTo>
                  <a:pt x="200952" y="0"/>
                </a:lnTo>
                <a:close/>
              </a:path>
              <a:path w="438150" h="2127885">
                <a:moveTo>
                  <a:pt x="436709" y="2063851"/>
                </a:moveTo>
                <a:lnTo>
                  <a:pt x="397027" y="2063851"/>
                </a:lnTo>
                <a:lnTo>
                  <a:pt x="403491" y="2065070"/>
                </a:lnTo>
                <a:lnTo>
                  <a:pt x="406209" y="2067306"/>
                </a:lnTo>
                <a:lnTo>
                  <a:pt x="362226" y="2088209"/>
                </a:lnTo>
                <a:lnTo>
                  <a:pt x="324084" y="2097839"/>
                </a:lnTo>
                <a:lnTo>
                  <a:pt x="276237" y="2106122"/>
                </a:lnTo>
                <a:lnTo>
                  <a:pt x="219836" y="2112048"/>
                </a:lnTo>
                <a:lnTo>
                  <a:pt x="323460" y="2112048"/>
                </a:lnTo>
                <a:lnTo>
                  <a:pt x="380824" y="2098923"/>
                </a:lnTo>
                <a:lnTo>
                  <a:pt x="428070" y="2079480"/>
                </a:lnTo>
                <a:lnTo>
                  <a:pt x="438123" y="2066104"/>
                </a:lnTo>
                <a:lnTo>
                  <a:pt x="436709" y="2063851"/>
                </a:lnTo>
                <a:close/>
              </a:path>
              <a:path w="438150" h="2127885">
                <a:moveTo>
                  <a:pt x="379336" y="2050846"/>
                </a:moveTo>
                <a:lnTo>
                  <a:pt x="320947" y="2055335"/>
                </a:lnTo>
                <a:lnTo>
                  <a:pt x="273421" y="2065524"/>
                </a:lnTo>
                <a:lnTo>
                  <a:pt x="236111" y="2079043"/>
                </a:lnTo>
                <a:lnTo>
                  <a:pt x="208368" y="2093518"/>
                </a:lnTo>
                <a:lnTo>
                  <a:pt x="250479" y="2093518"/>
                </a:lnTo>
                <a:lnTo>
                  <a:pt x="275215" y="2082095"/>
                </a:lnTo>
                <a:lnTo>
                  <a:pt x="321238" y="2069532"/>
                </a:lnTo>
                <a:lnTo>
                  <a:pt x="380466" y="2063877"/>
                </a:lnTo>
                <a:lnTo>
                  <a:pt x="436709" y="2063851"/>
                </a:lnTo>
                <a:lnTo>
                  <a:pt x="434492" y="2060321"/>
                </a:lnTo>
                <a:lnTo>
                  <a:pt x="428497" y="2056833"/>
                </a:lnTo>
                <a:lnTo>
                  <a:pt x="418110" y="2053669"/>
                </a:lnTo>
                <a:lnTo>
                  <a:pt x="402125" y="2051462"/>
                </a:lnTo>
                <a:lnTo>
                  <a:pt x="379336" y="2050846"/>
                </a:lnTo>
                <a:close/>
              </a:path>
            </a:pathLst>
          </a:custGeom>
          <a:solidFill>
            <a:srgbClr val="D2D3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63566" y="2227198"/>
            <a:ext cx="2351633" cy="1675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83569" y="2247099"/>
            <a:ext cx="2331630" cy="1629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7620" y="2397404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135" y="0"/>
                </a:moveTo>
                <a:lnTo>
                  <a:pt x="96523" y="7194"/>
                </a:lnTo>
                <a:lnTo>
                  <a:pt x="57780" y="27229"/>
                </a:lnTo>
                <a:lnTo>
                  <a:pt x="27229" y="57780"/>
                </a:lnTo>
                <a:lnTo>
                  <a:pt x="7194" y="96523"/>
                </a:lnTo>
                <a:lnTo>
                  <a:pt x="0" y="141135"/>
                </a:lnTo>
                <a:lnTo>
                  <a:pt x="7194" y="185746"/>
                </a:lnTo>
                <a:lnTo>
                  <a:pt x="27229" y="224490"/>
                </a:lnTo>
                <a:lnTo>
                  <a:pt x="57780" y="255040"/>
                </a:lnTo>
                <a:lnTo>
                  <a:pt x="96523" y="275075"/>
                </a:lnTo>
                <a:lnTo>
                  <a:pt x="141135" y="282270"/>
                </a:lnTo>
                <a:lnTo>
                  <a:pt x="185749" y="275075"/>
                </a:lnTo>
                <a:lnTo>
                  <a:pt x="224499" y="255040"/>
                </a:lnTo>
                <a:lnTo>
                  <a:pt x="255057" y="224490"/>
                </a:lnTo>
                <a:lnTo>
                  <a:pt x="275098" y="185746"/>
                </a:lnTo>
                <a:lnTo>
                  <a:pt x="282295" y="141135"/>
                </a:lnTo>
                <a:lnTo>
                  <a:pt x="275098" y="96523"/>
                </a:lnTo>
                <a:lnTo>
                  <a:pt x="255057" y="57780"/>
                </a:lnTo>
                <a:lnTo>
                  <a:pt x="224499" y="27229"/>
                </a:lnTo>
                <a:lnTo>
                  <a:pt x="185749" y="7194"/>
                </a:lnTo>
                <a:lnTo>
                  <a:pt x="141135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07608" y="2397404"/>
            <a:ext cx="170815" cy="282575"/>
          </a:xfrm>
          <a:custGeom>
            <a:avLst/>
            <a:gdLst/>
            <a:ahLst/>
            <a:cxnLst/>
            <a:rect l="l" t="t" r="r" b="b"/>
            <a:pathLst>
              <a:path w="170814" h="282575">
                <a:moveTo>
                  <a:pt x="141135" y="0"/>
                </a:moveTo>
                <a:lnTo>
                  <a:pt x="96528" y="7194"/>
                </a:lnTo>
                <a:lnTo>
                  <a:pt x="57785" y="27229"/>
                </a:lnTo>
                <a:lnTo>
                  <a:pt x="27232" y="57780"/>
                </a:lnTo>
                <a:lnTo>
                  <a:pt x="7195" y="96523"/>
                </a:lnTo>
                <a:lnTo>
                  <a:pt x="0" y="141135"/>
                </a:lnTo>
                <a:lnTo>
                  <a:pt x="7195" y="185746"/>
                </a:lnTo>
                <a:lnTo>
                  <a:pt x="27232" y="224490"/>
                </a:lnTo>
                <a:lnTo>
                  <a:pt x="57785" y="255040"/>
                </a:lnTo>
                <a:lnTo>
                  <a:pt x="96528" y="275075"/>
                </a:lnTo>
                <a:lnTo>
                  <a:pt x="141135" y="282270"/>
                </a:lnTo>
                <a:lnTo>
                  <a:pt x="148609" y="282072"/>
                </a:lnTo>
                <a:lnTo>
                  <a:pt x="155979" y="281485"/>
                </a:lnTo>
                <a:lnTo>
                  <a:pt x="163243" y="280523"/>
                </a:lnTo>
                <a:lnTo>
                  <a:pt x="170395" y="279196"/>
                </a:lnTo>
                <a:lnTo>
                  <a:pt x="125945" y="261503"/>
                </a:lnTo>
                <a:lnTo>
                  <a:pt x="90476" y="230597"/>
                </a:lnTo>
                <a:lnTo>
                  <a:pt x="66991" y="189474"/>
                </a:lnTo>
                <a:lnTo>
                  <a:pt x="58496" y="141135"/>
                </a:lnTo>
                <a:lnTo>
                  <a:pt x="66991" y="92794"/>
                </a:lnTo>
                <a:lnTo>
                  <a:pt x="90476" y="51669"/>
                </a:lnTo>
                <a:lnTo>
                  <a:pt x="125945" y="20755"/>
                </a:lnTo>
                <a:lnTo>
                  <a:pt x="170395" y="3048"/>
                </a:lnTo>
                <a:lnTo>
                  <a:pt x="163243" y="1735"/>
                </a:lnTo>
                <a:lnTo>
                  <a:pt x="155979" y="781"/>
                </a:lnTo>
                <a:lnTo>
                  <a:pt x="148609" y="197"/>
                </a:lnTo>
                <a:lnTo>
                  <a:pt x="141135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48575" y="130086"/>
            <a:ext cx="285750" cy="1532890"/>
          </a:xfrm>
          <a:custGeom>
            <a:avLst/>
            <a:gdLst/>
            <a:ahLst/>
            <a:cxnLst/>
            <a:rect l="l" t="t" r="r" b="b"/>
            <a:pathLst>
              <a:path w="285750" h="1532889">
                <a:moveTo>
                  <a:pt x="129888" y="1531315"/>
                </a:moveTo>
                <a:lnTo>
                  <a:pt x="120700" y="1531315"/>
                </a:lnTo>
                <a:lnTo>
                  <a:pt x="121500" y="1531683"/>
                </a:lnTo>
                <a:lnTo>
                  <a:pt x="122402" y="1531950"/>
                </a:lnTo>
                <a:lnTo>
                  <a:pt x="126263" y="1532585"/>
                </a:lnTo>
                <a:lnTo>
                  <a:pt x="129197" y="1531823"/>
                </a:lnTo>
                <a:lnTo>
                  <a:pt x="129888" y="1531315"/>
                </a:lnTo>
                <a:close/>
              </a:path>
              <a:path w="285750" h="1532889">
                <a:moveTo>
                  <a:pt x="9550" y="1496695"/>
                </a:moveTo>
                <a:lnTo>
                  <a:pt x="3492" y="1499908"/>
                </a:lnTo>
                <a:lnTo>
                  <a:pt x="0" y="1511325"/>
                </a:lnTo>
                <a:lnTo>
                  <a:pt x="3213" y="1517383"/>
                </a:lnTo>
                <a:lnTo>
                  <a:pt x="53603" y="1529281"/>
                </a:lnTo>
                <a:lnTo>
                  <a:pt x="95834" y="1532420"/>
                </a:lnTo>
                <a:lnTo>
                  <a:pt x="104317" y="1532420"/>
                </a:lnTo>
                <a:lnTo>
                  <a:pt x="112610" y="1532039"/>
                </a:lnTo>
                <a:lnTo>
                  <a:pt x="120700" y="1531315"/>
                </a:lnTo>
                <a:lnTo>
                  <a:pt x="129888" y="1531315"/>
                </a:lnTo>
                <a:lnTo>
                  <a:pt x="131495" y="1530134"/>
                </a:lnTo>
                <a:lnTo>
                  <a:pt x="177762" y="1520052"/>
                </a:lnTo>
                <a:lnTo>
                  <a:pt x="200527" y="1510840"/>
                </a:lnTo>
                <a:lnTo>
                  <a:pt x="91048" y="1510840"/>
                </a:lnTo>
                <a:lnTo>
                  <a:pt x="66730" y="1509212"/>
                </a:lnTo>
                <a:lnTo>
                  <a:pt x="41429" y="1505167"/>
                </a:lnTo>
                <a:lnTo>
                  <a:pt x="15265" y="1498447"/>
                </a:lnTo>
                <a:lnTo>
                  <a:pt x="9550" y="1496695"/>
                </a:lnTo>
                <a:close/>
              </a:path>
              <a:path w="285750" h="1532889">
                <a:moveTo>
                  <a:pt x="131051" y="0"/>
                </a:moveTo>
                <a:lnTo>
                  <a:pt x="119100" y="0"/>
                </a:lnTo>
                <a:lnTo>
                  <a:pt x="114261" y="4851"/>
                </a:lnTo>
                <a:lnTo>
                  <a:pt x="114261" y="1510309"/>
                </a:lnTo>
                <a:lnTo>
                  <a:pt x="91048" y="1510840"/>
                </a:lnTo>
                <a:lnTo>
                  <a:pt x="200527" y="1510840"/>
                </a:lnTo>
                <a:lnTo>
                  <a:pt x="210971" y="1506613"/>
                </a:lnTo>
                <a:lnTo>
                  <a:pt x="143370" y="1506613"/>
                </a:lnTo>
                <a:lnTo>
                  <a:pt x="157601" y="1482636"/>
                </a:lnTo>
                <a:lnTo>
                  <a:pt x="163362" y="1475867"/>
                </a:lnTo>
                <a:lnTo>
                  <a:pt x="135890" y="1475867"/>
                </a:lnTo>
                <a:lnTo>
                  <a:pt x="135890" y="4851"/>
                </a:lnTo>
                <a:lnTo>
                  <a:pt x="131051" y="0"/>
                </a:lnTo>
                <a:close/>
              </a:path>
              <a:path w="285750" h="1532889">
                <a:moveTo>
                  <a:pt x="284794" y="1426641"/>
                </a:moveTo>
                <a:lnTo>
                  <a:pt x="258927" y="1426641"/>
                </a:lnTo>
                <a:lnTo>
                  <a:pt x="263131" y="1428673"/>
                </a:lnTo>
                <a:lnTo>
                  <a:pt x="264909" y="1432382"/>
                </a:lnTo>
                <a:lnTo>
                  <a:pt x="236219" y="1467080"/>
                </a:lnTo>
                <a:lnTo>
                  <a:pt x="180144" y="1496791"/>
                </a:lnTo>
                <a:lnTo>
                  <a:pt x="143370" y="1506613"/>
                </a:lnTo>
                <a:lnTo>
                  <a:pt x="210971" y="1506613"/>
                </a:lnTo>
                <a:lnTo>
                  <a:pt x="248346" y="1484849"/>
                </a:lnTo>
                <a:lnTo>
                  <a:pt x="279161" y="1452584"/>
                </a:lnTo>
                <a:lnTo>
                  <a:pt x="285720" y="1430389"/>
                </a:lnTo>
                <a:lnTo>
                  <a:pt x="284794" y="1426641"/>
                </a:lnTo>
                <a:close/>
              </a:path>
              <a:path w="285750" h="1532889">
                <a:moveTo>
                  <a:pt x="247370" y="1405064"/>
                </a:moveTo>
                <a:lnTo>
                  <a:pt x="209302" y="1412516"/>
                </a:lnTo>
                <a:lnTo>
                  <a:pt x="178314" y="1429426"/>
                </a:lnTo>
                <a:lnTo>
                  <a:pt x="153983" y="1451856"/>
                </a:lnTo>
                <a:lnTo>
                  <a:pt x="135890" y="1475867"/>
                </a:lnTo>
                <a:lnTo>
                  <a:pt x="163362" y="1475867"/>
                </a:lnTo>
                <a:lnTo>
                  <a:pt x="179484" y="1456921"/>
                </a:lnTo>
                <a:lnTo>
                  <a:pt x="209494" y="1436069"/>
                </a:lnTo>
                <a:lnTo>
                  <a:pt x="248107" y="1426679"/>
                </a:lnTo>
                <a:lnTo>
                  <a:pt x="250151" y="1426641"/>
                </a:lnTo>
                <a:lnTo>
                  <a:pt x="284794" y="1426641"/>
                </a:lnTo>
                <a:lnTo>
                  <a:pt x="283349" y="1420799"/>
                </a:lnTo>
                <a:lnTo>
                  <a:pt x="279437" y="1415010"/>
                </a:lnTo>
                <a:lnTo>
                  <a:pt x="272661" y="1409755"/>
                </a:lnTo>
                <a:lnTo>
                  <a:pt x="262234" y="1406089"/>
                </a:lnTo>
                <a:lnTo>
                  <a:pt x="247370" y="1405064"/>
                </a:lnTo>
                <a:close/>
              </a:path>
            </a:pathLst>
          </a:custGeom>
          <a:solidFill>
            <a:srgbClr val="D2D3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8327" y="1804593"/>
            <a:ext cx="1751491" cy="1083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6176" y="1671396"/>
            <a:ext cx="1751495" cy="1083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8823" y="1684273"/>
            <a:ext cx="2078341" cy="11904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65299" y="1765757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92049" y="0"/>
                </a:moveTo>
                <a:lnTo>
                  <a:pt x="56219" y="7233"/>
                </a:lnTo>
                <a:lnTo>
                  <a:pt x="26960" y="26958"/>
                </a:lnTo>
                <a:lnTo>
                  <a:pt x="7233" y="56214"/>
                </a:lnTo>
                <a:lnTo>
                  <a:pt x="0" y="92036"/>
                </a:lnTo>
                <a:lnTo>
                  <a:pt x="7233" y="127866"/>
                </a:lnTo>
                <a:lnTo>
                  <a:pt x="26960" y="157125"/>
                </a:lnTo>
                <a:lnTo>
                  <a:pt x="56219" y="176852"/>
                </a:lnTo>
                <a:lnTo>
                  <a:pt x="92049" y="184086"/>
                </a:lnTo>
                <a:lnTo>
                  <a:pt x="127877" y="176852"/>
                </a:lnTo>
                <a:lnTo>
                  <a:pt x="157132" y="157125"/>
                </a:lnTo>
                <a:lnTo>
                  <a:pt x="176854" y="127866"/>
                </a:lnTo>
                <a:lnTo>
                  <a:pt x="184086" y="92036"/>
                </a:lnTo>
                <a:lnTo>
                  <a:pt x="176854" y="56214"/>
                </a:lnTo>
                <a:lnTo>
                  <a:pt x="157132" y="26958"/>
                </a:lnTo>
                <a:lnTo>
                  <a:pt x="127877" y="7233"/>
                </a:lnTo>
                <a:lnTo>
                  <a:pt x="92049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65296" y="1765757"/>
            <a:ext cx="111125" cy="184150"/>
          </a:xfrm>
          <a:custGeom>
            <a:avLst/>
            <a:gdLst/>
            <a:ahLst/>
            <a:cxnLst/>
            <a:rect l="l" t="t" r="r" b="b"/>
            <a:pathLst>
              <a:path w="111125" h="184150">
                <a:moveTo>
                  <a:pt x="98590" y="0"/>
                </a:moveTo>
                <a:lnTo>
                  <a:pt x="92049" y="0"/>
                </a:lnTo>
                <a:lnTo>
                  <a:pt x="56224" y="7233"/>
                </a:lnTo>
                <a:lnTo>
                  <a:pt x="26965" y="26958"/>
                </a:lnTo>
                <a:lnTo>
                  <a:pt x="7235" y="56214"/>
                </a:lnTo>
                <a:lnTo>
                  <a:pt x="0" y="92036"/>
                </a:lnTo>
                <a:lnTo>
                  <a:pt x="7235" y="127866"/>
                </a:lnTo>
                <a:lnTo>
                  <a:pt x="26965" y="157125"/>
                </a:lnTo>
                <a:lnTo>
                  <a:pt x="56224" y="176852"/>
                </a:lnTo>
                <a:lnTo>
                  <a:pt x="92049" y="184086"/>
                </a:lnTo>
                <a:lnTo>
                  <a:pt x="98590" y="184086"/>
                </a:lnTo>
                <a:lnTo>
                  <a:pt x="104965" y="183375"/>
                </a:lnTo>
                <a:lnTo>
                  <a:pt x="111125" y="182079"/>
                </a:lnTo>
                <a:lnTo>
                  <a:pt x="82133" y="170535"/>
                </a:lnTo>
                <a:lnTo>
                  <a:pt x="59002" y="150374"/>
                </a:lnTo>
                <a:lnTo>
                  <a:pt x="43689" y="123554"/>
                </a:lnTo>
                <a:lnTo>
                  <a:pt x="38150" y="92036"/>
                </a:lnTo>
                <a:lnTo>
                  <a:pt x="43689" y="60521"/>
                </a:lnTo>
                <a:lnTo>
                  <a:pt x="59002" y="33705"/>
                </a:lnTo>
                <a:lnTo>
                  <a:pt x="82133" y="13548"/>
                </a:lnTo>
                <a:lnTo>
                  <a:pt x="111125" y="2006"/>
                </a:lnTo>
                <a:lnTo>
                  <a:pt x="104965" y="711"/>
                </a:lnTo>
                <a:lnTo>
                  <a:pt x="98590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0"/>
            <a:ext cx="7315200" cy="18496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0"/>
            <a:ext cx="7315200" cy="17717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004" y="1454213"/>
            <a:ext cx="5512435" cy="3327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5">
                <a:solidFill>
                  <a:srgbClr val="2C99CF"/>
                </a:solidFill>
                <a:latin typeface="Arial"/>
                <a:cs typeface="Arial"/>
              </a:rPr>
              <a:t>Annexure</a:t>
            </a:r>
            <a:r>
              <a:rPr dirty="0" sz="1850" spc="-15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30">
                <a:solidFill>
                  <a:srgbClr val="2C99CF"/>
                </a:solidFill>
                <a:latin typeface="Arial"/>
                <a:cs typeface="Arial"/>
              </a:rPr>
              <a:t>A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400" spc="-65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building-block</a:t>
            </a:r>
            <a:r>
              <a:rPr dirty="0" sz="1400" spc="-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products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308610">
              <a:lnSpc>
                <a:spcPct val="1000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Elastic Compute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</a:t>
            </a:r>
            <a:r>
              <a:rPr dirty="0" sz="1200" spc="-1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endParaRPr sz="1200">
              <a:latin typeface="Arial"/>
              <a:cs typeface="Arial"/>
            </a:endParaRPr>
          </a:p>
          <a:p>
            <a:pPr marL="308610" marR="126364">
              <a:lnSpc>
                <a:spcPct val="2083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Simple Storage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Amazon Elastic Block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Store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2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storage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75">
                <a:solidFill>
                  <a:srgbClr val="231F20"/>
                </a:solidFill>
                <a:latin typeface="Arial"/>
                <a:cs typeface="Arial"/>
              </a:rPr>
              <a:t>VPC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302895">
              <a:lnSpc>
                <a:spcPct val="100000"/>
              </a:lnSpc>
            </a:pP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Amazon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RDS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Amazon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DynamoDB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200" spc="-1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databases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4200"/>
              </a:lnSpc>
              <a:spcBef>
                <a:spcPts val="5"/>
              </a:spcBef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Higher-level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building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block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built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services.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These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can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range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service 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(PaaS),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such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dirty="0" sz="1200" spc="-80">
                <a:solidFill>
                  <a:srgbClr val="231F20"/>
                </a:solidFill>
                <a:latin typeface="Arial"/>
                <a:cs typeface="Arial"/>
              </a:rPr>
              <a:t>AWS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Elastic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Beanstalk,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 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more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abstract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services,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such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as Amazon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Kinesis.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1745" y="273400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1745" y="312234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1745" y="350072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745" y="389704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7702" y="4973904"/>
            <a:ext cx="5803265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4191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330"/>
              </a:spcBef>
            </a:pP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702" y="7027062"/>
            <a:ext cx="5803265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41910" rIns="0" bIns="0" rtlCol="0" vert="horz">
            <a:spAutoFit/>
          </a:bodyPr>
          <a:lstStyle/>
          <a:p>
            <a:pPr marL="1720850">
              <a:lnSpc>
                <a:spcPct val="100000"/>
              </a:lnSpc>
              <a:spcBef>
                <a:spcPts val="330"/>
              </a:spcBef>
            </a:pP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7715" y="5448300"/>
            <a:ext cx="1856739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730"/>
              </a:spcBef>
            </a:pP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AWS </a:t>
            </a:r>
            <a:r>
              <a:rPr dirty="0" sz="1200" spc="15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2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9958" y="5448300"/>
            <a:ext cx="1856739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730"/>
              </a:spcBef>
            </a:pP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AWS </a:t>
            </a:r>
            <a:r>
              <a:rPr dirty="0" sz="1200" spc="15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2203" y="5448300"/>
            <a:ext cx="1898650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AWS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2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7715" y="5930900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123189" rIns="0" bIns="0" rtlCol="0" vert="horz">
            <a:spAutoFit/>
          </a:bodyPr>
          <a:lstStyle/>
          <a:p>
            <a:pPr algn="ctr" marL="250825" marR="240029" indent="-635">
              <a:lnSpc>
                <a:spcPct val="104200"/>
              </a:lnSpc>
              <a:spcBef>
                <a:spcPts val="969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</a:t>
            </a:r>
            <a:r>
              <a:rPr dirty="0" sz="12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EC2  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AWS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Elastic 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Beenstalk  Amazon</a:t>
            </a:r>
            <a:r>
              <a:rPr dirty="0" sz="12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FFFFFF"/>
                </a:solidFill>
                <a:latin typeface="Arial"/>
                <a:cs typeface="Arial"/>
              </a:rPr>
              <a:t>ECS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41321" y="5930900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236220" marR="254000" indent="50165">
              <a:lnSpc>
                <a:spcPct val="104200"/>
              </a:lnSpc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S3 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</a:t>
            </a:r>
            <a:r>
              <a:rPr dirty="0" sz="12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Arial"/>
                <a:cs typeface="Arial"/>
              </a:rPr>
              <a:t>EBS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4940" y="5930900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78740" marR="38100" indent="-635">
              <a:lnSpc>
                <a:spcPct val="104200"/>
              </a:lnSpc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 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VPC 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 Route </a:t>
            </a:r>
            <a:r>
              <a:rPr dirty="0" sz="1200" spc="5">
                <a:solidFill>
                  <a:srgbClr val="FFFFFF"/>
                </a:solidFill>
                <a:latin typeface="Arial"/>
                <a:cs typeface="Arial"/>
              </a:rPr>
              <a:t>53 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</a:t>
            </a:r>
            <a:r>
              <a:rPr dirty="0" sz="12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"/>
                <a:cs typeface="Arial"/>
              </a:rPr>
              <a:t>ELB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8559" y="5930900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 marL="6985" indent="234315">
              <a:lnSpc>
                <a:spcPct val="104200"/>
              </a:lnSpc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 </a:t>
            </a:r>
            <a:r>
              <a:rPr dirty="0" sz="1200" spc="-70">
                <a:solidFill>
                  <a:srgbClr val="FFFFFF"/>
                </a:solidFill>
                <a:latin typeface="Arial"/>
                <a:cs typeface="Arial"/>
              </a:rPr>
              <a:t>RDS 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Amazon</a:t>
            </a:r>
            <a:r>
              <a:rPr dirty="0" sz="12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DynamoDB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097" y="1454213"/>
            <a:ext cx="5276850" cy="313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5">
                <a:solidFill>
                  <a:srgbClr val="2C99CF"/>
                </a:solidFill>
                <a:latin typeface="Arial"/>
                <a:cs typeface="Arial"/>
              </a:rPr>
              <a:t>Google </a:t>
            </a:r>
            <a:r>
              <a:rPr dirty="0" sz="1850" spc="-10">
                <a:solidFill>
                  <a:srgbClr val="2C99CF"/>
                </a:solidFill>
                <a:latin typeface="Arial"/>
                <a:cs typeface="Arial"/>
              </a:rPr>
              <a:t>Cloud </a:t>
            </a:r>
            <a:r>
              <a:rPr dirty="0" sz="1850" spc="50">
                <a:solidFill>
                  <a:srgbClr val="2C99CF"/>
                </a:solidFill>
                <a:latin typeface="Arial"/>
                <a:cs typeface="Arial"/>
              </a:rPr>
              <a:t>Platform </a:t>
            </a:r>
            <a:r>
              <a:rPr dirty="0" sz="1850" spc="25">
                <a:solidFill>
                  <a:srgbClr val="2C99CF"/>
                </a:solidFill>
                <a:latin typeface="Arial"/>
                <a:cs typeface="Arial"/>
              </a:rPr>
              <a:t>building-block</a:t>
            </a:r>
            <a:r>
              <a:rPr dirty="0" sz="1850" spc="-26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services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Platform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Compute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App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Engine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virtual</a:t>
            </a:r>
            <a:r>
              <a:rPr dirty="0" sz="1200" spc="-229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compute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71780" marR="5080" indent="-1270">
              <a:lnSpc>
                <a:spcPct val="104200"/>
              </a:lnSpc>
              <a:spcBef>
                <a:spcPts val="5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Storage,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which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allows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store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large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or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unstructured</a:t>
            </a:r>
            <a:r>
              <a:rPr dirty="0" sz="1200" spc="-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data  objects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65">
                <a:solidFill>
                  <a:srgbClr val="231F20"/>
                </a:solidFill>
                <a:latin typeface="Arial"/>
                <a:cs typeface="Arial"/>
              </a:rPr>
              <a:t>DNS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Interconnect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networking</a:t>
            </a:r>
            <a:r>
              <a:rPr dirty="0" sz="1200" spc="-1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34315" marR="111760" indent="3810">
              <a:lnSpc>
                <a:spcPct val="104200"/>
              </a:lnSpc>
              <a:spcBef>
                <a:spcPts val="5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90">
                <a:solidFill>
                  <a:srgbClr val="231F20"/>
                </a:solidFill>
                <a:latin typeface="Arial"/>
                <a:cs typeface="Arial"/>
              </a:rPr>
              <a:t>SQL,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Datastore,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Bigtable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databases.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302260">
              <a:lnSpc>
                <a:spcPct val="104200"/>
              </a:lnSpc>
              <a:spcBef>
                <a:spcPts val="5"/>
              </a:spcBef>
            </a:pP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AWS,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231F20"/>
                </a:solidFill>
                <a:latin typeface="Arial"/>
                <a:cs typeface="Arial"/>
              </a:rPr>
              <a:t>GCP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too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layers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number</a:t>
            </a:r>
            <a:r>
              <a:rPr dirty="0" sz="1200" spc="-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higher-level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15">
                <a:solidFill>
                  <a:srgbClr val="231F20"/>
                </a:solidFill>
                <a:latin typeface="Arial"/>
                <a:cs typeface="Arial"/>
              </a:rPr>
              <a:t>top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3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200" spc="-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these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fundamental</a:t>
            </a:r>
            <a:r>
              <a:rPr dirty="0" sz="1200" spc="-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ones.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097" y="7434582"/>
            <a:ext cx="5455285" cy="585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higher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level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services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offered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by </a:t>
            </a:r>
            <a:r>
              <a:rPr dirty="0" sz="1200" spc="-3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dirty="0" sz="1200" spc="-20">
                <a:solidFill>
                  <a:srgbClr val="231F20"/>
                </a:solidFill>
                <a:latin typeface="Arial"/>
                <a:cs typeface="Arial"/>
              </a:rPr>
              <a:t>include: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Stackdriver </a:t>
            </a:r>
            <a:r>
              <a:rPr dirty="0" sz="1200" spc="20">
                <a:solidFill>
                  <a:srgbClr val="231F20"/>
                </a:solidFill>
                <a:latin typeface="Arial"/>
                <a:cs typeface="Arial"/>
              </a:rPr>
              <a:t>for </a:t>
            </a:r>
            <a:r>
              <a:rPr dirty="0" sz="1200" spc="10">
                <a:solidFill>
                  <a:srgbClr val="231F20"/>
                </a:solidFill>
                <a:latin typeface="Arial"/>
                <a:cs typeface="Arial"/>
              </a:rPr>
              <a:t>monitoring  </a:t>
            </a:r>
            <a:r>
              <a:rPr dirty="0" sz="1200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operations,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dirty="0" sz="1200" spc="-25">
                <a:solidFill>
                  <a:srgbClr val="231F20"/>
                </a:solidFill>
                <a:latin typeface="Arial"/>
                <a:cs typeface="Arial"/>
              </a:rPr>
              <a:t>Cloud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Deployment </a:t>
            </a:r>
            <a:r>
              <a:rPr dirty="0" sz="1200" spc="-10">
                <a:solidFill>
                  <a:srgbClr val="231F20"/>
                </a:solidFill>
                <a:latin typeface="Arial"/>
                <a:cs typeface="Arial"/>
              </a:rPr>
              <a:t>manager and </a:t>
            </a:r>
            <a:r>
              <a:rPr dirty="0" sz="1200" spc="-35">
                <a:solidFill>
                  <a:srgbClr val="231F20"/>
                </a:solidFill>
                <a:latin typeface="Arial"/>
                <a:cs typeface="Arial"/>
              </a:rPr>
              <a:t>Google’s </a:t>
            </a:r>
            <a:r>
              <a:rPr dirty="0" sz="1200" spc="-5">
                <a:solidFill>
                  <a:srgbClr val="231F20"/>
                </a:solidFill>
                <a:latin typeface="Arial"/>
                <a:cs typeface="Arial"/>
              </a:rPr>
              <a:t>Machine</a:t>
            </a:r>
            <a:r>
              <a:rPr dirty="0" sz="1200" spc="-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31F20"/>
                </a:solidFill>
                <a:latin typeface="Arial"/>
                <a:cs typeface="Arial"/>
              </a:rPr>
              <a:t>Learning  </a:t>
            </a:r>
            <a:r>
              <a:rPr dirty="0" sz="1200" spc="5">
                <a:solidFill>
                  <a:srgbClr val="231F20"/>
                </a:solidFill>
                <a:latin typeface="Arial"/>
                <a:cs typeface="Arial"/>
              </a:rPr>
              <a:t>Platform.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708" y="235967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7708" y="273817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7708" y="328502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7708" y="36812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41821" y="0"/>
                </a:moveTo>
                <a:lnTo>
                  <a:pt x="25540" y="3285"/>
                </a:lnTo>
                <a:lnTo>
                  <a:pt x="12247" y="12245"/>
                </a:lnTo>
                <a:lnTo>
                  <a:pt x="3285" y="25535"/>
                </a:lnTo>
                <a:lnTo>
                  <a:pt x="0" y="41808"/>
                </a:lnTo>
                <a:lnTo>
                  <a:pt x="3285" y="58081"/>
                </a:lnTo>
                <a:lnTo>
                  <a:pt x="12247" y="71370"/>
                </a:lnTo>
                <a:lnTo>
                  <a:pt x="25540" y="80331"/>
                </a:lnTo>
                <a:lnTo>
                  <a:pt x="41821" y="83616"/>
                </a:lnTo>
                <a:lnTo>
                  <a:pt x="58094" y="80331"/>
                </a:lnTo>
                <a:lnTo>
                  <a:pt x="71383" y="71370"/>
                </a:lnTo>
                <a:lnTo>
                  <a:pt x="80343" y="58081"/>
                </a:lnTo>
                <a:lnTo>
                  <a:pt x="83629" y="41808"/>
                </a:lnTo>
                <a:lnTo>
                  <a:pt x="80343" y="25535"/>
                </a:lnTo>
                <a:lnTo>
                  <a:pt x="71383" y="12245"/>
                </a:lnTo>
                <a:lnTo>
                  <a:pt x="58094" y="3285"/>
                </a:lnTo>
                <a:lnTo>
                  <a:pt x="418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8781" y="4694516"/>
            <a:ext cx="5803265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4191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330"/>
              </a:spcBef>
            </a:pP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8781" y="6747688"/>
            <a:ext cx="5803265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41910" rIns="0" bIns="0" rtlCol="0" vert="horz">
            <a:spAutoFit/>
          </a:bodyPr>
          <a:lstStyle/>
          <a:p>
            <a:pPr marL="1720850">
              <a:lnSpc>
                <a:spcPct val="100000"/>
              </a:lnSpc>
              <a:spcBef>
                <a:spcPts val="330"/>
              </a:spcBef>
            </a:pP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794" y="5168912"/>
            <a:ext cx="1856739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730"/>
              </a:spcBef>
            </a:pPr>
            <a:r>
              <a:rPr dirty="0" sz="1200" spc="-90">
                <a:solidFill>
                  <a:srgbClr val="FFFFFF"/>
                </a:solidFill>
                <a:latin typeface="Arial"/>
                <a:cs typeface="Arial"/>
              </a:rPr>
              <a:t>GCB </a:t>
            </a:r>
            <a:r>
              <a:rPr dirty="0" sz="1200" spc="15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1038" y="5168912"/>
            <a:ext cx="1856739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730"/>
              </a:spcBef>
            </a:pPr>
            <a:r>
              <a:rPr dirty="0" sz="1200" spc="-90">
                <a:solidFill>
                  <a:srgbClr val="FFFFFF"/>
                </a:solidFill>
                <a:latin typeface="Arial"/>
                <a:cs typeface="Arial"/>
              </a:rPr>
              <a:t>GCB </a:t>
            </a:r>
            <a:r>
              <a:rPr dirty="0" sz="1200" spc="15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3282" y="5168912"/>
            <a:ext cx="1898650" cy="381000"/>
          </a:xfrm>
          <a:prstGeom prst="rect">
            <a:avLst/>
          </a:prstGeom>
          <a:solidFill>
            <a:srgbClr val="2C99CF"/>
          </a:solidFill>
        </p:spPr>
        <p:txBody>
          <a:bodyPr wrap="square" lIns="0" tIns="927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730"/>
              </a:spcBef>
            </a:pPr>
            <a:r>
              <a:rPr dirty="0" sz="1200" spc="-90">
                <a:solidFill>
                  <a:srgbClr val="FFFFFF"/>
                </a:solidFill>
                <a:latin typeface="Arial"/>
                <a:cs typeface="Arial"/>
              </a:rPr>
              <a:t>GCB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794" y="5651512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900" spc="15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dirty="0" sz="9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120"/>
              </a:spcBef>
            </a:pP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dirty="0" sz="12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1200">
              <a:latin typeface="Arial"/>
              <a:cs typeface="Arial"/>
            </a:endParaRPr>
          </a:p>
          <a:p>
            <a:pPr marL="64135">
              <a:lnSpc>
                <a:spcPct val="100000"/>
              </a:lnSpc>
              <a:spcBef>
                <a:spcPts val="36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900" spc="1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r>
              <a:rPr dirty="0" sz="9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2400" y="5651512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417195" marR="245745" indent="-189230">
              <a:lnSpc>
                <a:spcPct val="104200"/>
              </a:lnSpc>
            </a:pP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Google</a:t>
            </a:r>
            <a:r>
              <a:rPr dirty="0" sz="12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"/>
                <a:cs typeface="Arial"/>
              </a:rPr>
              <a:t>cloud  </a:t>
            </a:r>
            <a:r>
              <a:rPr dirty="0" sz="1200" spc="15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6020" y="5651512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86360" marR="45720">
              <a:lnSpc>
                <a:spcPct val="104200"/>
              </a:lnSpc>
            </a:pP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200" spc="2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2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DNS  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200" spc="20">
                <a:solidFill>
                  <a:srgbClr val="FFFFFF"/>
                </a:solidFill>
                <a:latin typeface="Arial"/>
                <a:cs typeface="Arial"/>
              </a:rPr>
              <a:t>cloud  interconnect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9639" y="5651512"/>
            <a:ext cx="1382395" cy="1011555"/>
          </a:xfrm>
          <a:prstGeom prst="rect">
            <a:avLst/>
          </a:prstGeom>
          <a:solidFill>
            <a:srgbClr val="2C99C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5"/>
              </a:spcBef>
            </a:pP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200" spc="2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2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SGL</a:t>
            </a:r>
            <a:endParaRPr sz="1200">
              <a:latin typeface="Arial"/>
              <a:cs typeface="Arial"/>
            </a:endParaRPr>
          </a:p>
          <a:p>
            <a:pPr marL="127635" marR="59690" indent="-60325">
              <a:lnSpc>
                <a:spcPts val="1500"/>
              </a:lnSpc>
              <a:spcBef>
                <a:spcPts val="6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900" spc="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900" spc="-5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9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Store 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900" spc="15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9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FFFFFF"/>
                </a:solidFill>
                <a:latin typeface="Arial"/>
                <a:cs typeface="Arial"/>
              </a:rPr>
              <a:t>Bigtable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7753" y="1953488"/>
          <a:ext cx="5782945" cy="7190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007"/>
                <a:gridCol w="1234052"/>
                <a:gridCol w="1569237"/>
                <a:gridCol w="1665363"/>
              </a:tblGrid>
              <a:tr h="5934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r>
                        <a:rPr dirty="0" sz="1100" spc="-5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Category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6188C5"/>
                      </a:solidFill>
                      <a:prstDash val="solid"/>
                    </a:lnL>
                    <a:lnR w="8610">
                      <a:solidFill>
                        <a:srgbClr val="6188C5"/>
                      </a:solidFill>
                      <a:prstDash val="solid"/>
                    </a:lnR>
                    <a:lnT w="8597">
                      <a:solidFill>
                        <a:srgbClr val="6188C5"/>
                      </a:solidFill>
                      <a:prstDash val="solid"/>
                    </a:lnT>
                    <a:lnB w="8597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6188C5"/>
                      </a:solidFill>
                      <a:prstDash val="solid"/>
                    </a:lnL>
                    <a:lnR w="8597">
                      <a:solidFill>
                        <a:srgbClr val="6188C5"/>
                      </a:solidFill>
                      <a:prstDash val="solid"/>
                    </a:lnR>
                    <a:lnT w="8597">
                      <a:solidFill>
                        <a:srgbClr val="6188C5"/>
                      </a:solidFill>
                      <a:prstDash val="solid"/>
                    </a:lnT>
                    <a:lnB w="8597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AWS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6188C5"/>
                      </a:solidFill>
                      <a:prstDash val="solid"/>
                    </a:lnL>
                    <a:lnR w="8597">
                      <a:solidFill>
                        <a:srgbClr val="6188C5"/>
                      </a:solidFill>
                      <a:prstDash val="solid"/>
                    </a:lnR>
                    <a:lnT w="8597">
                      <a:solidFill>
                        <a:srgbClr val="6188C5"/>
                      </a:solidFill>
                      <a:prstDash val="solid"/>
                    </a:lnT>
                    <a:lnB w="8597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7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Platform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6188C5"/>
                      </a:solidFill>
                      <a:prstDash val="solid"/>
                    </a:lnL>
                    <a:lnR w="8597">
                      <a:solidFill>
                        <a:srgbClr val="6188C5"/>
                      </a:solidFill>
                      <a:prstDash val="solid"/>
                    </a:lnR>
                    <a:lnT w="8597">
                      <a:solidFill>
                        <a:srgbClr val="6188C5"/>
                      </a:solidFill>
                      <a:prstDash val="solid"/>
                    </a:lnT>
                    <a:lnB w="8597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</a:tr>
              <a:tr h="856856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Compute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54444">
                      <a:solidFill>
                        <a:srgbClr val="6698D1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IaaS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54444">
                      <a:solidFill>
                        <a:srgbClr val="6698D1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6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Compute</a:t>
                      </a:r>
                      <a:r>
                        <a:rPr dirty="0" sz="1100" spc="-8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54444">
                      <a:solidFill>
                        <a:srgbClr val="6698D1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Compute</a:t>
                      </a:r>
                      <a:r>
                        <a:rPr dirty="0" sz="1100" spc="-5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Engine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54444">
                      <a:solidFill>
                        <a:srgbClr val="6698D1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593204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PaaS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AWS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r>
                        <a:rPr dirty="0" sz="1100" spc="-7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Beanstalk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App</a:t>
                      </a:r>
                      <a:r>
                        <a:rPr dirty="0" sz="1100" spc="-6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Engine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1119441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Containers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6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 marR="422909">
                        <a:lnSpc>
                          <a:spcPct val="156400"/>
                        </a:lnSpc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Compute Cloud  Container</a:t>
                      </a:r>
                      <a:r>
                        <a:rPr dirty="0" sz="1100" spc="-5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Container</a:t>
                      </a:r>
                      <a:r>
                        <a:rPr dirty="0" sz="1100" spc="-4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Engine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5421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Network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Load</a:t>
                      </a:r>
                      <a:r>
                        <a:rPr dirty="0" sz="1100" spc="-7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Balancer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Load</a:t>
                      </a:r>
                      <a:r>
                        <a:rPr dirty="0" sz="1100" spc="-6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Balancer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6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Load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Balancing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7097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Peering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Direct</a:t>
                      </a:r>
                      <a:r>
                        <a:rPr dirty="0" sz="1100" spc="-6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Connect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</a:t>
                      </a:r>
                      <a:r>
                        <a:rPr dirty="0" sz="1100" spc="-7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Interconnect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593217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DNS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 Route</a:t>
                      </a:r>
                      <a:r>
                        <a:rPr dirty="0" sz="1100" spc="-5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53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6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DNS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5776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Object</a:t>
                      </a:r>
                      <a:r>
                        <a:rPr dirty="0" sz="1100" spc="-7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5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Simple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r>
                        <a:rPr dirty="0" sz="1100" spc="-7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5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6856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610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Block</a:t>
                      </a:r>
                      <a:r>
                        <a:rPr dirty="0" sz="1100" spc="-5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10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r>
                        <a:rPr dirty="0" sz="1100" spc="-5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Block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Compute</a:t>
                      </a:r>
                      <a:r>
                        <a:rPr dirty="0" sz="1100" spc="-5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Engine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Persistent</a:t>
                      </a:r>
                      <a:r>
                        <a:rPr dirty="0" sz="1100" spc="-5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Disks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597">
                      <a:solidFill>
                        <a:srgbClr val="DFE0E2"/>
                      </a:solidFill>
                      <a:prstDash val="solid"/>
                    </a:lnL>
                    <a:lnR w="8597">
                      <a:solidFill>
                        <a:srgbClr val="DFE0E2"/>
                      </a:solidFill>
                      <a:prstDash val="solid"/>
                    </a:lnR>
                    <a:lnT w="8597">
                      <a:solidFill>
                        <a:srgbClr val="DFE0E2"/>
                      </a:solidFill>
                      <a:prstDash val="solid"/>
                    </a:lnT>
                    <a:lnB w="8597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892300" y="1447088"/>
            <a:ext cx="3542665" cy="296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30">
                <a:solidFill>
                  <a:srgbClr val="2C99CF"/>
                </a:solidFill>
                <a:latin typeface="Arial"/>
                <a:cs typeface="Arial"/>
              </a:rPr>
              <a:t>Mapping </a:t>
            </a:r>
            <a:r>
              <a:rPr dirty="0" sz="1850" spc="20">
                <a:solidFill>
                  <a:srgbClr val="2C99CF"/>
                </a:solidFill>
                <a:latin typeface="Arial"/>
                <a:cs typeface="Arial"/>
              </a:rPr>
              <a:t>services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of </a:t>
            </a:r>
            <a:r>
              <a:rPr dirty="0" sz="1850" spc="-75">
                <a:solidFill>
                  <a:srgbClr val="2C99CF"/>
                </a:solidFill>
                <a:latin typeface="Arial"/>
                <a:cs typeface="Arial"/>
              </a:rPr>
              <a:t>AWS </a:t>
            </a:r>
            <a:r>
              <a:rPr dirty="0" sz="1850" spc="75">
                <a:solidFill>
                  <a:srgbClr val="2C99CF"/>
                </a:solidFill>
                <a:latin typeface="Arial"/>
                <a:cs typeface="Arial"/>
              </a:rPr>
              <a:t>to</a:t>
            </a:r>
            <a:r>
              <a:rPr dirty="0" sz="1850" spc="-340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850" spc="-125">
                <a:solidFill>
                  <a:srgbClr val="2C99CF"/>
                </a:solidFill>
                <a:latin typeface="Arial"/>
                <a:cs typeface="Arial"/>
              </a:rPr>
              <a:t>GCP</a:t>
            </a:r>
            <a:endParaRPr sz="1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14120" y="1525777"/>
          <a:ext cx="5705475" cy="7353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665"/>
                <a:gridCol w="1217599"/>
                <a:gridCol w="1548320"/>
                <a:gridCol w="1643151"/>
              </a:tblGrid>
              <a:tr h="585533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r>
                        <a:rPr dirty="0" sz="1100" spc="-5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Category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6188C5"/>
                      </a:solidFill>
                      <a:prstDash val="solid"/>
                    </a:lnL>
                    <a:lnR w="8483">
                      <a:solidFill>
                        <a:srgbClr val="6188C5"/>
                      </a:solidFill>
                      <a:prstDash val="solid"/>
                    </a:lnR>
                    <a:lnT w="8483">
                      <a:solidFill>
                        <a:srgbClr val="6188C5"/>
                      </a:solidFill>
                      <a:prstDash val="solid"/>
                    </a:lnT>
                    <a:lnB w="8483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6188C5"/>
                      </a:solidFill>
                      <a:prstDash val="solid"/>
                    </a:lnL>
                    <a:lnR w="8483">
                      <a:solidFill>
                        <a:srgbClr val="6188C5"/>
                      </a:solidFill>
                      <a:prstDash val="solid"/>
                    </a:lnR>
                    <a:lnT w="8483">
                      <a:solidFill>
                        <a:srgbClr val="6188C5"/>
                      </a:solidFill>
                      <a:prstDash val="solid"/>
                    </a:lnT>
                    <a:lnB w="8483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AWS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6188C5"/>
                      </a:solidFill>
                      <a:prstDash val="solid"/>
                    </a:lnL>
                    <a:lnR w="8483">
                      <a:solidFill>
                        <a:srgbClr val="6188C5"/>
                      </a:solidFill>
                      <a:prstDash val="solid"/>
                    </a:lnR>
                    <a:lnT w="8483">
                      <a:solidFill>
                        <a:srgbClr val="6188C5"/>
                      </a:solidFill>
                      <a:prstDash val="solid"/>
                    </a:lnT>
                    <a:lnB w="8483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Platform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6188C5"/>
                      </a:solidFill>
                      <a:prstDash val="solid"/>
                    </a:lnL>
                    <a:lnR w="8483">
                      <a:solidFill>
                        <a:srgbClr val="6188C5"/>
                      </a:solidFill>
                      <a:prstDash val="solid"/>
                    </a:lnR>
                    <a:lnT w="8483">
                      <a:solidFill>
                        <a:srgbClr val="6188C5"/>
                      </a:solidFill>
                      <a:prstDash val="solid"/>
                    </a:lnT>
                    <a:lnB w="8483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</a:tr>
              <a:tr h="845438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53721">
                      <a:solidFill>
                        <a:srgbClr val="6698D1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Cold</a:t>
                      </a:r>
                      <a:r>
                        <a:rPr dirty="0" sz="1100" spc="-8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53721">
                      <a:solidFill>
                        <a:srgbClr val="6698D1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9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Glacier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53721">
                      <a:solidFill>
                        <a:srgbClr val="6698D1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7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Nearline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53721">
                      <a:solidFill>
                        <a:srgbClr val="6698D1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44372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File</a:t>
                      </a:r>
                      <a:r>
                        <a:rPr dirty="0" sz="1100" spc="-9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Storage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 </a:t>
                      </a: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File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System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ZFS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/</a:t>
                      </a:r>
                      <a:r>
                        <a:rPr dirty="0" sz="1100" spc="-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Avere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45438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Database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RDBMS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5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Relational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Database</a:t>
                      </a:r>
                      <a:r>
                        <a:rPr dirty="0" sz="1100" spc="-6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7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SQL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44016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NoSQL:</a:t>
                      </a:r>
                      <a:r>
                        <a:rPr dirty="0" sz="1100" spc="-9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Key-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value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8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DynamoDB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4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Bigtable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586955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NoSQL:</a:t>
                      </a:r>
                      <a:r>
                        <a:rPr dirty="0" sz="1100" spc="-9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Indexed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SimpleDB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6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Datastore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1102734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Big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&amp;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Analytics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9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Batch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Processing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9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 </a:t>
                      </a: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Elastic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Map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Reduce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9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</a:t>
                      </a:r>
                      <a:r>
                        <a:rPr dirty="0" sz="1100" spc="-8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3185" marR="144145">
                        <a:lnSpc>
                          <a:spcPts val="2050"/>
                        </a:lnSpc>
                        <a:spcBef>
                          <a:spcPts val="175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Dataproc, Google</a:t>
                      </a:r>
                      <a:r>
                        <a:rPr dirty="0" sz="1100" spc="-7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 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Dataﬂow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96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45800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96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Stream</a:t>
                      </a:r>
                      <a:r>
                        <a:rPr dirty="0" sz="1100" spc="-8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Processing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96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9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Kinesis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96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7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Dataﬂow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96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43965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Stream</a:t>
                      </a:r>
                      <a:r>
                        <a:rPr dirty="0" sz="1100" spc="-8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Data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10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Ingest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9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Kinesis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</a:t>
                      </a:r>
                      <a:r>
                        <a:rPr dirty="0" sz="110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100" spc="-8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Pub/Sub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483">
                      <a:solidFill>
                        <a:srgbClr val="DFE0E2"/>
                      </a:solidFill>
                      <a:prstDash val="solid"/>
                    </a:lnL>
                    <a:lnR w="8483">
                      <a:solidFill>
                        <a:srgbClr val="DFE0E2"/>
                      </a:solidFill>
                      <a:prstDash val="solid"/>
                    </a:lnR>
                    <a:lnT w="8483">
                      <a:solidFill>
                        <a:srgbClr val="DFE0E2"/>
                      </a:solidFill>
                      <a:prstDash val="solid"/>
                    </a:lnT>
                    <a:lnB w="8483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7702" y="1518856"/>
          <a:ext cx="5807710" cy="378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582"/>
                <a:gridCol w="1239348"/>
                <a:gridCol w="1575968"/>
                <a:gridCol w="1672501"/>
              </a:tblGrid>
              <a:tr h="59599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r>
                        <a:rPr dirty="0" sz="1100" spc="-5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Category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6188C5"/>
                      </a:solidFill>
                      <a:prstDash val="solid"/>
                    </a:lnL>
                    <a:lnR w="8623">
                      <a:solidFill>
                        <a:srgbClr val="6188C5"/>
                      </a:solidFill>
                      <a:prstDash val="solid"/>
                    </a:lnR>
                    <a:lnT w="8635">
                      <a:solidFill>
                        <a:srgbClr val="6188C5"/>
                      </a:solidFill>
                      <a:prstDash val="solid"/>
                    </a:lnT>
                    <a:lnB w="8635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23">
                      <a:solidFill>
                        <a:srgbClr val="6188C5"/>
                      </a:solidFill>
                      <a:prstDash val="solid"/>
                    </a:lnL>
                    <a:lnR w="8636">
                      <a:solidFill>
                        <a:srgbClr val="6188C5"/>
                      </a:solidFill>
                      <a:prstDash val="solid"/>
                    </a:lnR>
                    <a:lnT w="8635">
                      <a:solidFill>
                        <a:srgbClr val="6188C5"/>
                      </a:solidFill>
                      <a:prstDash val="solid"/>
                    </a:lnT>
                    <a:lnB w="8635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AWS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6188C5"/>
                      </a:solidFill>
                      <a:prstDash val="solid"/>
                    </a:lnL>
                    <a:lnR w="8636">
                      <a:solidFill>
                        <a:srgbClr val="6188C5"/>
                      </a:solidFill>
                      <a:prstDash val="solid"/>
                    </a:lnR>
                    <a:lnT w="8635">
                      <a:solidFill>
                        <a:srgbClr val="6188C5"/>
                      </a:solidFill>
                      <a:prstDash val="solid"/>
                    </a:lnT>
                    <a:lnB w="8635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Platform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6188C5"/>
                      </a:solidFill>
                      <a:prstDash val="solid"/>
                    </a:lnL>
                    <a:lnR w="8635">
                      <a:solidFill>
                        <a:srgbClr val="6188C5"/>
                      </a:solidFill>
                      <a:prstDash val="solid"/>
                    </a:lnR>
                    <a:lnT w="8635">
                      <a:solidFill>
                        <a:srgbClr val="6188C5"/>
                      </a:solidFill>
                      <a:prstDash val="solid"/>
                    </a:lnT>
                    <a:lnB w="8635">
                      <a:solidFill>
                        <a:srgbClr val="6188C5"/>
                      </a:solidFill>
                      <a:prstDash val="solid"/>
                    </a:lnB>
                    <a:solidFill>
                      <a:srgbClr val="6698D1"/>
                    </a:solidFill>
                  </a:tcPr>
                </a:tc>
              </a:tr>
              <a:tr h="597179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23">
                      <a:solidFill>
                        <a:srgbClr val="DFE0E2"/>
                      </a:solidFill>
                      <a:prstDash val="solid"/>
                    </a:lnR>
                    <a:lnT w="63322">
                      <a:solidFill>
                        <a:srgbClr val="6698D1"/>
                      </a:solidFill>
                      <a:prstDash val="solid"/>
                    </a:lnT>
                    <a:lnB w="8635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Analytics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23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63322">
                      <a:solidFill>
                        <a:srgbClr val="6698D1"/>
                      </a:solidFill>
                      <a:prstDash val="solid"/>
                    </a:lnT>
                    <a:lnB w="8635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6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Redshift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63322">
                      <a:solidFill>
                        <a:srgbClr val="6698D1"/>
                      </a:solidFill>
                      <a:prstDash val="solid"/>
                    </a:lnT>
                    <a:lnB w="8635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</a:t>
                      </a:r>
                      <a:r>
                        <a:rPr dirty="0" sz="1100" spc="-7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BigQuery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5">
                      <a:solidFill>
                        <a:srgbClr val="DFE0E2"/>
                      </a:solidFill>
                      <a:prstDash val="solid"/>
                    </a:lnR>
                    <a:lnT w="63322">
                      <a:solidFill>
                        <a:srgbClr val="6698D1"/>
                      </a:solidFill>
                      <a:prstDash val="solid"/>
                    </a:lnT>
                    <a:lnB w="8635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9091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Application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23">
                      <a:solidFill>
                        <a:srgbClr val="DFE0E2"/>
                      </a:solidFill>
                      <a:prstDash val="solid"/>
                    </a:lnR>
                    <a:lnT w="8635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Messaging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23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5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8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Simple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Notiﬁcation</a:t>
                      </a:r>
                      <a:r>
                        <a:rPr dirty="0" sz="1100" spc="-4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5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 Cloud</a:t>
                      </a:r>
                      <a:r>
                        <a:rPr dirty="0" sz="1100" spc="-5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Pub/Sub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5">
                      <a:solidFill>
                        <a:srgbClr val="DFE0E2"/>
                      </a:solidFill>
                      <a:prstDash val="solid"/>
                    </a:lnR>
                    <a:lnT w="8635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6089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Management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Services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23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Monitoring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23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Amazon</a:t>
                      </a:r>
                      <a:r>
                        <a:rPr dirty="0" sz="1100" spc="-7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CloudWatch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</a:t>
                      </a:r>
                      <a:r>
                        <a:rPr dirty="0" sz="1100" spc="-5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Monitoring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5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  <a:tr h="859091">
                <a:tc>
                  <a:txBody>
                    <a:bodyPr/>
                    <a:lstStyle/>
                    <a:p>
                      <a:pPr/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23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5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Deployment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23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2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AWS</a:t>
                      </a:r>
                      <a:r>
                        <a:rPr dirty="0" sz="1100" spc="-4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48484A"/>
                          </a:solidFill>
                          <a:latin typeface="Corbel"/>
                          <a:cs typeface="Corbel"/>
                        </a:rPr>
                        <a:t>CloudFormation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6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Google</a:t>
                      </a:r>
                      <a:r>
                        <a:rPr dirty="0" sz="1100" spc="-5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Deployment</a:t>
                      </a:r>
                      <a:r>
                        <a:rPr dirty="0" sz="1100" spc="-70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15">
                          <a:solidFill>
                            <a:srgbClr val="231F20"/>
                          </a:solidFill>
                          <a:latin typeface="Corbel"/>
                          <a:cs typeface="Corbel"/>
                        </a:rPr>
                        <a:t>Manager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8636">
                      <a:solidFill>
                        <a:srgbClr val="DFE0E2"/>
                      </a:solidFill>
                      <a:prstDash val="solid"/>
                    </a:lnL>
                    <a:lnR w="8635">
                      <a:solidFill>
                        <a:srgbClr val="DFE0E2"/>
                      </a:solidFill>
                      <a:prstDash val="solid"/>
                    </a:lnR>
                    <a:lnT w="8636">
                      <a:solidFill>
                        <a:srgbClr val="DFE0E2"/>
                      </a:solidFill>
                      <a:prstDash val="solid"/>
                    </a:lnT>
                    <a:lnB w="8636">
                      <a:solidFill>
                        <a:srgbClr val="DFE0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49970" y="5681205"/>
            <a:ext cx="3899535" cy="189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00" spc="10" i="1">
                <a:solidFill>
                  <a:srgbClr val="231F20"/>
                </a:solidFill>
                <a:latin typeface="Corbel"/>
                <a:cs typeface="Corbel"/>
              </a:rPr>
              <a:t>Note: The contents of this annexure have been sourced from</a:t>
            </a:r>
            <a:r>
              <a:rPr dirty="0" sz="1100" spc="-15" i="1">
                <a:solidFill>
                  <a:srgbClr val="231F20"/>
                </a:solidFill>
                <a:latin typeface="Corbel"/>
                <a:cs typeface="Corbel"/>
              </a:rPr>
              <a:t> </a:t>
            </a:r>
            <a:r>
              <a:rPr dirty="0" sz="1100" spc="10" i="1" u="sng">
                <a:solidFill>
                  <a:srgbClr val="3A53A4"/>
                </a:solidFill>
                <a:latin typeface="Corbel"/>
                <a:cs typeface="Corbel"/>
                <a:hlinkClick r:id="rId2"/>
              </a:rPr>
              <a:t>Google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0839" y="9537275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44208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8735" y="951568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376" y="0"/>
                </a:lnTo>
              </a:path>
            </a:pathLst>
          </a:custGeom>
          <a:ln w="43179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98735" y="947123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209" y="0"/>
                </a:lnTo>
              </a:path>
            </a:pathLst>
          </a:custGeom>
          <a:ln w="4572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2070" y="951339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88887" y="0"/>
                </a:moveTo>
                <a:lnTo>
                  <a:pt x="47167" y="0"/>
                </a:lnTo>
                <a:lnTo>
                  <a:pt x="47167" y="43002"/>
                </a:lnTo>
                <a:lnTo>
                  <a:pt x="0" y="43002"/>
                </a:lnTo>
                <a:lnTo>
                  <a:pt x="0" y="87541"/>
                </a:lnTo>
                <a:lnTo>
                  <a:pt x="88887" y="87541"/>
                </a:lnTo>
                <a:lnTo>
                  <a:pt x="88887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94"/>
              </a:lnSpc>
            </a:pPr>
            <a:r>
              <a:rPr dirty="0" spc="-35"/>
              <a:t>A </a:t>
            </a:r>
            <a:r>
              <a:rPr dirty="0" spc="-45"/>
              <a:t>COMPLETE </a:t>
            </a:r>
            <a:r>
              <a:rPr dirty="0" spc="-55"/>
              <a:t>GUIDE </a:t>
            </a:r>
            <a:r>
              <a:rPr dirty="0" spc="-60"/>
              <a:t>TO </a:t>
            </a:r>
            <a:r>
              <a:rPr dirty="0" spc="-75"/>
              <a:t>GOOGLE </a:t>
            </a:r>
            <a:r>
              <a:rPr dirty="0" spc="-60"/>
              <a:t>CLOUD </a:t>
            </a:r>
            <a:r>
              <a:rPr dirty="0" spc="-40"/>
              <a:t>PLATFORM </a:t>
            </a:r>
            <a:r>
              <a:rPr dirty="0" spc="50"/>
              <a:t>//</a:t>
            </a:r>
            <a:r>
              <a:rPr dirty="0" spc="85"/>
              <a:t> </a:t>
            </a: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315200" cy="10058400"/>
          </a:xfrm>
          <a:custGeom>
            <a:avLst/>
            <a:gdLst/>
            <a:ahLst/>
            <a:cxnLst/>
            <a:rect l="l" t="t" r="r" b="b"/>
            <a:pathLst>
              <a:path w="7315200" h="10058400">
                <a:moveTo>
                  <a:pt x="0" y="10058400"/>
                </a:moveTo>
                <a:lnTo>
                  <a:pt x="7315200" y="10058400"/>
                </a:lnTo>
                <a:lnTo>
                  <a:pt x="7315200" y="0"/>
                </a:lnTo>
                <a:lnTo>
                  <a:pt x="0" y="0"/>
                </a:lnTo>
                <a:lnTo>
                  <a:pt x="0" y="1005840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7705" y="6108611"/>
            <a:ext cx="6877684" cy="3950335"/>
          </a:xfrm>
          <a:custGeom>
            <a:avLst/>
            <a:gdLst/>
            <a:ahLst/>
            <a:cxnLst/>
            <a:rect l="l" t="t" r="r" b="b"/>
            <a:pathLst>
              <a:path w="6877684" h="3950334">
                <a:moveTo>
                  <a:pt x="951141" y="2400579"/>
                </a:moveTo>
                <a:lnTo>
                  <a:pt x="903663" y="2401743"/>
                </a:lnTo>
                <a:lnTo>
                  <a:pt x="856788" y="2405199"/>
                </a:lnTo>
                <a:lnTo>
                  <a:pt x="810572" y="2410892"/>
                </a:lnTo>
                <a:lnTo>
                  <a:pt x="765067" y="2418767"/>
                </a:lnTo>
                <a:lnTo>
                  <a:pt x="720329" y="2428771"/>
                </a:lnTo>
                <a:lnTo>
                  <a:pt x="676412" y="2440849"/>
                </a:lnTo>
                <a:lnTo>
                  <a:pt x="633370" y="2454946"/>
                </a:lnTo>
                <a:lnTo>
                  <a:pt x="591259" y="2471008"/>
                </a:lnTo>
                <a:lnTo>
                  <a:pt x="550132" y="2488980"/>
                </a:lnTo>
                <a:lnTo>
                  <a:pt x="510044" y="2508808"/>
                </a:lnTo>
                <a:lnTo>
                  <a:pt x="471049" y="2530438"/>
                </a:lnTo>
                <a:lnTo>
                  <a:pt x="433202" y="2553814"/>
                </a:lnTo>
                <a:lnTo>
                  <a:pt x="396557" y="2578883"/>
                </a:lnTo>
                <a:lnTo>
                  <a:pt x="361169" y="2605590"/>
                </a:lnTo>
                <a:lnTo>
                  <a:pt x="327093" y="2633881"/>
                </a:lnTo>
                <a:lnTo>
                  <a:pt x="294381" y="2663700"/>
                </a:lnTo>
                <a:lnTo>
                  <a:pt x="263090" y="2694994"/>
                </a:lnTo>
                <a:lnTo>
                  <a:pt x="233274" y="2727708"/>
                </a:lnTo>
                <a:lnTo>
                  <a:pt x="204986" y="2761788"/>
                </a:lnTo>
                <a:lnTo>
                  <a:pt x="178282" y="2797179"/>
                </a:lnTo>
                <a:lnTo>
                  <a:pt x="153216" y="2833826"/>
                </a:lnTo>
                <a:lnTo>
                  <a:pt x="129842" y="2871676"/>
                </a:lnTo>
                <a:lnTo>
                  <a:pt x="108215" y="2910673"/>
                </a:lnTo>
                <a:lnTo>
                  <a:pt x="88389" y="2950763"/>
                </a:lnTo>
                <a:lnTo>
                  <a:pt x="70419" y="2991893"/>
                </a:lnTo>
                <a:lnTo>
                  <a:pt x="54359" y="3034006"/>
                </a:lnTo>
                <a:lnTo>
                  <a:pt x="40264" y="3077049"/>
                </a:lnTo>
                <a:lnTo>
                  <a:pt x="28188" y="3120968"/>
                </a:lnTo>
                <a:lnTo>
                  <a:pt x="18185" y="3165707"/>
                </a:lnTo>
                <a:lnTo>
                  <a:pt x="10311" y="3211213"/>
                </a:lnTo>
                <a:lnTo>
                  <a:pt x="4619" y="3257431"/>
                </a:lnTo>
                <a:lnTo>
                  <a:pt x="1163" y="3304306"/>
                </a:lnTo>
                <a:lnTo>
                  <a:pt x="0" y="3351784"/>
                </a:lnTo>
                <a:lnTo>
                  <a:pt x="257" y="3372173"/>
                </a:lnTo>
                <a:lnTo>
                  <a:pt x="990" y="3392449"/>
                </a:lnTo>
                <a:lnTo>
                  <a:pt x="2143" y="3412620"/>
                </a:lnTo>
                <a:lnTo>
                  <a:pt x="3657" y="3432695"/>
                </a:lnTo>
                <a:lnTo>
                  <a:pt x="2127" y="3452871"/>
                </a:lnTo>
                <a:lnTo>
                  <a:pt x="976" y="3473153"/>
                </a:lnTo>
                <a:lnTo>
                  <a:pt x="251" y="3493551"/>
                </a:lnTo>
                <a:lnTo>
                  <a:pt x="0" y="3514077"/>
                </a:lnTo>
                <a:lnTo>
                  <a:pt x="1244" y="3563188"/>
                </a:lnTo>
                <a:lnTo>
                  <a:pt x="4937" y="3611632"/>
                </a:lnTo>
                <a:lnTo>
                  <a:pt x="11017" y="3659343"/>
                </a:lnTo>
                <a:lnTo>
                  <a:pt x="19420" y="3706258"/>
                </a:lnTo>
                <a:lnTo>
                  <a:pt x="30086" y="3752313"/>
                </a:lnTo>
                <a:lnTo>
                  <a:pt x="42952" y="3797445"/>
                </a:lnTo>
                <a:lnTo>
                  <a:pt x="57956" y="3841589"/>
                </a:lnTo>
                <a:lnTo>
                  <a:pt x="75036" y="3884681"/>
                </a:lnTo>
                <a:lnTo>
                  <a:pt x="94130" y="3926659"/>
                </a:lnTo>
                <a:lnTo>
                  <a:pt x="106062" y="3949788"/>
                </a:lnTo>
                <a:lnTo>
                  <a:pt x="6877494" y="3949788"/>
                </a:lnTo>
                <a:lnTo>
                  <a:pt x="6877494" y="2589441"/>
                </a:lnTo>
                <a:lnTo>
                  <a:pt x="1520101" y="2589441"/>
                </a:lnTo>
                <a:lnTo>
                  <a:pt x="1479642" y="2560807"/>
                </a:lnTo>
                <a:lnTo>
                  <a:pt x="1437667" y="2534264"/>
                </a:lnTo>
                <a:lnTo>
                  <a:pt x="1394251" y="2509889"/>
                </a:lnTo>
                <a:lnTo>
                  <a:pt x="1349470" y="2487757"/>
                </a:lnTo>
                <a:lnTo>
                  <a:pt x="1303399" y="2467945"/>
                </a:lnTo>
                <a:lnTo>
                  <a:pt x="1256114" y="2450528"/>
                </a:lnTo>
                <a:lnTo>
                  <a:pt x="1207690" y="2435582"/>
                </a:lnTo>
                <a:lnTo>
                  <a:pt x="1158203" y="2423183"/>
                </a:lnTo>
                <a:lnTo>
                  <a:pt x="1107729" y="2413408"/>
                </a:lnTo>
                <a:lnTo>
                  <a:pt x="1056344" y="2406331"/>
                </a:lnTo>
                <a:lnTo>
                  <a:pt x="1004122" y="2402030"/>
                </a:lnTo>
                <a:lnTo>
                  <a:pt x="951141" y="2400579"/>
                </a:lnTo>
                <a:close/>
              </a:path>
              <a:path w="6877684" h="3950334">
                <a:moveTo>
                  <a:pt x="2536418" y="1721167"/>
                </a:moveTo>
                <a:lnTo>
                  <a:pt x="2486992" y="1722429"/>
                </a:lnTo>
                <a:lnTo>
                  <a:pt x="2438223" y="1726175"/>
                </a:lnTo>
                <a:lnTo>
                  <a:pt x="2390172" y="1732343"/>
                </a:lnTo>
                <a:lnTo>
                  <a:pt x="2342902" y="1740872"/>
                </a:lnTo>
                <a:lnTo>
                  <a:pt x="2296474" y="1751699"/>
                </a:lnTo>
                <a:lnTo>
                  <a:pt x="2250948" y="1764764"/>
                </a:lnTo>
                <a:lnTo>
                  <a:pt x="2206387" y="1780004"/>
                </a:lnTo>
                <a:lnTo>
                  <a:pt x="2162852" y="1797359"/>
                </a:lnTo>
                <a:lnTo>
                  <a:pt x="2120405" y="1816766"/>
                </a:lnTo>
                <a:lnTo>
                  <a:pt x="2079106" y="1838164"/>
                </a:lnTo>
                <a:lnTo>
                  <a:pt x="2039018" y="1861492"/>
                </a:lnTo>
                <a:lnTo>
                  <a:pt x="2000202" y="1886688"/>
                </a:lnTo>
                <a:lnTo>
                  <a:pt x="1962718" y="1913690"/>
                </a:lnTo>
                <a:lnTo>
                  <a:pt x="1926630" y="1942437"/>
                </a:lnTo>
                <a:lnTo>
                  <a:pt x="1891998" y="1972867"/>
                </a:lnTo>
                <a:lnTo>
                  <a:pt x="1858883" y="2004918"/>
                </a:lnTo>
                <a:lnTo>
                  <a:pt x="1827348" y="2038530"/>
                </a:lnTo>
                <a:lnTo>
                  <a:pt x="1797453" y="2073641"/>
                </a:lnTo>
                <a:lnTo>
                  <a:pt x="1769260" y="2110188"/>
                </a:lnTo>
                <a:lnTo>
                  <a:pt x="1742831" y="2148111"/>
                </a:lnTo>
                <a:lnTo>
                  <a:pt x="1718226" y="2187347"/>
                </a:lnTo>
                <a:lnTo>
                  <a:pt x="1695508" y="2227836"/>
                </a:lnTo>
                <a:lnTo>
                  <a:pt x="1674738" y="2269516"/>
                </a:lnTo>
                <a:lnTo>
                  <a:pt x="1655977" y="2312325"/>
                </a:lnTo>
                <a:lnTo>
                  <a:pt x="1639287" y="2356201"/>
                </a:lnTo>
                <a:lnTo>
                  <a:pt x="1624729" y="2401083"/>
                </a:lnTo>
                <a:lnTo>
                  <a:pt x="1612365" y="2446910"/>
                </a:lnTo>
                <a:lnTo>
                  <a:pt x="1602256" y="2493619"/>
                </a:lnTo>
                <a:lnTo>
                  <a:pt x="1594463" y="2541150"/>
                </a:lnTo>
                <a:lnTo>
                  <a:pt x="1589049" y="2589441"/>
                </a:lnTo>
                <a:lnTo>
                  <a:pt x="6877494" y="2589441"/>
                </a:lnTo>
                <a:lnTo>
                  <a:pt x="6877494" y="2007857"/>
                </a:lnTo>
                <a:lnTo>
                  <a:pt x="3216668" y="2007857"/>
                </a:lnTo>
                <a:lnTo>
                  <a:pt x="3181235" y="1973398"/>
                </a:lnTo>
                <a:lnTo>
                  <a:pt x="3144057" y="1940801"/>
                </a:lnTo>
                <a:lnTo>
                  <a:pt x="3105211" y="1910141"/>
                </a:lnTo>
                <a:lnTo>
                  <a:pt x="3064771" y="1881496"/>
                </a:lnTo>
                <a:lnTo>
                  <a:pt x="3022815" y="1854942"/>
                </a:lnTo>
                <a:lnTo>
                  <a:pt x="2979417" y="1830555"/>
                </a:lnTo>
                <a:lnTo>
                  <a:pt x="2934652" y="1808411"/>
                </a:lnTo>
                <a:lnTo>
                  <a:pt x="2888597" y="1788586"/>
                </a:lnTo>
                <a:lnTo>
                  <a:pt x="2841326" y="1771157"/>
                </a:lnTo>
                <a:lnTo>
                  <a:pt x="2792916" y="1756200"/>
                </a:lnTo>
                <a:lnTo>
                  <a:pt x="2743442" y="1743792"/>
                </a:lnTo>
                <a:lnTo>
                  <a:pt x="2692980" y="1734008"/>
                </a:lnTo>
                <a:lnTo>
                  <a:pt x="2641605" y="1726925"/>
                </a:lnTo>
                <a:lnTo>
                  <a:pt x="2589392" y="1722619"/>
                </a:lnTo>
                <a:lnTo>
                  <a:pt x="2536418" y="1721167"/>
                </a:lnTo>
                <a:close/>
              </a:path>
              <a:path w="6877684" h="3950334">
                <a:moveTo>
                  <a:pt x="5186159" y="0"/>
                </a:moveTo>
                <a:lnTo>
                  <a:pt x="5137573" y="587"/>
                </a:lnTo>
                <a:lnTo>
                  <a:pt x="5089276" y="2340"/>
                </a:lnTo>
                <a:lnTo>
                  <a:pt x="5041281" y="5245"/>
                </a:lnTo>
                <a:lnTo>
                  <a:pt x="4993602" y="9289"/>
                </a:lnTo>
                <a:lnTo>
                  <a:pt x="4946252" y="14458"/>
                </a:lnTo>
                <a:lnTo>
                  <a:pt x="4899245" y="20739"/>
                </a:lnTo>
                <a:lnTo>
                  <a:pt x="4852594" y="28118"/>
                </a:lnTo>
                <a:lnTo>
                  <a:pt x="4806313" y="36582"/>
                </a:lnTo>
                <a:lnTo>
                  <a:pt x="4760416" y="46117"/>
                </a:lnTo>
                <a:lnTo>
                  <a:pt x="4714915" y="56710"/>
                </a:lnTo>
                <a:lnTo>
                  <a:pt x="4669824" y="68347"/>
                </a:lnTo>
                <a:lnTo>
                  <a:pt x="4625157" y="81015"/>
                </a:lnTo>
                <a:lnTo>
                  <a:pt x="4580927" y="94700"/>
                </a:lnTo>
                <a:lnTo>
                  <a:pt x="4537148" y="109389"/>
                </a:lnTo>
                <a:lnTo>
                  <a:pt x="4493833" y="125068"/>
                </a:lnTo>
                <a:lnTo>
                  <a:pt x="4450996" y="141724"/>
                </a:lnTo>
                <a:lnTo>
                  <a:pt x="4408650" y="159344"/>
                </a:lnTo>
                <a:lnTo>
                  <a:pt x="4366808" y="177913"/>
                </a:lnTo>
                <a:lnTo>
                  <a:pt x="4325485" y="197418"/>
                </a:lnTo>
                <a:lnTo>
                  <a:pt x="4284694" y="217847"/>
                </a:lnTo>
                <a:lnTo>
                  <a:pt x="4244447" y="239184"/>
                </a:lnTo>
                <a:lnTo>
                  <a:pt x="4204759" y="261418"/>
                </a:lnTo>
                <a:lnTo>
                  <a:pt x="4165644" y="284533"/>
                </a:lnTo>
                <a:lnTo>
                  <a:pt x="4127114" y="308518"/>
                </a:lnTo>
                <a:lnTo>
                  <a:pt x="4089183" y="333358"/>
                </a:lnTo>
                <a:lnTo>
                  <a:pt x="4051864" y="359040"/>
                </a:lnTo>
                <a:lnTo>
                  <a:pt x="4015172" y="385550"/>
                </a:lnTo>
                <a:lnTo>
                  <a:pt x="3979119" y="412875"/>
                </a:lnTo>
                <a:lnTo>
                  <a:pt x="3943719" y="441001"/>
                </a:lnTo>
                <a:lnTo>
                  <a:pt x="3908986" y="469916"/>
                </a:lnTo>
                <a:lnTo>
                  <a:pt x="3874933" y="499604"/>
                </a:lnTo>
                <a:lnTo>
                  <a:pt x="3841574" y="530054"/>
                </a:lnTo>
                <a:lnTo>
                  <a:pt x="3808921" y="561251"/>
                </a:lnTo>
                <a:lnTo>
                  <a:pt x="3776989" y="593182"/>
                </a:lnTo>
                <a:lnTo>
                  <a:pt x="3745791" y="625833"/>
                </a:lnTo>
                <a:lnTo>
                  <a:pt x="3715340" y="659192"/>
                </a:lnTo>
                <a:lnTo>
                  <a:pt x="3685651" y="693243"/>
                </a:lnTo>
                <a:lnTo>
                  <a:pt x="3656735" y="727975"/>
                </a:lnTo>
                <a:lnTo>
                  <a:pt x="3628608" y="763373"/>
                </a:lnTo>
                <a:lnTo>
                  <a:pt x="3601283" y="799424"/>
                </a:lnTo>
                <a:lnTo>
                  <a:pt x="3574772" y="836115"/>
                </a:lnTo>
                <a:lnTo>
                  <a:pt x="3549089" y="873431"/>
                </a:lnTo>
                <a:lnTo>
                  <a:pt x="3524249" y="911360"/>
                </a:lnTo>
                <a:lnTo>
                  <a:pt x="3500264" y="949888"/>
                </a:lnTo>
                <a:lnTo>
                  <a:pt x="3477148" y="989002"/>
                </a:lnTo>
                <a:lnTo>
                  <a:pt x="3454914" y="1028687"/>
                </a:lnTo>
                <a:lnTo>
                  <a:pt x="3433576" y="1068931"/>
                </a:lnTo>
                <a:lnTo>
                  <a:pt x="3413148" y="1109720"/>
                </a:lnTo>
                <a:lnTo>
                  <a:pt x="3393642" y="1151040"/>
                </a:lnTo>
                <a:lnTo>
                  <a:pt x="3375073" y="1192879"/>
                </a:lnTo>
                <a:lnTo>
                  <a:pt x="3357453" y="1235222"/>
                </a:lnTo>
                <a:lnTo>
                  <a:pt x="3340797" y="1278056"/>
                </a:lnTo>
                <a:lnTo>
                  <a:pt x="3325118" y="1321367"/>
                </a:lnTo>
                <a:lnTo>
                  <a:pt x="3310429" y="1365143"/>
                </a:lnTo>
                <a:lnTo>
                  <a:pt x="3296744" y="1409369"/>
                </a:lnTo>
                <a:lnTo>
                  <a:pt x="3284076" y="1454033"/>
                </a:lnTo>
                <a:lnTo>
                  <a:pt x="3272439" y="1499119"/>
                </a:lnTo>
                <a:lnTo>
                  <a:pt x="3261846" y="1544616"/>
                </a:lnTo>
                <a:lnTo>
                  <a:pt x="3252311" y="1590510"/>
                </a:lnTo>
                <a:lnTo>
                  <a:pt x="3243847" y="1636786"/>
                </a:lnTo>
                <a:lnTo>
                  <a:pt x="3236468" y="1683433"/>
                </a:lnTo>
                <a:lnTo>
                  <a:pt x="3230187" y="1730435"/>
                </a:lnTo>
                <a:lnTo>
                  <a:pt x="3225018" y="1777780"/>
                </a:lnTo>
                <a:lnTo>
                  <a:pt x="3220974" y="1825454"/>
                </a:lnTo>
                <a:lnTo>
                  <a:pt x="3218069" y="1873443"/>
                </a:lnTo>
                <a:lnTo>
                  <a:pt x="3216316" y="1921735"/>
                </a:lnTo>
                <a:lnTo>
                  <a:pt x="3215728" y="1970316"/>
                </a:lnTo>
                <a:lnTo>
                  <a:pt x="3215843" y="1979730"/>
                </a:lnTo>
                <a:lnTo>
                  <a:pt x="3216113" y="1989110"/>
                </a:lnTo>
                <a:lnTo>
                  <a:pt x="3216425" y="1998478"/>
                </a:lnTo>
                <a:lnTo>
                  <a:pt x="3216668" y="2007857"/>
                </a:lnTo>
                <a:lnTo>
                  <a:pt x="6877494" y="2007857"/>
                </a:lnTo>
                <a:lnTo>
                  <a:pt x="6877494" y="959513"/>
                </a:lnTo>
                <a:lnTo>
                  <a:pt x="6847824" y="911360"/>
                </a:lnTo>
                <a:lnTo>
                  <a:pt x="6822987" y="873431"/>
                </a:lnTo>
                <a:lnTo>
                  <a:pt x="6797307" y="836115"/>
                </a:lnTo>
                <a:lnTo>
                  <a:pt x="6770800" y="799424"/>
                </a:lnTo>
                <a:lnTo>
                  <a:pt x="6743477" y="763373"/>
                </a:lnTo>
                <a:lnTo>
                  <a:pt x="6715354" y="727975"/>
                </a:lnTo>
                <a:lnTo>
                  <a:pt x="6686442" y="693243"/>
                </a:lnTo>
                <a:lnTo>
                  <a:pt x="6656756" y="659192"/>
                </a:lnTo>
                <a:lnTo>
                  <a:pt x="6626310" y="625833"/>
                </a:lnTo>
                <a:lnTo>
                  <a:pt x="6595116" y="593182"/>
                </a:lnTo>
                <a:lnTo>
                  <a:pt x="6563188" y="561251"/>
                </a:lnTo>
                <a:lnTo>
                  <a:pt x="6530539" y="530054"/>
                </a:lnTo>
                <a:lnTo>
                  <a:pt x="6497184" y="499604"/>
                </a:lnTo>
                <a:lnTo>
                  <a:pt x="6463135" y="469916"/>
                </a:lnTo>
                <a:lnTo>
                  <a:pt x="6428407" y="441001"/>
                </a:lnTo>
                <a:lnTo>
                  <a:pt x="6393012" y="412875"/>
                </a:lnTo>
                <a:lnTo>
                  <a:pt x="6356964" y="385550"/>
                </a:lnTo>
                <a:lnTo>
                  <a:pt x="6320277" y="359040"/>
                </a:lnTo>
                <a:lnTo>
                  <a:pt x="6282963" y="333358"/>
                </a:lnTo>
                <a:lnTo>
                  <a:pt x="6245038" y="308518"/>
                </a:lnTo>
                <a:lnTo>
                  <a:pt x="6206513" y="284533"/>
                </a:lnTo>
                <a:lnTo>
                  <a:pt x="6167403" y="261418"/>
                </a:lnTo>
                <a:lnTo>
                  <a:pt x="6127721" y="239184"/>
                </a:lnTo>
                <a:lnTo>
                  <a:pt x="6087480" y="217847"/>
                </a:lnTo>
                <a:lnTo>
                  <a:pt x="6046695" y="197418"/>
                </a:lnTo>
                <a:lnTo>
                  <a:pt x="6005377" y="177913"/>
                </a:lnTo>
                <a:lnTo>
                  <a:pt x="5963542" y="159344"/>
                </a:lnTo>
                <a:lnTo>
                  <a:pt x="5921202" y="141724"/>
                </a:lnTo>
                <a:lnTo>
                  <a:pt x="5878372" y="125068"/>
                </a:lnTo>
                <a:lnTo>
                  <a:pt x="5835063" y="109389"/>
                </a:lnTo>
                <a:lnTo>
                  <a:pt x="5791291" y="94700"/>
                </a:lnTo>
                <a:lnTo>
                  <a:pt x="5747068" y="81015"/>
                </a:lnTo>
                <a:lnTo>
                  <a:pt x="5702408" y="68347"/>
                </a:lnTo>
                <a:lnTo>
                  <a:pt x="5657324" y="56710"/>
                </a:lnTo>
                <a:lnTo>
                  <a:pt x="5611831" y="46117"/>
                </a:lnTo>
                <a:lnTo>
                  <a:pt x="5565940" y="36582"/>
                </a:lnTo>
                <a:lnTo>
                  <a:pt x="5519667" y="28118"/>
                </a:lnTo>
                <a:lnTo>
                  <a:pt x="5473024" y="20739"/>
                </a:lnTo>
                <a:lnTo>
                  <a:pt x="5426025" y="14458"/>
                </a:lnTo>
                <a:lnTo>
                  <a:pt x="5378683" y="9289"/>
                </a:lnTo>
                <a:lnTo>
                  <a:pt x="5331012" y="5245"/>
                </a:lnTo>
                <a:lnTo>
                  <a:pt x="5283025" y="2340"/>
                </a:lnTo>
                <a:lnTo>
                  <a:pt x="5234736" y="587"/>
                </a:lnTo>
                <a:lnTo>
                  <a:pt x="51861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17581" y="7960069"/>
            <a:ext cx="1460919" cy="437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09339" y="8441187"/>
            <a:ext cx="2924175" cy="1219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</a:pPr>
            <a:r>
              <a:rPr dirty="0" sz="1200" spc="30">
                <a:solidFill>
                  <a:srgbClr val="323332"/>
                </a:solidFill>
                <a:latin typeface="Arial"/>
                <a:cs typeface="Arial"/>
              </a:rPr>
              <a:t>BitMin </a:t>
            </a:r>
            <a:r>
              <a:rPr dirty="0" sz="1200" spc="25">
                <a:solidFill>
                  <a:srgbClr val="323332"/>
                </a:solidFill>
                <a:latin typeface="Arial"/>
                <a:cs typeface="Arial"/>
              </a:rPr>
              <a:t>Infosystems </a:t>
            </a:r>
            <a:r>
              <a:rPr dirty="0" sz="1200" spc="10">
                <a:solidFill>
                  <a:srgbClr val="323332"/>
                </a:solidFill>
                <a:latin typeface="Arial"/>
                <a:cs typeface="Arial"/>
              </a:rPr>
              <a:t>Private </a:t>
            </a:r>
            <a:r>
              <a:rPr dirty="0" sz="1200" spc="25">
                <a:solidFill>
                  <a:srgbClr val="323332"/>
                </a:solidFill>
                <a:latin typeface="Arial"/>
                <a:cs typeface="Arial"/>
              </a:rPr>
              <a:t>Limited 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Jayabheri </a:t>
            </a:r>
            <a:r>
              <a:rPr dirty="0" sz="1200" spc="15">
                <a:solidFill>
                  <a:srgbClr val="2C99CF"/>
                </a:solidFill>
                <a:latin typeface="Arial"/>
                <a:cs typeface="Arial"/>
              </a:rPr>
              <a:t>Silicon </a:t>
            </a:r>
            <a:r>
              <a:rPr dirty="0" sz="1200" spc="-30">
                <a:solidFill>
                  <a:srgbClr val="2C99CF"/>
                </a:solidFill>
                <a:latin typeface="Arial"/>
                <a:cs typeface="Arial"/>
              </a:rPr>
              <a:t>County, </a:t>
            </a:r>
            <a:r>
              <a:rPr dirty="0" sz="1200" spc="15">
                <a:solidFill>
                  <a:srgbClr val="2C99CF"/>
                </a:solidFill>
                <a:latin typeface="Arial"/>
                <a:cs typeface="Arial"/>
              </a:rPr>
              <a:t>Hitech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City</a:t>
            </a:r>
            <a:r>
              <a:rPr dirty="0" sz="1200" spc="-19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2C99CF"/>
                </a:solidFill>
                <a:latin typeface="Arial"/>
                <a:cs typeface="Arial"/>
              </a:rPr>
              <a:t>Road 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Kothaguda, Hyderabad</a:t>
            </a:r>
            <a:r>
              <a:rPr dirty="0" sz="1200" spc="-13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2C99CF"/>
                </a:solidFill>
                <a:latin typeface="Arial"/>
                <a:cs typeface="Arial"/>
              </a:rPr>
              <a:t>-500084</a:t>
            </a:r>
            <a:endParaRPr sz="1200">
              <a:latin typeface="Arial"/>
              <a:cs typeface="Arial"/>
            </a:endParaRPr>
          </a:p>
          <a:p>
            <a:pPr marL="353695">
              <a:lnSpc>
                <a:spcPct val="100000"/>
              </a:lnSpc>
              <a:spcBef>
                <a:spcPts val="459"/>
              </a:spcBef>
            </a:pPr>
            <a:r>
              <a:rPr dirty="0" sz="1200" spc="15">
                <a:solidFill>
                  <a:srgbClr val="2C99CF"/>
                </a:solidFill>
                <a:latin typeface="Arial"/>
                <a:cs typeface="Arial"/>
                <a:hlinkClick r:id="rId3"/>
              </a:rPr>
              <a:t>info@BitMin.net</a:t>
            </a:r>
            <a:endParaRPr sz="1200">
              <a:latin typeface="Arial"/>
              <a:cs typeface="Arial"/>
            </a:endParaRPr>
          </a:p>
          <a:p>
            <a:pPr marL="353695">
              <a:lnSpc>
                <a:spcPct val="100000"/>
              </a:lnSpc>
              <a:spcBef>
                <a:spcPts val="459"/>
              </a:spcBef>
            </a:pPr>
            <a:r>
              <a:rPr dirty="0" sz="1200" spc="-10">
                <a:solidFill>
                  <a:srgbClr val="2C99CF"/>
                </a:solidFill>
                <a:latin typeface="Arial"/>
                <a:cs typeface="Arial"/>
              </a:rPr>
              <a:t>+1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408 520</a:t>
            </a:r>
            <a:r>
              <a:rPr dirty="0" sz="1200" spc="-175">
                <a:solidFill>
                  <a:srgbClr val="2C99CF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2C99CF"/>
                </a:solidFill>
                <a:latin typeface="Arial"/>
                <a:cs typeface="Arial"/>
              </a:rPr>
              <a:t>9294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1005" y="2429119"/>
            <a:ext cx="139700" cy="22599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©</a:t>
            </a:r>
            <a:r>
              <a:rPr dirty="0" sz="900" spc="-30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1A7EA5"/>
                </a:solidFill>
                <a:latin typeface="Arial"/>
                <a:cs typeface="Arial"/>
              </a:rPr>
              <a:t>Cop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yright</a:t>
            </a:r>
            <a:r>
              <a:rPr dirty="0" sz="900" spc="-30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20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16</a:t>
            </a:r>
            <a:r>
              <a:rPr dirty="0" sz="900" spc="-30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1A7EA5"/>
                </a:solidFill>
                <a:latin typeface="Arial"/>
                <a:cs typeface="Arial"/>
              </a:rPr>
              <a:t>BitMi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n</a:t>
            </a:r>
            <a:r>
              <a:rPr dirty="0" sz="900" spc="-25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1A7EA5"/>
                </a:solidFill>
                <a:latin typeface="Arial"/>
                <a:cs typeface="Arial"/>
              </a:rPr>
              <a:t>Al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l</a:t>
            </a:r>
            <a:r>
              <a:rPr dirty="0" sz="900" spc="-25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Right</a:t>
            </a:r>
            <a:r>
              <a:rPr dirty="0" sz="900" spc="-30">
                <a:solidFill>
                  <a:srgbClr val="1A7EA5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R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ese</a:t>
            </a:r>
            <a:r>
              <a:rPr dirty="0" sz="900" spc="5">
                <a:solidFill>
                  <a:srgbClr val="1A7EA5"/>
                </a:solidFill>
                <a:latin typeface="Arial"/>
                <a:cs typeface="Arial"/>
              </a:rPr>
              <a:t>r</a:t>
            </a:r>
            <a:r>
              <a:rPr dirty="0" sz="900" spc="-10">
                <a:solidFill>
                  <a:srgbClr val="1A7EA5"/>
                </a:solidFill>
                <a:latin typeface="Arial"/>
                <a:cs typeface="Arial"/>
              </a:rPr>
              <a:t>v</a:t>
            </a:r>
            <a:r>
              <a:rPr dirty="0" sz="900">
                <a:solidFill>
                  <a:srgbClr val="1A7EA5"/>
                </a:solidFill>
                <a:latin typeface="Arial"/>
                <a:cs typeface="Arial"/>
              </a:rPr>
              <a:t>ed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41178" y="9245600"/>
            <a:ext cx="187921" cy="127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59161" y="9481515"/>
            <a:ext cx="162077" cy="1504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53018" y="9336905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144589" y="0"/>
                </a:moveTo>
                <a:lnTo>
                  <a:pt x="98886" y="7371"/>
                </a:lnTo>
                <a:lnTo>
                  <a:pt x="59195" y="27897"/>
                </a:lnTo>
                <a:lnTo>
                  <a:pt x="27896" y="59198"/>
                </a:lnTo>
                <a:lnTo>
                  <a:pt x="7370" y="98893"/>
                </a:lnTo>
                <a:lnTo>
                  <a:pt x="0" y="144602"/>
                </a:lnTo>
                <a:lnTo>
                  <a:pt x="7370" y="190299"/>
                </a:lnTo>
                <a:lnTo>
                  <a:pt x="27896" y="229990"/>
                </a:lnTo>
                <a:lnTo>
                  <a:pt x="59195" y="261291"/>
                </a:lnTo>
                <a:lnTo>
                  <a:pt x="98886" y="281819"/>
                </a:lnTo>
                <a:lnTo>
                  <a:pt x="144589" y="289191"/>
                </a:lnTo>
                <a:lnTo>
                  <a:pt x="190293" y="281819"/>
                </a:lnTo>
                <a:lnTo>
                  <a:pt x="229987" y="261291"/>
                </a:lnTo>
                <a:lnTo>
                  <a:pt x="261290" y="229990"/>
                </a:lnTo>
                <a:lnTo>
                  <a:pt x="281819" y="190299"/>
                </a:lnTo>
                <a:lnTo>
                  <a:pt x="289191" y="144602"/>
                </a:lnTo>
                <a:lnTo>
                  <a:pt x="281819" y="98893"/>
                </a:lnTo>
                <a:lnTo>
                  <a:pt x="261290" y="59198"/>
                </a:lnTo>
                <a:lnTo>
                  <a:pt x="229987" y="27897"/>
                </a:lnTo>
                <a:lnTo>
                  <a:pt x="190293" y="7371"/>
                </a:lnTo>
                <a:lnTo>
                  <a:pt x="1445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53018" y="9336905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289191" y="144602"/>
                </a:moveTo>
                <a:lnTo>
                  <a:pt x="281819" y="190299"/>
                </a:lnTo>
                <a:lnTo>
                  <a:pt x="261290" y="229990"/>
                </a:lnTo>
                <a:lnTo>
                  <a:pt x="229987" y="261291"/>
                </a:lnTo>
                <a:lnTo>
                  <a:pt x="190293" y="281819"/>
                </a:lnTo>
                <a:lnTo>
                  <a:pt x="144589" y="289191"/>
                </a:lnTo>
                <a:lnTo>
                  <a:pt x="98886" y="281819"/>
                </a:lnTo>
                <a:lnTo>
                  <a:pt x="59195" y="261291"/>
                </a:lnTo>
                <a:lnTo>
                  <a:pt x="27896" y="229990"/>
                </a:lnTo>
                <a:lnTo>
                  <a:pt x="7370" y="190299"/>
                </a:lnTo>
                <a:lnTo>
                  <a:pt x="0" y="144602"/>
                </a:lnTo>
                <a:lnTo>
                  <a:pt x="7370" y="98893"/>
                </a:lnTo>
                <a:lnTo>
                  <a:pt x="27896" y="59198"/>
                </a:lnTo>
                <a:lnTo>
                  <a:pt x="59195" y="27897"/>
                </a:lnTo>
                <a:lnTo>
                  <a:pt x="98886" y="7371"/>
                </a:lnTo>
                <a:lnTo>
                  <a:pt x="144589" y="0"/>
                </a:lnTo>
                <a:lnTo>
                  <a:pt x="190293" y="7371"/>
                </a:lnTo>
                <a:lnTo>
                  <a:pt x="229987" y="27897"/>
                </a:lnTo>
                <a:lnTo>
                  <a:pt x="261290" y="59198"/>
                </a:lnTo>
                <a:lnTo>
                  <a:pt x="281819" y="98893"/>
                </a:lnTo>
                <a:lnTo>
                  <a:pt x="289191" y="144602"/>
                </a:lnTo>
              </a:path>
            </a:pathLst>
          </a:custGeom>
          <a:ln w="1270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98547" y="9405111"/>
            <a:ext cx="198120" cy="161290"/>
          </a:xfrm>
          <a:custGeom>
            <a:avLst/>
            <a:gdLst/>
            <a:ahLst/>
            <a:cxnLst/>
            <a:rect l="l" t="t" r="r" b="b"/>
            <a:pathLst>
              <a:path w="198119" h="161290">
                <a:moveTo>
                  <a:pt x="0" y="142760"/>
                </a:moveTo>
                <a:lnTo>
                  <a:pt x="14101" y="150468"/>
                </a:lnTo>
                <a:lnTo>
                  <a:pt x="29300" y="156206"/>
                </a:lnTo>
                <a:lnTo>
                  <a:pt x="45425" y="159787"/>
                </a:lnTo>
                <a:lnTo>
                  <a:pt x="62306" y="161023"/>
                </a:lnTo>
                <a:lnTo>
                  <a:pt x="111920" y="150506"/>
                </a:lnTo>
                <a:lnTo>
                  <a:pt x="121525" y="143306"/>
                </a:lnTo>
                <a:lnTo>
                  <a:pt x="6413" y="143306"/>
                </a:lnTo>
                <a:lnTo>
                  <a:pt x="3187" y="143129"/>
                </a:lnTo>
                <a:lnTo>
                  <a:pt x="0" y="142760"/>
                </a:lnTo>
                <a:close/>
              </a:path>
              <a:path w="198119" h="161290">
                <a:moveTo>
                  <a:pt x="22212" y="97701"/>
                </a:moveTo>
                <a:lnTo>
                  <a:pt x="27817" y="108863"/>
                </a:lnTo>
                <a:lnTo>
                  <a:pt x="36456" y="117730"/>
                </a:lnTo>
                <a:lnTo>
                  <a:pt x="47470" y="123638"/>
                </a:lnTo>
                <a:lnTo>
                  <a:pt x="60197" y="125920"/>
                </a:lnTo>
                <a:lnTo>
                  <a:pt x="49107" y="133234"/>
                </a:lnTo>
                <a:lnTo>
                  <a:pt x="36864" y="138699"/>
                </a:lnTo>
                <a:lnTo>
                  <a:pt x="23664" y="142122"/>
                </a:lnTo>
                <a:lnTo>
                  <a:pt x="9702" y="143306"/>
                </a:lnTo>
                <a:lnTo>
                  <a:pt x="121525" y="143306"/>
                </a:lnTo>
                <a:lnTo>
                  <a:pt x="148164" y="123339"/>
                </a:lnTo>
                <a:lnTo>
                  <a:pt x="163032" y="98425"/>
                </a:lnTo>
                <a:lnTo>
                  <a:pt x="27241" y="98425"/>
                </a:lnTo>
                <a:lnTo>
                  <a:pt x="24688" y="98158"/>
                </a:lnTo>
                <a:lnTo>
                  <a:pt x="22212" y="97701"/>
                </a:lnTo>
                <a:close/>
              </a:path>
              <a:path w="198119" h="161290">
                <a:moveTo>
                  <a:pt x="7962" y="56629"/>
                </a:moveTo>
                <a:lnTo>
                  <a:pt x="7962" y="57150"/>
                </a:lnTo>
                <a:lnTo>
                  <a:pt x="10442" y="71147"/>
                </a:lnTo>
                <a:lnTo>
                  <a:pt x="17291" y="83043"/>
                </a:lnTo>
                <a:lnTo>
                  <a:pt x="27626" y="91956"/>
                </a:lnTo>
                <a:lnTo>
                  <a:pt x="40563" y="97002"/>
                </a:lnTo>
                <a:lnTo>
                  <a:pt x="37160" y="97917"/>
                </a:lnTo>
                <a:lnTo>
                  <a:pt x="33566" y="98425"/>
                </a:lnTo>
                <a:lnTo>
                  <a:pt x="163032" y="98425"/>
                </a:lnTo>
                <a:lnTo>
                  <a:pt x="170387" y="86099"/>
                </a:lnTo>
                <a:lnTo>
                  <a:pt x="174909" y="61709"/>
                </a:lnTo>
                <a:lnTo>
                  <a:pt x="26377" y="61709"/>
                </a:lnTo>
                <a:lnTo>
                  <a:pt x="19723" y="61493"/>
                </a:lnTo>
                <a:lnTo>
                  <a:pt x="13449" y="59677"/>
                </a:lnTo>
                <a:lnTo>
                  <a:pt x="7962" y="56629"/>
                </a:lnTo>
                <a:close/>
              </a:path>
              <a:path w="198119" h="161290">
                <a:moveTo>
                  <a:pt x="13817" y="7454"/>
                </a:moveTo>
                <a:lnTo>
                  <a:pt x="10299" y="13449"/>
                </a:lnTo>
                <a:lnTo>
                  <a:pt x="8293" y="20434"/>
                </a:lnTo>
                <a:lnTo>
                  <a:pt x="8293" y="27876"/>
                </a:lnTo>
                <a:lnTo>
                  <a:pt x="9586" y="38090"/>
                </a:lnTo>
                <a:lnTo>
                  <a:pt x="13249" y="47350"/>
                </a:lnTo>
                <a:lnTo>
                  <a:pt x="18955" y="55331"/>
                </a:lnTo>
                <a:lnTo>
                  <a:pt x="26377" y="61709"/>
                </a:lnTo>
                <a:lnTo>
                  <a:pt x="174909" y="61709"/>
                </a:lnTo>
                <a:lnTo>
                  <a:pt x="177096" y="49911"/>
                </a:lnTo>
                <a:lnTo>
                  <a:pt x="97574" y="49911"/>
                </a:lnTo>
                <a:lnTo>
                  <a:pt x="73053" y="46022"/>
                </a:lnTo>
                <a:lnTo>
                  <a:pt x="50542" y="37269"/>
                </a:lnTo>
                <a:lnTo>
                  <a:pt x="30608" y="24223"/>
                </a:lnTo>
                <a:lnTo>
                  <a:pt x="13817" y="7454"/>
                </a:lnTo>
                <a:close/>
              </a:path>
              <a:path w="198119" h="161290">
                <a:moveTo>
                  <a:pt x="137159" y="0"/>
                </a:moveTo>
                <a:lnTo>
                  <a:pt x="99724" y="24833"/>
                </a:lnTo>
                <a:lnTo>
                  <a:pt x="96532" y="43840"/>
                </a:lnTo>
                <a:lnTo>
                  <a:pt x="96875" y="46939"/>
                </a:lnTo>
                <a:lnTo>
                  <a:pt x="97574" y="49911"/>
                </a:lnTo>
                <a:lnTo>
                  <a:pt x="177096" y="49911"/>
                </a:lnTo>
                <a:lnTo>
                  <a:pt x="177817" y="46022"/>
                </a:lnTo>
                <a:lnTo>
                  <a:pt x="177825" y="40119"/>
                </a:lnTo>
                <a:lnTo>
                  <a:pt x="183582" y="35552"/>
                </a:lnTo>
                <a:lnTo>
                  <a:pt x="188906" y="30491"/>
                </a:lnTo>
                <a:lnTo>
                  <a:pt x="193325" y="25476"/>
                </a:lnTo>
                <a:lnTo>
                  <a:pt x="174764" y="25476"/>
                </a:lnTo>
                <a:lnTo>
                  <a:pt x="180673" y="21174"/>
                </a:lnTo>
                <a:lnTo>
                  <a:pt x="185713" y="15901"/>
                </a:lnTo>
                <a:lnTo>
                  <a:pt x="187727" y="12852"/>
                </a:lnTo>
                <a:lnTo>
                  <a:pt x="166827" y="12852"/>
                </a:lnTo>
                <a:lnTo>
                  <a:pt x="160712" y="7506"/>
                </a:lnTo>
                <a:lnTo>
                  <a:pt x="153603" y="3459"/>
                </a:lnTo>
                <a:lnTo>
                  <a:pt x="145688" y="895"/>
                </a:lnTo>
                <a:lnTo>
                  <a:pt x="137159" y="0"/>
                </a:lnTo>
                <a:close/>
              </a:path>
              <a:path w="198119" h="161290">
                <a:moveTo>
                  <a:pt x="198119" y="19062"/>
                </a:moveTo>
                <a:lnTo>
                  <a:pt x="190842" y="22288"/>
                </a:lnTo>
                <a:lnTo>
                  <a:pt x="182994" y="24498"/>
                </a:lnTo>
                <a:lnTo>
                  <a:pt x="174764" y="25476"/>
                </a:lnTo>
                <a:lnTo>
                  <a:pt x="193325" y="25476"/>
                </a:lnTo>
                <a:lnTo>
                  <a:pt x="193870" y="24833"/>
                </a:lnTo>
                <a:lnTo>
                  <a:pt x="198119" y="19062"/>
                </a:lnTo>
                <a:close/>
              </a:path>
              <a:path w="198119" h="161290">
                <a:moveTo>
                  <a:pt x="192633" y="2984"/>
                </a:moveTo>
                <a:lnTo>
                  <a:pt x="186599" y="6231"/>
                </a:lnTo>
                <a:lnTo>
                  <a:pt x="180268" y="8980"/>
                </a:lnTo>
                <a:lnTo>
                  <a:pt x="173668" y="11198"/>
                </a:lnTo>
                <a:lnTo>
                  <a:pt x="166827" y="12852"/>
                </a:lnTo>
                <a:lnTo>
                  <a:pt x="187727" y="12852"/>
                </a:lnTo>
                <a:lnTo>
                  <a:pt x="189746" y="9793"/>
                </a:lnTo>
                <a:lnTo>
                  <a:pt x="192633" y="2984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40939" y="9336902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144589" y="0"/>
                </a:moveTo>
                <a:lnTo>
                  <a:pt x="98886" y="7372"/>
                </a:lnTo>
                <a:lnTo>
                  <a:pt x="59195" y="27900"/>
                </a:lnTo>
                <a:lnTo>
                  <a:pt x="27896" y="59200"/>
                </a:lnTo>
                <a:lnTo>
                  <a:pt x="7370" y="98891"/>
                </a:lnTo>
                <a:lnTo>
                  <a:pt x="0" y="144589"/>
                </a:lnTo>
                <a:lnTo>
                  <a:pt x="7370" y="190298"/>
                </a:lnTo>
                <a:lnTo>
                  <a:pt x="27896" y="229993"/>
                </a:lnTo>
                <a:lnTo>
                  <a:pt x="59195" y="261294"/>
                </a:lnTo>
                <a:lnTo>
                  <a:pt x="98886" y="281820"/>
                </a:lnTo>
                <a:lnTo>
                  <a:pt x="144589" y="289191"/>
                </a:lnTo>
                <a:lnTo>
                  <a:pt x="190293" y="281820"/>
                </a:lnTo>
                <a:lnTo>
                  <a:pt x="229987" y="261294"/>
                </a:lnTo>
                <a:lnTo>
                  <a:pt x="261290" y="229993"/>
                </a:lnTo>
                <a:lnTo>
                  <a:pt x="281819" y="190298"/>
                </a:lnTo>
                <a:lnTo>
                  <a:pt x="289191" y="144589"/>
                </a:lnTo>
                <a:lnTo>
                  <a:pt x="281819" y="98891"/>
                </a:lnTo>
                <a:lnTo>
                  <a:pt x="261290" y="59200"/>
                </a:lnTo>
                <a:lnTo>
                  <a:pt x="229987" y="27900"/>
                </a:lnTo>
                <a:lnTo>
                  <a:pt x="190293" y="7372"/>
                </a:lnTo>
                <a:lnTo>
                  <a:pt x="1445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40939" y="9336902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289191" y="144589"/>
                </a:moveTo>
                <a:lnTo>
                  <a:pt x="281819" y="190298"/>
                </a:lnTo>
                <a:lnTo>
                  <a:pt x="261290" y="229993"/>
                </a:lnTo>
                <a:lnTo>
                  <a:pt x="229987" y="261294"/>
                </a:lnTo>
                <a:lnTo>
                  <a:pt x="190293" y="281820"/>
                </a:lnTo>
                <a:lnTo>
                  <a:pt x="144589" y="289191"/>
                </a:lnTo>
                <a:lnTo>
                  <a:pt x="98886" y="281820"/>
                </a:lnTo>
                <a:lnTo>
                  <a:pt x="59195" y="261294"/>
                </a:lnTo>
                <a:lnTo>
                  <a:pt x="27896" y="229993"/>
                </a:lnTo>
                <a:lnTo>
                  <a:pt x="7370" y="190298"/>
                </a:lnTo>
                <a:lnTo>
                  <a:pt x="0" y="144589"/>
                </a:lnTo>
                <a:lnTo>
                  <a:pt x="7370" y="98891"/>
                </a:lnTo>
                <a:lnTo>
                  <a:pt x="27896" y="59200"/>
                </a:lnTo>
                <a:lnTo>
                  <a:pt x="59195" y="27900"/>
                </a:lnTo>
                <a:lnTo>
                  <a:pt x="98886" y="7372"/>
                </a:lnTo>
                <a:lnTo>
                  <a:pt x="144589" y="0"/>
                </a:lnTo>
                <a:lnTo>
                  <a:pt x="190293" y="7372"/>
                </a:lnTo>
                <a:lnTo>
                  <a:pt x="229987" y="27900"/>
                </a:lnTo>
                <a:lnTo>
                  <a:pt x="261290" y="59200"/>
                </a:lnTo>
                <a:lnTo>
                  <a:pt x="281819" y="98891"/>
                </a:lnTo>
                <a:lnTo>
                  <a:pt x="289191" y="144589"/>
                </a:lnTo>
              </a:path>
            </a:pathLst>
          </a:custGeom>
          <a:ln w="1270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3288" y="9393703"/>
            <a:ext cx="89535" cy="184150"/>
          </a:xfrm>
          <a:custGeom>
            <a:avLst/>
            <a:gdLst/>
            <a:ahLst/>
            <a:cxnLst/>
            <a:rect l="l" t="t" r="r" b="b"/>
            <a:pathLst>
              <a:path w="89535" h="184150">
                <a:moveTo>
                  <a:pt x="58877" y="95516"/>
                </a:moveTo>
                <a:lnTo>
                  <a:pt x="19278" y="95516"/>
                </a:lnTo>
                <a:lnTo>
                  <a:pt x="19278" y="183807"/>
                </a:lnTo>
                <a:lnTo>
                  <a:pt x="58877" y="183807"/>
                </a:lnTo>
                <a:lnTo>
                  <a:pt x="58877" y="95516"/>
                </a:lnTo>
                <a:close/>
              </a:path>
              <a:path w="89535" h="184150">
                <a:moveTo>
                  <a:pt x="89179" y="0"/>
                </a:moveTo>
                <a:lnTo>
                  <a:pt x="59855" y="0"/>
                </a:lnTo>
                <a:lnTo>
                  <a:pt x="35984" y="5107"/>
                </a:lnTo>
                <a:lnTo>
                  <a:pt x="23983" y="16705"/>
                </a:lnTo>
                <a:lnTo>
                  <a:pt x="19775" y="29205"/>
                </a:lnTo>
                <a:lnTo>
                  <a:pt x="19278" y="37020"/>
                </a:lnTo>
                <a:lnTo>
                  <a:pt x="19278" y="63347"/>
                </a:lnTo>
                <a:lnTo>
                  <a:pt x="0" y="63347"/>
                </a:lnTo>
                <a:lnTo>
                  <a:pt x="0" y="95516"/>
                </a:lnTo>
                <a:lnTo>
                  <a:pt x="85445" y="95516"/>
                </a:lnTo>
                <a:lnTo>
                  <a:pt x="86903" y="86325"/>
                </a:lnTo>
                <a:lnTo>
                  <a:pt x="87772" y="79897"/>
                </a:lnTo>
                <a:lnTo>
                  <a:pt x="88399" y="73204"/>
                </a:lnTo>
                <a:lnTo>
                  <a:pt x="89128" y="63220"/>
                </a:lnTo>
                <a:lnTo>
                  <a:pt x="59029" y="63220"/>
                </a:lnTo>
                <a:lnTo>
                  <a:pt x="59029" y="37922"/>
                </a:lnTo>
                <a:lnTo>
                  <a:pt x="63347" y="33489"/>
                </a:lnTo>
                <a:lnTo>
                  <a:pt x="89179" y="33489"/>
                </a:lnTo>
                <a:lnTo>
                  <a:pt x="89179" y="0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8861" y="9336902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144602" y="0"/>
                </a:moveTo>
                <a:lnTo>
                  <a:pt x="98893" y="7372"/>
                </a:lnTo>
                <a:lnTo>
                  <a:pt x="59198" y="27900"/>
                </a:lnTo>
                <a:lnTo>
                  <a:pt x="27897" y="59200"/>
                </a:lnTo>
                <a:lnTo>
                  <a:pt x="7371" y="98891"/>
                </a:lnTo>
                <a:lnTo>
                  <a:pt x="0" y="144589"/>
                </a:lnTo>
                <a:lnTo>
                  <a:pt x="7371" y="190298"/>
                </a:lnTo>
                <a:lnTo>
                  <a:pt x="27897" y="229993"/>
                </a:lnTo>
                <a:lnTo>
                  <a:pt x="59198" y="261294"/>
                </a:lnTo>
                <a:lnTo>
                  <a:pt x="98893" y="281820"/>
                </a:lnTo>
                <a:lnTo>
                  <a:pt x="144602" y="289191"/>
                </a:lnTo>
                <a:lnTo>
                  <a:pt x="190299" y="281820"/>
                </a:lnTo>
                <a:lnTo>
                  <a:pt x="229990" y="261294"/>
                </a:lnTo>
                <a:lnTo>
                  <a:pt x="261291" y="229993"/>
                </a:lnTo>
                <a:lnTo>
                  <a:pt x="281819" y="190298"/>
                </a:lnTo>
                <a:lnTo>
                  <a:pt x="289191" y="144589"/>
                </a:lnTo>
                <a:lnTo>
                  <a:pt x="281819" y="98891"/>
                </a:lnTo>
                <a:lnTo>
                  <a:pt x="261291" y="59200"/>
                </a:lnTo>
                <a:lnTo>
                  <a:pt x="229990" y="27900"/>
                </a:lnTo>
                <a:lnTo>
                  <a:pt x="190299" y="7372"/>
                </a:lnTo>
                <a:lnTo>
                  <a:pt x="1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28861" y="9336902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60" h="289559">
                <a:moveTo>
                  <a:pt x="289191" y="144589"/>
                </a:moveTo>
                <a:lnTo>
                  <a:pt x="281819" y="190298"/>
                </a:lnTo>
                <a:lnTo>
                  <a:pt x="261291" y="229993"/>
                </a:lnTo>
                <a:lnTo>
                  <a:pt x="229990" y="261294"/>
                </a:lnTo>
                <a:lnTo>
                  <a:pt x="190299" y="281820"/>
                </a:lnTo>
                <a:lnTo>
                  <a:pt x="144602" y="289191"/>
                </a:lnTo>
                <a:lnTo>
                  <a:pt x="98893" y="281820"/>
                </a:lnTo>
                <a:lnTo>
                  <a:pt x="59198" y="261294"/>
                </a:lnTo>
                <a:lnTo>
                  <a:pt x="27897" y="229993"/>
                </a:lnTo>
                <a:lnTo>
                  <a:pt x="7371" y="190298"/>
                </a:lnTo>
                <a:lnTo>
                  <a:pt x="0" y="144589"/>
                </a:lnTo>
                <a:lnTo>
                  <a:pt x="7371" y="98891"/>
                </a:lnTo>
                <a:lnTo>
                  <a:pt x="27897" y="59200"/>
                </a:lnTo>
                <a:lnTo>
                  <a:pt x="59198" y="27900"/>
                </a:lnTo>
                <a:lnTo>
                  <a:pt x="98893" y="7372"/>
                </a:lnTo>
                <a:lnTo>
                  <a:pt x="144602" y="0"/>
                </a:lnTo>
                <a:lnTo>
                  <a:pt x="190299" y="7372"/>
                </a:lnTo>
                <a:lnTo>
                  <a:pt x="229990" y="27900"/>
                </a:lnTo>
                <a:lnTo>
                  <a:pt x="261291" y="59200"/>
                </a:lnTo>
                <a:lnTo>
                  <a:pt x="281819" y="98891"/>
                </a:lnTo>
                <a:lnTo>
                  <a:pt x="289191" y="144589"/>
                </a:lnTo>
              </a:path>
            </a:pathLst>
          </a:custGeom>
          <a:ln w="12700">
            <a:solidFill>
              <a:srgbClr val="2C99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01149" y="9399308"/>
            <a:ext cx="159385" cy="146685"/>
          </a:xfrm>
          <a:custGeom>
            <a:avLst/>
            <a:gdLst/>
            <a:ahLst/>
            <a:cxnLst/>
            <a:rect l="l" t="t" r="r" b="b"/>
            <a:pathLst>
              <a:path w="159385" h="146684">
                <a:moveTo>
                  <a:pt x="35051" y="46901"/>
                </a:moveTo>
                <a:lnTo>
                  <a:pt x="4000" y="46901"/>
                </a:lnTo>
                <a:lnTo>
                  <a:pt x="4000" y="146240"/>
                </a:lnTo>
                <a:lnTo>
                  <a:pt x="35051" y="146240"/>
                </a:lnTo>
                <a:lnTo>
                  <a:pt x="35051" y="46901"/>
                </a:lnTo>
                <a:close/>
              </a:path>
              <a:path w="159385" h="146684">
                <a:moveTo>
                  <a:pt x="18948" y="0"/>
                </a:moveTo>
                <a:lnTo>
                  <a:pt x="0" y="26873"/>
                </a:lnTo>
                <a:lnTo>
                  <a:pt x="7289" y="34467"/>
                </a:lnTo>
                <a:lnTo>
                  <a:pt x="18732" y="34467"/>
                </a:lnTo>
                <a:lnTo>
                  <a:pt x="26615" y="33128"/>
                </a:lnTo>
                <a:lnTo>
                  <a:pt x="32577" y="29457"/>
                </a:lnTo>
                <a:lnTo>
                  <a:pt x="36350" y="23977"/>
                </a:lnTo>
                <a:lnTo>
                  <a:pt x="37668" y="17208"/>
                </a:lnTo>
                <a:lnTo>
                  <a:pt x="36263" y="10394"/>
                </a:lnTo>
                <a:lnTo>
                  <a:pt x="32523" y="4937"/>
                </a:lnTo>
                <a:lnTo>
                  <a:pt x="26675" y="1313"/>
                </a:lnTo>
                <a:lnTo>
                  <a:pt x="18948" y="0"/>
                </a:lnTo>
                <a:close/>
              </a:path>
              <a:path w="159385" h="146684">
                <a:moveTo>
                  <a:pt x="88861" y="46901"/>
                </a:moveTo>
                <a:lnTo>
                  <a:pt x="54000" y="46901"/>
                </a:lnTo>
                <a:lnTo>
                  <a:pt x="54186" y="51658"/>
                </a:lnTo>
                <a:lnTo>
                  <a:pt x="54236" y="94843"/>
                </a:lnTo>
                <a:lnTo>
                  <a:pt x="54000" y="146240"/>
                </a:lnTo>
                <a:lnTo>
                  <a:pt x="88861" y="146240"/>
                </a:lnTo>
                <a:lnTo>
                  <a:pt x="88734" y="86512"/>
                </a:lnTo>
                <a:lnTo>
                  <a:pt x="92036" y="78384"/>
                </a:lnTo>
                <a:lnTo>
                  <a:pt x="97180" y="72186"/>
                </a:lnTo>
                <a:lnTo>
                  <a:pt x="156362" y="72186"/>
                </a:lnTo>
                <a:lnTo>
                  <a:pt x="156179" y="70985"/>
                </a:lnTo>
                <a:lnTo>
                  <a:pt x="151112" y="62484"/>
                </a:lnTo>
                <a:lnTo>
                  <a:pt x="88861" y="62484"/>
                </a:lnTo>
                <a:lnTo>
                  <a:pt x="88861" y="46901"/>
                </a:lnTo>
                <a:close/>
              </a:path>
              <a:path w="159385" h="146684">
                <a:moveTo>
                  <a:pt x="156362" y="72186"/>
                </a:moveTo>
                <a:lnTo>
                  <a:pt x="106425" y="72186"/>
                </a:lnTo>
                <a:lnTo>
                  <a:pt x="114291" y="73832"/>
                </a:lnTo>
                <a:lnTo>
                  <a:pt x="119783" y="78462"/>
                </a:lnTo>
                <a:lnTo>
                  <a:pt x="123003" y="85618"/>
                </a:lnTo>
                <a:lnTo>
                  <a:pt x="124053" y="94843"/>
                </a:lnTo>
                <a:lnTo>
                  <a:pt x="124053" y="146240"/>
                </a:lnTo>
                <a:lnTo>
                  <a:pt x="159232" y="146240"/>
                </a:lnTo>
                <a:lnTo>
                  <a:pt x="159232" y="90995"/>
                </a:lnTo>
                <a:lnTo>
                  <a:pt x="156362" y="72186"/>
                </a:lnTo>
                <a:close/>
              </a:path>
              <a:path w="159385" h="146684">
                <a:moveTo>
                  <a:pt x="119849" y="45948"/>
                </a:moveTo>
                <a:lnTo>
                  <a:pt x="107792" y="47573"/>
                </a:lnTo>
                <a:lnTo>
                  <a:pt x="98459" y="51658"/>
                </a:lnTo>
                <a:lnTo>
                  <a:pt x="92075" y="57023"/>
                </a:lnTo>
                <a:lnTo>
                  <a:pt x="88861" y="62484"/>
                </a:lnTo>
                <a:lnTo>
                  <a:pt x="151112" y="62484"/>
                </a:lnTo>
                <a:lnTo>
                  <a:pt x="147808" y="56942"/>
                </a:lnTo>
                <a:lnTo>
                  <a:pt x="135304" y="48663"/>
                </a:lnTo>
                <a:lnTo>
                  <a:pt x="119849" y="45948"/>
                </a:lnTo>
                <a:close/>
              </a:path>
            </a:pathLst>
          </a:custGeom>
          <a:solidFill>
            <a:srgbClr val="2C9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61681" y="1669808"/>
            <a:ext cx="4836160" cy="1995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</a:pP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BitMin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advisory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firm.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primarily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looking 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serve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clients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interested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Platform. 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work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on  </a:t>
            </a:r>
            <a:r>
              <a:rPr dirty="0" sz="1000" spc="30">
                <a:solidFill>
                  <a:srgbClr val="FFFFFF"/>
                </a:solidFill>
                <a:latin typeface="Arial"/>
                <a:cs typeface="Arial"/>
              </a:rPr>
              <a:t>fulfilling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enterprise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needs,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whatever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they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maybe.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handling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 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application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development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Google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marketplace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integration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existing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apps,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BitMin 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done </a:t>
            </a:r>
            <a:r>
              <a:rPr dirty="0" sz="1000" spc="45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all.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Some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startup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clients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trusted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BitMin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bringing their 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ideas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life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outsourcing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entire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product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development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them.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Enterprises  large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small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also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availed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BitMin’s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in-house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expertise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planning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scripting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successful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strategies. 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some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 best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talents  in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computing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space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working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000" spc="45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able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leverage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them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deliver 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world-class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solutions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clients.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a Google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Cloud Partner,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BitMin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publishes 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regular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blogs,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newsletters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e-books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inform </a:t>
            </a:r>
            <a:r>
              <a:rPr dirty="0" sz="1000" spc="4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audiences </a:t>
            </a:r>
            <a:r>
              <a:rPr dirty="0" sz="1000" spc="3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developments  </a:t>
            </a:r>
            <a:r>
              <a:rPr dirty="0" sz="1000" spc="2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the cloud </a:t>
            </a:r>
            <a:r>
              <a:rPr dirty="0" sz="1000" spc="25">
                <a:solidFill>
                  <a:srgbClr val="FFFFFF"/>
                </a:solidFill>
                <a:latin typeface="Arial"/>
                <a:cs typeface="Arial"/>
              </a:rPr>
              <a:t>computing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space and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also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gives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helpful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advice </a:t>
            </a:r>
            <a:r>
              <a:rPr dirty="0" sz="1000" spc="1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1000" spc="15">
                <a:solidFill>
                  <a:srgbClr val="FFFFFF"/>
                </a:solidFill>
                <a:latin typeface="Arial"/>
                <a:cs typeface="Arial"/>
              </a:rPr>
              <a:t>navigating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any  </a:t>
            </a:r>
            <a:r>
              <a:rPr dirty="0" sz="1000" spc="5">
                <a:solidFill>
                  <a:srgbClr val="FFFFFF"/>
                </a:solidFill>
                <a:latin typeface="Arial"/>
                <a:cs typeface="Arial"/>
              </a:rPr>
              <a:t>changes.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Bitmin_070516</dc:title>
  <dcterms:created xsi:type="dcterms:W3CDTF">2016-05-18T10:34:13Z</dcterms:created>
  <dcterms:modified xsi:type="dcterms:W3CDTF">2016-05-18T10:34:13Z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2016-05-07T00:00:00Z</vt:filetime>
  </property>
  <property fmtid="{D5CDD505-2E9C-101B-9397-08002B2CF9AE}" pid="3" name="Creator">
    <vt:lpwstr>Adobe Illustrator CC 2015 (Windows)</vt:lpwstr>
  </property>
  <property fmtid="{D5CDD505-2E9C-101B-9397-08002B2CF9AE}" pid="4" name="LastSaved">
    <vt:filetime>2016-05-18T00:00:00Z</vt:filetime>
  </property>
</Properties>
</file>